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77" r:id="rId2"/>
    <p:sldId id="278" r:id="rId3"/>
    <p:sldId id="257" r:id="rId4"/>
    <p:sldId id="259" r:id="rId5"/>
    <p:sldId id="260" r:id="rId6"/>
    <p:sldId id="261" r:id="rId7"/>
    <p:sldId id="262" r:id="rId8"/>
    <p:sldId id="263" r:id="rId9"/>
    <p:sldId id="264" r:id="rId10"/>
    <p:sldId id="265" r:id="rId11"/>
    <p:sldId id="279" r:id="rId12"/>
    <p:sldId id="267" r:id="rId13"/>
    <p:sldId id="268" r:id="rId14"/>
    <p:sldId id="269" r:id="rId15"/>
    <p:sldId id="280" r:id="rId16"/>
    <p:sldId id="271" r:id="rId17"/>
    <p:sldId id="281" r:id="rId18"/>
    <p:sldId id="266" r:id="rId19"/>
    <p:sldId id="273" r:id="rId20"/>
    <p:sldId id="283" r:id="rId21"/>
    <p:sldId id="284"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p:scale>
          <a:sx n="58" d="100"/>
          <a:sy n="58" d="100"/>
        </p:scale>
        <p:origin x="-1352" y="-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800" b="0" i="0" u="none" strike="noStrike">
                <a:solidFill>
                  <a:srgbClr val="000000"/>
                </a:solidFill>
                <a:latin typeface="Arial"/>
              </a:defRPr>
            </a:pPr>
            <a:r>
              <a:rPr lang="fr-SN" sz="1800" b="0" i="0" u="none" strike="noStrike" dirty="0">
                <a:solidFill>
                  <a:srgbClr val="000000"/>
                </a:solidFill>
                <a:latin typeface="Arial"/>
              </a:rPr>
              <a:t>Gain d'indexation mesuré</a:t>
            </a:r>
          </a:p>
        </c:rich>
      </c:tx>
      <c:overlay val="0"/>
    </c:title>
    <c:autoTitleDeleted val="0"/>
    <c:plotArea>
      <c:layout/>
      <c:barChart>
        <c:barDir val="col"/>
        <c:grouping val="clustered"/>
        <c:varyColors val="0"/>
        <c:ser>
          <c:idx val="0"/>
          <c:order val="0"/>
          <c:tx>
            <c:strRef>
              <c:f>Sheet1!$B$1</c:f>
              <c:strCache>
                <c:ptCount val="1"/>
                <c:pt idx="0">
                  <c:v>Sans index (ms)</c:v>
                </c:pt>
              </c:strCache>
            </c:strRef>
          </c:tx>
          <c:spPr>
            <a:solidFill>
              <a:srgbClr val="9CA9AD"/>
            </a:solidFill>
            <a:effectLst/>
          </c:spPr>
          <c:invertIfNegative val="0"/>
          <c:dLbls>
            <c:numFmt formatCode="#,##0" sourceLinked="0"/>
            <c:spPr>
              <a:noFill/>
              <a:ln>
                <a:noFill/>
              </a:ln>
              <a:effectLst/>
            </c:spPr>
            <c:txPr>
              <a:bodyPr/>
              <a:lstStyle/>
              <a:p>
                <a:pPr>
                  <a:defRPr sz="1200" b="0" i="0" u="none" strike="noStrike">
                    <a:solidFill>
                      <a:srgbClr val="1B2B34"/>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find(medecin_id) trié par date</c:v>
                </c:pt>
              </c:strCache>
            </c:strRef>
          </c:cat>
          <c:val>
            <c:numRef>
              <c:f>Sheet1!$B$2:$B$2</c:f>
              <c:numCache>
                <c:formatCode>General</c:formatCode>
                <c:ptCount val="1"/>
                <c:pt idx="0">
                  <c:v>190.25</c:v>
                </c:pt>
              </c:numCache>
            </c:numRef>
          </c:val>
          <c:extLst>
            <c:ext xmlns:c16="http://schemas.microsoft.com/office/drawing/2014/chart" uri="{C3380CC4-5D6E-409C-BE32-E72D297353CC}">
              <c16:uniqueId val="{00000000-AA2A-4AE3-87C2-62F2B3D0D78C}"/>
            </c:ext>
          </c:extLst>
        </c:ser>
        <c:ser>
          <c:idx val="1"/>
          <c:order val="1"/>
          <c:tx>
            <c:strRef>
              <c:f>Sheet1!$C$1</c:f>
              <c:strCache>
                <c:ptCount val="1"/>
                <c:pt idx="0">
                  <c:v>Avec index (ms)</c:v>
                </c:pt>
              </c:strCache>
            </c:strRef>
          </c:tx>
          <c:spPr>
            <a:solidFill>
              <a:srgbClr val="06D6A0"/>
            </a:solidFill>
            <a:effectLst/>
          </c:spPr>
          <c:invertIfNegative val="0"/>
          <c:dLbls>
            <c:numFmt formatCode="#,##0" sourceLinked="0"/>
            <c:spPr>
              <a:noFill/>
              <a:ln>
                <a:noFill/>
              </a:ln>
              <a:effectLst/>
            </c:spPr>
            <c:txPr>
              <a:bodyPr/>
              <a:lstStyle/>
              <a:p>
                <a:pPr>
                  <a:defRPr sz="1200" b="0" i="0" u="none" strike="noStrike">
                    <a:solidFill>
                      <a:srgbClr val="1B2B34"/>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find(medecin_id) trié par date</c:v>
                </c:pt>
              </c:strCache>
            </c:strRef>
          </c:cat>
          <c:val>
            <c:numRef>
              <c:f>Sheet1!$C$2:$C$2</c:f>
              <c:numCache>
                <c:formatCode>General</c:formatCode>
                <c:ptCount val="1"/>
                <c:pt idx="0">
                  <c:v>51.25</c:v>
                </c:pt>
              </c:numCache>
            </c:numRef>
          </c:val>
          <c:extLst>
            <c:ext xmlns:c16="http://schemas.microsoft.com/office/drawing/2014/chart" uri="{C3380CC4-5D6E-409C-BE32-E72D297353CC}">
              <c16:uniqueId val="{00000001-AA2A-4AE3-87C2-62F2B3D0D78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doughnutChart>
        <c:varyColors val="1"/>
        <c:ser>
          <c:idx val="0"/>
          <c:order val="0"/>
          <c:tx>
            <c:strRef>
              <c:f>Sheet1!$B$1</c:f>
              <c:strCache>
                <c:ptCount val="1"/>
                <c:pt idx="0">
                  <c:v>Patients</c:v>
                </c:pt>
              </c:strCache>
            </c:strRef>
          </c:tx>
          <c:spPr>
            <a:solidFill>
              <a:schemeClr val="accent1"/>
            </a:solidFill>
            <a:ln w="9525" cap="flat">
              <a:solidFill>
                <a:srgbClr val="F9F9F9"/>
              </a:solidFill>
              <a:prstDash val="solid"/>
              <a:round/>
            </a:ln>
            <a:effectLst/>
          </c:spPr>
          <c:dPt>
            <c:idx val="0"/>
            <c:bubble3D val="0"/>
            <c:spPr>
              <a:solidFill>
                <a:srgbClr val="073B4C"/>
              </a:solidFill>
              <a:effectLst/>
            </c:spPr>
            <c:extLst>
              <c:ext xmlns:c16="http://schemas.microsoft.com/office/drawing/2014/chart" uri="{C3380CC4-5D6E-409C-BE32-E72D297353CC}">
                <c16:uniqueId val="{00000001-A4E8-41DD-963A-D361C9C5AEA4}"/>
              </c:ext>
            </c:extLst>
          </c:dPt>
          <c:dPt>
            <c:idx val="1"/>
            <c:bubble3D val="0"/>
            <c:spPr>
              <a:solidFill>
                <a:srgbClr val="118AB2"/>
              </a:solidFill>
              <a:effectLst/>
            </c:spPr>
            <c:extLst>
              <c:ext xmlns:c16="http://schemas.microsoft.com/office/drawing/2014/chart" uri="{C3380CC4-5D6E-409C-BE32-E72D297353CC}">
                <c16:uniqueId val="{00000003-A4E8-41DD-963A-D361C9C5AEA4}"/>
              </c:ext>
            </c:extLst>
          </c:dPt>
          <c:dPt>
            <c:idx val="2"/>
            <c:bubble3D val="0"/>
            <c:spPr>
              <a:solidFill>
                <a:srgbClr val="06D6A0"/>
              </a:solidFill>
              <a:effectLst/>
            </c:spPr>
            <c:extLst>
              <c:ext xmlns:c16="http://schemas.microsoft.com/office/drawing/2014/chart" uri="{C3380CC4-5D6E-409C-BE32-E72D297353CC}">
                <c16:uniqueId val="{00000005-A4E8-41DD-963A-D361C9C5AEA4}"/>
              </c:ext>
            </c:extLst>
          </c:dPt>
          <c:dPt>
            <c:idx val="3"/>
            <c:bubble3D val="0"/>
            <c:spPr>
              <a:solidFill>
                <a:srgbClr val="9CA9AD"/>
              </a:solidFill>
              <a:effectLst/>
            </c:spPr>
            <c:extLst>
              <c:ext xmlns:c16="http://schemas.microsoft.com/office/drawing/2014/chart" uri="{C3380CC4-5D6E-409C-BE32-E72D297353CC}">
                <c16:uniqueId val="{00000007-A4E8-41DD-963A-D361C9C5AEA4}"/>
              </c:ext>
            </c:extLst>
          </c:dPt>
          <c:dLbls>
            <c:dLbl>
              <c:idx val="0"/>
              <c:numFmt formatCode="0%" sourceLinked="0"/>
              <c:spPr/>
              <c:txPr>
                <a:bodyPr/>
                <a:lstStyle/>
                <a:p>
                  <a:pPr>
                    <a:defRPr sz="11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4E8-41DD-963A-D361C9C5AEA4}"/>
                </c:ext>
              </c:extLst>
            </c:dLbl>
            <c:dLbl>
              <c:idx val="1"/>
              <c:numFmt formatCode="0%" sourceLinked="0"/>
              <c:spPr/>
              <c:txPr>
                <a:bodyPr/>
                <a:lstStyle/>
                <a:p>
                  <a:pPr>
                    <a:defRPr sz="11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4E8-41DD-963A-D361C9C5AEA4}"/>
                </c:ext>
              </c:extLst>
            </c:dLbl>
            <c:dLbl>
              <c:idx val="2"/>
              <c:numFmt formatCode="0%" sourceLinked="0"/>
              <c:spPr/>
              <c:txPr>
                <a:bodyPr/>
                <a:lstStyle/>
                <a:p>
                  <a:pPr>
                    <a:defRPr sz="11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4E8-41DD-963A-D361C9C5AEA4}"/>
                </c:ext>
              </c:extLst>
            </c:dLbl>
            <c:dLbl>
              <c:idx val="3"/>
              <c:numFmt formatCode="0%" sourceLinked="0"/>
              <c:spPr/>
              <c:txPr>
                <a:bodyPr/>
                <a:lstStyle/>
                <a:p>
                  <a:pPr>
                    <a:defRPr sz="1100" b="0" i="0" u="none" strike="noStrike">
                      <a:solidFill>
                        <a:srgbClr val="FFFFFF"/>
                      </a:solidFill>
                      <a:latin typeface="Arial"/>
                    </a:defRPr>
                  </a:pPr>
                  <a:endParaRPr lang="fr-FR"/>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4E8-41DD-963A-D361C9C5AEA4}"/>
                </c:ext>
              </c:extLst>
            </c:dLbl>
            <c:numFmt formatCode="0%" sourceLinked="0"/>
            <c:spPr>
              <a:noFill/>
              <a:ln>
                <a:noFill/>
              </a:ln>
              <a:effectLst/>
            </c:spPr>
            <c:txPr>
              <a:bodyPr/>
              <a:lstStyle/>
              <a:p>
                <a:pPr>
                  <a:defRPr sz="1800" b="0" i="0" u="none" strike="noStrike">
                    <a:solidFill>
                      <a:srgbClr val="000000"/>
                    </a:solidFill>
                    <a:latin typeface="Arial"/>
                  </a:defRPr>
                </a:pPr>
                <a:endParaRPr lang="fr-F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Amérique</c:v>
                </c:pt>
                <c:pt idx="1">
                  <c:v>Afrique Centrale</c:v>
                </c:pt>
                <c:pt idx="2">
                  <c:v>Europe</c:v>
                </c:pt>
                <c:pt idx="3">
                  <c:v>Afrique Ouest</c:v>
                </c:pt>
              </c:strCache>
            </c:strRef>
          </c:cat>
          <c:val>
            <c:numRef>
              <c:f>Sheet1!$B$2:$B$5</c:f>
              <c:numCache>
                <c:formatCode>General</c:formatCode>
                <c:ptCount val="4"/>
                <c:pt idx="0">
                  <c:v>1317</c:v>
                </c:pt>
                <c:pt idx="1">
                  <c:v>1265</c:v>
                </c:pt>
                <c:pt idx="2">
                  <c:v>1257</c:v>
                </c:pt>
                <c:pt idx="3">
                  <c:v>1161</c:v>
                </c:pt>
              </c:numCache>
            </c:numRef>
          </c:val>
          <c:extLst>
            <c:ext xmlns:c16="http://schemas.microsoft.com/office/drawing/2014/chart" uri="{C3380CC4-5D6E-409C-BE32-E72D297353CC}">
              <c16:uniqueId val="{00000008-A4E8-41DD-963A-D361C9C5AEA4}"/>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216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endParaRPr lang="fr-FR" dirty="0"/>
          </a:p>
        </p:txBody>
      </p:sp>
    </p:spTree>
    <p:extLst>
      <p:ext uri="{BB962C8B-B14F-4D97-AF65-F5344CB8AC3E}">
        <p14:creationId xmlns:p14="http://schemas.microsoft.com/office/powerpoint/2010/main" val="3431725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31520" y="640080"/>
            <a:ext cx="7315200" cy="365760"/>
          </a:xfrm>
          <a:prstGeom prst="rect">
            <a:avLst/>
          </a:prstGeom>
          <a:noFill/>
          <a:ln/>
        </p:spPr>
        <p:txBody>
          <a:bodyPr wrap="square" rtlCol="0" anchor="ctr"/>
          <a:lstStyle/>
          <a:p>
            <a:pPr marL="0" indent="0">
              <a:buNone/>
            </a:pPr>
            <a:r>
              <a:rPr lang="en-US" sz="1300" b="1" kern="0" spc="200" dirty="0">
                <a:solidFill>
                  <a:srgbClr val="118AB2"/>
                </a:solidFill>
                <a:latin typeface="Calibri" pitchFamily="34" charset="0"/>
                <a:ea typeface="Calibri" pitchFamily="34" charset="-122"/>
                <a:cs typeface="Calibri" pitchFamily="34" charset="-120"/>
              </a:rPr>
              <a:t>MASTER 1 IA - DAKAR INSTITUTE OF TECHNOLOGY</a:t>
            </a:r>
            <a:endParaRPr lang="en-US" sz="1300" dirty="0"/>
          </a:p>
        </p:txBody>
      </p:sp>
      <p:sp>
        <p:nvSpPr>
          <p:cNvPr id="5" name="Text 3"/>
          <p:cNvSpPr/>
          <p:nvPr/>
        </p:nvSpPr>
        <p:spPr>
          <a:xfrm>
            <a:off x="731520" y="2103120"/>
            <a:ext cx="9144000" cy="1188720"/>
          </a:xfrm>
          <a:prstGeom prst="rect">
            <a:avLst/>
          </a:prstGeom>
          <a:noFill/>
          <a:ln/>
        </p:spPr>
        <p:txBody>
          <a:bodyPr wrap="square" rtlCol="0" anchor="ctr"/>
          <a:lstStyle/>
          <a:p>
            <a:pPr marL="0" indent="0">
              <a:buNone/>
            </a:pPr>
            <a:r>
              <a:rPr lang="en-US" sz="5400" b="1" dirty="0">
                <a:solidFill>
                  <a:srgbClr val="073B4C"/>
                </a:solidFill>
                <a:latin typeface="Calibri" pitchFamily="34" charset="0"/>
                <a:ea typeface="Calibri" pitchFamily="34" charset="-122"/>
                <a:cs typeface="Calibri" pitchFamily="34" charset="-120"/>
              </a:rPr>
              <a:t>MongoDB</a:t>
            </a:r>
            <a:endParaRPr lang="en-US" sz="5400" dirty="0"/>
          </a:p>
        </p:txBody>
      </p:sp>
      <p:sp>
        <p:nvSpPr>
          <p:cNvPr id="6" name="Text 4"/>
          <p:cNvSpPr/>
          <p:nvPr/>
        </p:nvSpPr>
        <p:spPr>
          <a:xfrm>
            <a:off x="731520" y="3108960"/>
            <a:ext cx="9144000" cy="640080"/>
          </a:xfrm>
          <a:prstGeom prst="rect">
            <a:avLst/>
          </a:prstGeom>
          <a:noFill/>
          <a:ln/>
        </p:spPr>
        <p:txBody>
          <a:bodyPr wrap="square" rtlCol="0" anchor="ctr"/>
          <a:lstStyle/>
          <a:p>
            <a:pPr marL="0" indent="0">
              <a:buNone/>
            </a:pPr>
            <a:r>
              <a:rPr lang="en-US" sz="2600" dirty="0">
                <a:solidFill>
                  <a:srgbClr val="1B2B34"/>
                </a:solidFill>
                <a:latin typeface="Calibri" pitchFamily="34" charset="0"/>
                <a:ea typeface="Calibri" pitchFamily="34" charset="-122"/>
                <a:cs typeface="Calibri" pitchFamily="34" charset="-120"/>
              </a:rPr>
              <a:t>Sharding, Sécurité et Performances</a:t>
            </a:r>
            <a:endParaRPr lang="en-US" sz="2600" dirty="0"/>
          </a:p>
        </p:txBody>
      </p:sp>
      <p:sp>
        <p:nvSpPr>
          <p:cNvPr id="7" name="Text 5"/>
          <p:cNvSpPr/>
          <p:nvPr/>
        </p:nvSpPr>
        <p:spPr>
          <a:xfrm>
            <a:off x="731520" y="3703320"/>
            <a:ext cx="9144000" cy="548640"/>
          </a:xfrm>
          <a:prstGeom prst="rect">
            <a:avLst/>
          </a:prstGeom>
          <a:noFill/>
          <a:ln/>
        </p:spPr>
        <p:txBody>
          <a:bodyPr wrap="square" rtlCol="0" anchor="ctr"/>
          <a:lstStyle/>
          <a:p>
            <a:pPr marL="0" indent="0">
              <a:buNone/>
            </a:pPr>
            <a:r>
              <a:rPr lang="en-US" sz="1800" i="1" dirty="0">
                <a:solidFill>
                  <a:srgbClr val="118AB2"/>
                </a:solidFill>
                <a:latin typeface="Calibri" pitchFamily="34" charset="0"/>
                <a:ea typeface="Calibri" pitchFamily="34" charset="-122"/>
                <a:cs typeface="Calibri" pitchFamily="34" charset="-120"/>
              </a:rPr>
              <a:t>Cas d'usage : Plateforme de Télémédecine</a:t>
            </a:r>
            <a:endParaRPr lang="en-US" sz="1800" dirty="0"/>
          </a:p>
        </p:txBody>
      </p:sp>
      <p:pic>
        <p:nvPicPr>
          <p:cNvPr id="8" name="Image 0" descr="preencoded.png"/>
          <p:cNvPicPr>
            <a:picLocks noChangeAspect="1"/>
          </p:cNvPicPr>
          <p:nvPr/>
        </p:nvPicPr>
        <p:blipFill>
          <a:blip r:embed="rId3"/>
          <a:stretch>
            <a:fillRect/>
          </a:stretch>
        </p:blipFill>
        <p:spPr>
          <a:xfrm>
            <a:off x="10241280" y="5120640"/>
            <a:ext cx="731520" cy="731520"/>
          </a:xfrm>
          <a:prstGeom prst="rect">
            <a:avLst/>
          </a:prstGeom>
        </p:spPr>
      </p:pic>
      <p:sp>
        <p:nvSpPr>
          <p:cNvPr id="9" name="Text 6"/>
          <p:cNvSpPr/>
          <p:nvPr/>
        </p:nvSpPr>
        <p:spPr>
          <a:xfrm>
            <a:off x="731520" y="6035040"/>
            <a:ext cx="6400800" cy="365760"/>
          </a:xfrm>
          <a:prstGeom prst="rect">
            <a:avLst/>
          </a:prstGeom>
          <a:noFill/>
          <a:ln/>
        </p:spPr>
        <p:txBody>
          <a:bodyPr wrap="square" rtlCol="0" anchor="ctr"/>
          <a:lstStyle/>
          <a:p>
            <a:pPr marL="0" indent="0">
              <a:buNone/>
            </a:pPr>
            <a:r>
              <a:rPr lang="en-US" sz="1300" dirty="0">
                <a:solidFill>
                  <a:srgbClr val="5B7A85"/>
                </a:solidFill>
                <a:latin typeface="Calibri" pitchFamily="34" charset="0"/>
                <a:ea typeface="Calibri" pitchFamily="34" charset="-122"/>
                <a:cs typeface="Calibri" pitchFamily="34" charset="-120"/>
              </a:rPr>
              <a:t>Bases de données NoSQL - Soutenance orale</a:t>
            </a:r>
            <a:endParaRPr lang="en-US" sz="1300" dirty="0"/>
          </a:p>
        </p:txBody>
      </p:sp>
      <p:sp>
        <p:nvSpPr>
          <p:cNvPr id="10" name="Text 7"/>
          <p:cNvSpPr/>
          <p:nvPr/>
        </p:nvSpPr>
        <p:spPr>
          <a:xfrm>
            <a:off x="731520" y="6355080"/>
            <a:ext cx="6400800" cy="365760"/>
          </a:xfrm>
          <a:prstGeom prst="rect">
            <a:avLst/>
          </a:prstGeom>
          <a:noFill/>
          <a:ln/>
        </p:spPr>
        <p:txBody>
          <a:bodyPr wrap="square" rtlCol="0" anchor="ctr"/>
          <a:lstStyle/>
          <a:p>
            <a:pPr marL="0" indent="0">
              <a:buNone/>
            </a:pPr>
            <a:r>
              <a:rPr lang="en-US" sz="1300" dirty="0">
                <a:solidFill>
                  <a:srgbClr val="5B7A85"/>
                </a:solidFill>
                <a:latin typeface="Calibri" pitchFamily="34" charset="0"/>
                <a:ea typeface="Calibri" pitchFamily="34" charset="-122"/>
                <a:cs typeface="Calibri" pitchFamily="34" charset="-120"/>
              </a:rPr>
              <a:t>Groupe 5 : Issouf, Rupthur, Azizatou Balde, Fatou DEME</a:t>
            </a:r>
            <a:endParaRPr lang="en-US" sz="1300" dirty="0"/>
          </a:p>
        </p:txBody>
      </p:sp>
      <p:grpSp>
        <p:nvGrpSpPr>
          <p:cNvPr id="17" name="Groupe 16">
            <a:extLst>
              <a:ext uri="{FF2B5EF4-FFF2-40B4-BE49-F238E27FC236}">
                <a16:creationId xmlns:a16="http://schemas.microsoft.com/office/drawing/2014/main" id="{80EA78C1-3B04-544E-1C82-18F9A130AF13}"/>
              </a:ext>
            </a:extLst>
          </p:cNvPr>
          <p:cNvGrpSpPr/>
          <p:nvPr/>
        </p:nvGrpSpPr>
        <p:grpSpPr>
          <a:xfrm>
            <a:off x="6211957" y="218661"/>
            <a:ext cx="5248523" cy="5267739"/>
            <a:chOff x="6671144" y="297180"/>
            <a:chExt cx="4572000" cy="4572000"/>
          </a:xfrm>
        </p:grpSpPr>
        <p:sp>
          <p:nvSpPr>
            <p:cNvPr id="2" name="Shape 0"/>
            <p:cNvSpPr/>
            <p:nvPr/>
          </p:nvSpPr>
          <p:spPr>
            <a:xfrm>
              <a:off x="6671144" y="297180"/>
              <a:ext cx="4572000" cy="4572000"/>
            </a:xfrm>
            <a:prstGeom prst="ellipse">
              <a:avLst/>
            </a:prstGeom>
            <a:solidFill>
              <a:srgbClr val="118AB2">
                <a:alpha val="15000"/>
              </a:srgbClr>
            </a:solidFill>
            <a:ln/>
          </p:spPr>
          <p:txBody>
            <a:bodyPr/>
            <a:lstStyle/>
            <a:p>
              <a:endParaRPr lang="fr-SN"/>
            </a:p>
          </p:txBody>
        </p:sp>
        <p:sp>
          <p:nvSpPr>
            <p:cNvPr id="12" name="Shape 0">
              <a:extLst>
                <a:ext uri="{FF2B5EF4-FFF2-40B4-BE49-F238E27FC236}">
                  <a16:creationId xmlns:a16="http://schemas.microsoft.com/office/drawing/2014/main" id="{D79BC040-1768-48F1-7236-AC3A548BF477}"/>
                </a:ext>
              </a:extLst>
            </p:cNvPr>
            <p:cNvSpPr/>
            <p:nvPr/>
          </p:nvSpPr>
          <p:spPr>
            <a:xfrm>
              <a:off x="6671144" y="1325879"/>
              <a:ext cx="2201186" cy="2323769"/>
            </a:xfrm>
            <a:prstGeom prst="ellipse">
              <a:avLst/>
            </a:prstGeom>
            <a:solidFill>
              <a:srgbClr val="118AB2">
                <a:alpha val="15000"/>
              </a:srgbClr>
            </a:solidFill>
            <a:ln/>
          </p:spPr>
          <p:txBody>
            <a:bodyPr/>
            <a:lstStyle/>
            <a:p>
              <a:endParaRPr lang="fr-SN"/>
            </a:p>
          </p:txBody>
        </p:sp>
        <p:sp>
          <p:nvSpPr>
            <p:cNvPr id="14" name="Shape 0">
              <a:extLst>
                <a:ext uri="{FF2B5EF4-FFF2-40B4-BE49-F238E27FC236}">
                  <a16:creationId xmlns:a16="http://schemas.microsoft.com/office/drawing/2014/main" id="{8C211EC8-16D9-40A8-5679-6BDF22BEE8DC}"/>
                </a:ext>
              </a:extLst>
            </p:cNvPr>
            <p:cNvSpPr/>
            <p:nvPr/>
          </p:nvSpPr>
          <p:spPr>
            <a:xfrm>
              <a:off x="6761921" y="1984346"/>
              <a:ext cx="2201186" cy="2323769"/>
            </a:xfrm>
            <a:prstGeom prst="ellipse">
              <a:avLst/>
            </a:prstGeom>
            <a:solidFill>
              <a:srgbClr val="118AB2">
                <a:alpha val="15000"/>
              </a:srgbClr>
            </a:solidFill>
            <a:ln/>
          </p:spPr>
          <p:txBody>
            <a:bodyPr/>
            <a:lstStyle/>
            <a:p>
              <a:endParaRPr lang="fr-SN"/>
            </a:p>
          </p:txBody>
        </p:sp>
        <p:sp>
          <p:nvSpPr>
            <p:cNvPr id="16" name="Shape 0">
              <a:extLst>
                <a:ext uri="{FF2B5EF4-FFF2-40B4-BE49-F238E27FC236}">
                  <a16:creationId xmlns:a16="http://schemas.microsoft.com/office/drawing/2014/main" id="{A1CFC6C2-4099-11C3-ED57-446A060D0D01}"/>
                </a:ext>
              </a:extLst>
            </p:cNvPr>
            <p:cNvSpPr/>
            <p:nvPr/>
          </p:nvSpPr>
          <p:spPr>
            <a:xfrm>
              <a:off x="7953291" y="1687912"/>
              <a:ext cx="2201186" cy="2323769"/>
            </a:xfrm>
            <a:prstGeom prst="ellipse">
              <a:avLst/>
            </a:prstGeom>
            <a:solidFill>
              <a:srgbClr val="118AB2">
                <a:alpha val="15000"/>
              </a:srgbClr>
            </a:solidFill>
            <a:ln/>
          </p:spPr>
          <p:txBody>
            <a:bodyPr/>
            <a:lstStyle/>
            <a:p>
              <a:endParaRPr lang="fr-SN"/>
            </a:p>
          </p:txBody>
        </p:sp>
      </p:grpSp>
      <p:sp>
        <p:nvSpPr>
          <p:cNvPr id="11" name="Text 5">
            <a:extLst>
              <a:ext uri="{FF2B5EF4-FFF2-40B4-BE49-F238E27FC236}">
                <a16:creationId xmlns:a16="http://schemas.microsoft.com/office/drawing/2014/main" id="{6F07F9F9-8563-7946-282A-CEC6A298AA9C}"/>
              </a:ext>
            </a:extLst>
          </p:cNvPr>
          <p:cNvSpPr/>
          <p:nvPr/>
        </p:nvSpPr>
        <p:spPr>
          <a:xfrm>
            <a:off x="731521" y="4194621"/>
            <a:ext cx="5248523" cy="870506"/>
          </a:xfrm>
          <a:prstGeom prst="rect">
            <a:avLst/>
          </a:prstGeom>
          <a:noFill/>
          <a:ln/>
        </p:spPr>
        <p:txBody>
          <a:bodyPr wrap="square" rtlCol="0" anchor="ctr"/>
          <a:lstStyle/>
          <a:p>
            <a:pPr marL="0" indent="0">
              <a:buNone/>
            </a:pPr>
            <a:r>
              <a:rPr lang="fr-FR" sz="1800" i="1" dirty="0">
                <a:solidFill>
                  <a:srgbClr val="118AB2"/>
                </a:solidFill>
                <a:latin typeface="Calibri" pitchFamily="34" charset="0"/>
                <a:ea typeface="Calibri" pitchFamily="34" charset="-122"/>
                <a:cs typeface="Calibri" pitchFamily="34" charset="-120"/>
              </a:rPr>
              <a:t>Concevoir une plateforme MongoDB capable de gérer des millions de dossiers médicaux de manière sécurisée et performante.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7F8439AD-73F3-FDC8-98D8-EA94947B10B3}"/>
              </a:ext>
            </a:extLst>
          </p:cNvPr>
          <p:cNvSpPr/>
          <p:nvPr/>
        </p:nvSpPr>
        <p:spPr>
          <a:xfrm>
            <a:off x="548640" y="411480"/>
            <a:ext cx="10058400" cy="640080"/>
          </a:xfrm>
          <a:prstGeom prst="rect">
            <a:avLst/>
          </a:prstGeom>
          <a:noFill/>
          <a:ln/>
        </p:spPr>
        <p:txBody>
          <a:bodyPr wrap="square" rtlCol="0" anchor="ctr"/>
          <a:lstStyle/>
          <a:p>
            <a:pPr marL="0" indent="0">
              <a:buNone/>
            </a:pPr>
            <a:r>
              <a:rPr lang="en-US" sz="3200" b="1" dirty="0">
                <a:solidFill>
                  <a:srgbClr val="1B2B34"/>
                </a:solidFill>
                <a:latin typeface="Calibri" pitchFamily="34" charset="0"/>
                <a:ea typeface="Calibri" pitchFamily="34" charset="-122"/>
                <a:cs typeface="Calibri" pitchFamily="34" charset="-120"/>
              </a:rPr>
              <a:t>PLAN</a:t>
            </a:r>
            <a:endParaRPr lang="en-US" sz="3200" dirty="0"/>
          </a:p>
        </p:txBody>
      </p:sp>
      <p:sp>
        <p:nvSpPr>
          <p:cNvPr id="8" name="ZoneTexte 7">
            <a:extLst>
              <a:ext uri="{FF2B5EF4-FFF2-40B4-BE49-F238E27FC236}">
                <a16:creationId xmlns:a16="http://schemas.microsoft.com/office/drawing/2014/main" id="{BBD48DEF-1C97-BAD9-343D-EC65558D49B8}"/>
              </a:ext>
            </a:extLst>
          </p:cNvPr>
          <p:cNvSpPr txBox="1"/>
          <p:nvPr/>
        </p:nvSpPr>
        <p:spPr>
          <a:xfrm>
            <a:off x="548639" y="1305894"/>
            <a:ext cx="8127528" cy="4093428"/>
          </a:xfrm>
          <a:prstGeom prst="rect">
            <a:avLst/>
          </a:prstGeom>
          <a:noFill/>
        </p:spPr>
        <p:txBody>
          <a:bodyPr wrap="square">
            <a:spAutoFit/>
          </a:bodyPr>
          <a:lstStyle/>
          <a:p>
            <a:pPr>
              <a:buNone/>
            </a:pPr>
            <a:r>
              <a:rPr lang="fr-SN" sz="2000" dirty="0"/>
              <a:t>1. Contexte et problématique</a:t>
            </a:r>
            <a:br>
              <a:rPr lang="fr-SN" sz="2000" dirty="0"/>
            </a:br>
            <a:endParaRPr lang="fr-SN" sz="2000" dirty="0"/>
          </a:p>
          <a:p>
            <a:pPr>
              <a:buNone/>
            </a:pPr>
            <a:r>
              <a:rPr lang="fr-SN" sz="2000" dirty="0"/>
              <a:t>2. Architecture du cluster MongoDB</a:t>
            </a:r>
            <a:br>
              <a:rPr lang="fr-SN" sz="2000" dirty="0"/>
            </a:br>
            <a:endParaRPr lang="fr-SN" sz="2000" dirty="0"/>
          </a:p>
          <a:p>
            <a:pPr>
              <a:buNone/>
            </a:pPr>
            <a:r>
              <a:rPr lang="fr-SN" sz="2000" dirty="0"/>
              <a:t>3. Sécurité</a:t>
            </a:r>
            <a:br>
              <a:rPr lang="fr-SN" sz="2000" dirty="0"/>
            </a:br>
            <a:endParaRPr lang="fr-SN" sz="2000" dirty="0"/>
          </a:p>
          <a:p>
            <a:pPr>
              <a:buNone/>
            </a:pPr>
            <a:r>
              <a:rPr lang="fr-SN" sz="2000" dirty="0"/>
              <a:t>4. Cohérence des données</a:t>
            </a:r>
            <a:br>
              <a:rPr lang="fr-SN" sz="2000" dirty="0"/>
            </a:br>
            <a:endParaRPr lang="fr-SN" sz="2000" dirty="0"/>
          </a:p>
          <a:p>
            <a:pPr>
              <a:buNone/>
            </a:pPr>
            <a:r>
              <a:rPr lang="fr-SN" sz="2000" dirty="0"/>
              <a:t>5. </a:t>
            </a:r>
            <a:r>
              <a:rPr lang="fr-SN" sz="2000" dirty="0" err="1"/>
              <a:t>Sharding</a:t>
            </a:r>
            <a:r>
              <a:rPr lang="fr-SN" sz="2000" dirty="0"/>
              <a:t> et performances</a:t>
            </a:r>
            <a:br>
              <a:rPr lang="fr-SN" sz="2000" dirty="0"/>
            </a:br>
            <a:endParaRPr lang="fr-SN" sz="2000" dirty="0"/>
          </a:p>
          <a:p>
            <a:pPr>
              <a:buNone/>
            </a:pPr>
            <a:r>
              <a:rPr lang="fr-SN" sz="2000" dirty="0"/>
              <a:t>6. Modélisation métier</a:t>
            </a:r>
            <a:br>
              <a:rPr lang="fr-SN" sz="2000" dirty="0"/>
            </a:br>
            <a:endParaRPr lang="fr-SN" sz="2000" dirty="0"/>
          </a:p>
          <a:p>
            <a:pPr>
              <a:buNone/>
            </a:pPr>
            <a:r>
              <a:rPr lang="fr-SN" sz="2000" dirty="0"/>
              <a:t>7. Conclusion</a:t>
            </a:r>
          </a:p>
        </p:txBody>
      </p:sp>
    </p:spTree>
    <p:extLst>
      <p:ext uri="{BB962C8B-B14F-4D97-AF65-F5344CB8AC3E}">
        <p14:creationId xmlns:p14="http://schemas.microsoft.com/office/powerpoint/2010/main" val="1350670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rtlCol="0" anchor="ctr"/>
          <a:lstStyle/>
          <a:p>
            <a:pPr marL="0" indent="0">
              <a:buNone/>
            </a:pPr>
            <a:r>
              <a:rPr lang="en-US" sz="3200" b="1" dirty="0">
                <a:solidFill>
                  <a:srgbClr val="1B2B34"/>
                </a:solidFill>
                <a:latin typeface="Calibri" pitchFamily="34" charset="0"/>
                <a:ea typeface="Calibri" pitchFamily="34" charset="-122"/>
                <a:cs typeface="Calibri" pitchFamily="34" charset="-120"/>
              </a:rPr>
              <a:t>Pourquoi la télémédecine ?</a:t>
            </a:r>
            <a:endParaRPr lang="en-US" sz="3200" dirty="0"/>
          </a:p>
        </p:txBody>
      </p:sp>
      <p:sp>
        <p:nvSpPr>
          <p:cNvPr id="3" name="Text 1"/>
          <p:cNvSpPr/>
          <p:nvPr/>
        </p:nvSpPr>
        <p:spPr>
          <a:xfrm>
            <a:off x="548640" y="960120"/>
            <a:ext cx="10058400" cy="365760"/>
          </a:xfrm>
          <a:prstGeom prst="rect">
            <a:avLst/>
          </a:prstGeom>
          <a:noFill/>
          <a:ln/>
        </p:spPr>
        <p:txBody>
          <a:bodyPr wrap="square" rtlCol="0" anchor="ctr"/>
          <a:lstStyle/>
          <a:p>
            <a:pPr marL="0" indent="0">
              <a:buNone/>
            </a:pPr>
            <a:r>
              <a:rPr lang="en-US" sz="1500" i="1" dirty="0">
                <a:solidFill>
                  <a:srgbClr val="5B7A85"/>
                </a:solidFill>
                <a:latin typeface="Calibri" pitchFamily="34" charset="0"/>
                <a:ea typeface="Calibri" pitchFamily="34" charset="-122"/>
                <a:cs typeface="Calibri" pitchFamily="34" charset="-120"/>
              </a:rPr>
              <a:t>Un domaine qui justifie naturellement chaque contrainte technique du devoir</a:t>
            </a:r>
            <a:endParaRPr lang="en-US" sz="1500" dirty="0"/>
          </a:p>
        </p:txBody>
      </p:sp>
      <p:sp>
        <p:nvSpPr>
          <p:cNvPr id="4" name="Shape 2"/>
          <p:cNvSpPr/>
          <p:nvPr/>
        </p:nvSpPr>
        <p:spPr>
          <a:xfrm>
            <a:off x="73152" y="1645920"/>
            <a:ext cx="2944368" cy="2377440"/>
          </a:xfrm>
          <a:prstGeom prst="roundRect">
            <a:avLst>
              <a:gd name="adj" fmla="val 4615"/>
            </a:avLst>
          </a:prstGeom>
          <a:solidFill>
            <a:srgbClr val="F1F7F8"/>
          </a:solidFill>
          <a:ln/>
          <a:effectLst>
            <a:outerShdw blurRad="101600" dist="38100" dir="2700000" algn="bl" rotWithShape="0">
              <a:srgbClr val="000000">
                <a:alpha val="12000"/>
              </a:srgbClr>
            </a:outerShdw>
          </a:effectLst>
        </p:spPr>
        <p:txBody>
          <a:bodyPr/>
          <a:lstStyle/>
          <a:p>
            <a:endParaRPr lang="fr-SN" dirty="0"/>
          </a:p>
        </p:txBody>
      </p:sp>
      <p:sp>
        <p:nvSpPr>
          <p:cNvPr id="5" name="Shape 3"/>
          <p:cNvSpPr/>
          <p:nvPr/>
        </p:nvSpPr>
        <p:spPr>
          <a:xfrm>
            <a:off x="347472" y="1920240"/>
            <a:ext cx="640080" cy="640080"/>
          </a:xfrm>
          <a:prstGeom prst="ellipse">
            <a:avLst/>
          </a:prstGeom>
          <a:solidFill>
            <a:srgbClr val="118AB2"/>
          </a:solidFill>
          <a:ln/>
        </p:spPr>
        <p:txBody>
          <a:bodyPr/>
          <a:lstStyle/>
          <a:p>
            <a:endParaRPr lang="fr-SN"/>
          </a:p>
        </p:txBody>
      </p:sp>
      <p:sp>
        <p:nvSpPr>
          <p:cNvPr id="6" name="Text 4"/>
          <p:cNvSpPr/>
          <p:nvPr/>
        </p:nvSpPr>
        <p:spPr>
          <a:xfrm>
            <a:off x="392661" y="1901633"/>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85273" y="2678873"/>
            <a:ext cx="2926080" cy="365760"/>
          </a:xfrm>
          <a:prstGeom prst="rect">
            <a:avLst/>
          </a:prstGeom>
          <a:noFill/>
          <a:ln/>
        </p:spPr>
        <p:txBody>
          <a:bodyPr wrap="square" rtlCol="0" anchor="ctr"/>
          <a:lstStyle/>
          <a:p>
            <a:pPr marL="0" indent="0">
              <a:buNone/>
            </a:pPr>
            <a:r>
              <a:rPr lang="en-US" sz="1800" b="1" dirty="0" err="1">
                <a:solidFill>
                  <a:srgbClr val="1B2B34"/>
                </a:solidFill>
                <a:latin typeface="Calibri" pitchFamily="34" charset="0"/>
                <a:ea typeface="Calibri" pitchFamily="34" charset="-122"/>
                <a:cs typeface="Calibri" pitchFamily="34" charset="-120"/>
              </a:rPr>
              <a:t>Volumétrie</a:t>
            </a:r>
            <a:r>
              <a:rPr lang="en-US" sz="1800" b="1" dirty="0">
                <a:solidFill>
                  <a:srgbClr val="1B2B34"/>
                </a:solidFill>
                <a:latin typeface="Calibri" pitchFamily="34" charset="0"/>
                <a:ea typeface="Calibri" pitchFamily="34" charset="-122"/>
                <a:cs typeface="Calibri" pitchFamily="34" charset="-120"/>
              </a:rPr>
              <a:t> </a:t>
            </a:r>
            <a:r>
              <a:rPr lang="en-US" b="1" dirty="0" err="1">
                <a:solidFill>
                  <a:srgbClr val="1B2B34"/>
                </a:solidFill>
                <a:latin typeface="Calibri" pitchFamily="34" charset="0"/>
                <a:ea typeface="Calibri" pitchFamily="34" charset="-122"/>
                <a:cs typeface="Calibri" pitchFamily="34" charset="-120"/>
              </a:rPr>
              <a:t>I</a:t>
            </a:r>
            <a:r>
              <a:rPr lang="en-US" sz="1800" b="1" dirty="0" err="1">
                <a:solidFill>
                  <a:srgbClr val="1B2B34"/>
                </a:solidFill>
                <a:latin typeface="Calibri" pitchFamily="34" charset="0"/>
                <a:ea typeface="Calibri" pitchFamily="34" charset="-122"/>
                <a:cs typeface="Calibri" pitchFamily="34" charset="-120"/>
              </a:rPr>
              <a:t>mportante</a:t>
            </a:r>
            <a:endParaRPr lang="en-US" sz="1800" dirty="0"/>
          </a:p>
        </p:txBody>
      </p:sp>
      <p:sp>
        <p:nvSpPr>
          <p:cNvPr id="8" name="Text 6"/>
          <p:cNvSpPr/>
          <p:nvPr/>
        </p:nvSpPr>
        <p:spPr>
          <a:xfrm>
            <a:off x="185273" y="3051544"/>
            <a:ext cx="2926080" cy="914400"/>
          </a:xfrm>
          <a:prstGeom prst="rect">
            <a:avLst/>
          </a:prstGeom>
          <a:noFill/>
          <a:ln/>
        </p:spPr>
        <p:txBody>
          <a:bodyPr wrap="square" rtlCol="0" anchor="ctr"/>
          <a:lstStyle/>
          <a:p>
            <a:pPr marL="0" indent="0">
              <a:buNone/>
            </a:pPr>
            <a:r>
              <a:rPr lang="en-US" sz="1300" dirty="0">
                <a:solidFill>
                  <a:srgbClr val="5B7A85"/>
                </a:solidFill>
                <a:latin typeface="Calibri" pitchFamily="34" charset="0"/>
                <a:ea typeface="Calibri" pitchFamily="34" charset="-122"/>
                <a:cs typeface="Calibri" pitchFamily="34" charset="-120"/>
              </a:rPr>
              <a:t>Millions de dossiers médicaux, rendez-vous, prescriptions et résultats d'examens accumulés dans le temps</a:t>
            </a:r>
            <a:endParaRPr lang="en-US" sz="1300" dirty="0"/>
          </a:p>
        </p:txBody>
      </p:sp>
      <p:sp>
        <p:nvSpPr>
          <p:cNvPr id="9" name="Shape 7"/>
          <p:cNvSpPr/>
          <p:nvPr/>
        </p:nvSpPr>
        <p:spPr>
          <a:xfrm>
            <a:off x="3062710" y="1605516"/>
            <a:ext cx="3002812" cy="2377440"/>
          </a:xfrm>
          <a:prstGeom prst="roundRect">
            <a:avLst>
              <a:gd name="adj" fmla="val 4615"/>
            </a:avLst>
          </a:prstGeom>
          <a:solidFill>
            <a:srgbClr val="F1F7F8"/>
          </a:solidFill>
          <a:ln/>
          <a:effectLst>
            <a:outerShdw blurRad="101600" dist="38100" dir="2700000" algn="bl" rotWithShape="0">
              <a:srgbClr val="000000">
                <a:alpha val="12000"/>
              </a:srgbClr>
            </a:outerShdw>
          </a:effectLst>
        </p:spPr>
        <p:txBody>
          <a:bodyPr/>
          <a:lstStyle/>
          <a:p>
            <a:endParaRPr lang="fr-SN"/>
          </a:p>
        </p:txBody>
      </p:sp>
      <p:sp>
        <p:nvSpPr>
          <p:cNvPr id="10" name="Shape 8"/>
          <p:cNvSpPr/>
          <p:nvPr/>
        </p:nvSpPr>
        <p:spPr>
          <a:xfrm>
            <a:off x="3346704" y="1920240"/>
            <a:ext cx="640080" cy="640080"/>
          </a:xfrm>
          <a:prstGeom prst="ellipse">
            <a:avLst/>
          </a:prstGeom>
          <a:solidFill>
            <a:srgbClr val="118AB2"/>
          </a:solidFill>
          <a:ln/>
        </p:spPr>
        <p:txBody>
          <a:bodyPr/>
          <a:lstStyle/>
          <a:p>
            <a:endParaRPr lang="fr-SN"/>
          </a:p>
        </p:txBody>
      </p:sp>
      <p:sp>
        <p:nvSpPr>
          <p:cNvPr id="11" name="Text 9"/>
          <p:cNvSpPr/>
          <p:nvPr/>
        </p:nvSpPr>
        <p:spPr>
          <a:xfrm>
            <a:off x="3346704" y="192024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3117574" y="2606040"/>
            <a:ext cx="2926080" cy="502920"/>
          </a:xfrm>
          <a:prstGeom prst="rect">
            <a:avLst/>
          </a:prstGeom>
          <a:noFill/>
          <a:ln/>
        </p:spPr>
        <p:txBody>
          <a:bodyPr wrap="square" rtlCol="0" anchor="ctr"/>
          <a:lstStyle/>
          <a:p>
            <a:pPr marL="0" indent="0">
              <a:buNone/>
            </a:pPr>
            <a:r>
              <a:rPr lang="en-US" b="1" dirty="0" err="1">
                <a:solidFill>
                  <a:srgbClr val="1B2B34"/>
                </a:solidFill>
                <a:latin typeface="Calibri" pitchFamily="34" charset="0"/>
                <a:ea typeface="Calibri" pitchFamily="34" charset="-122"/>
                <a:cs typeface="Calibri" pitchFamily="34" charset="-120"/>
              </a:rPr>
              <a:t>Sensibilité</a:t>
            </a:r>
            <a:r>
              <a:rPr lang="en-US" b="1" dirty="0">
                <a:solidFill>
                  <a:srgbClr val="1B2B34"/>
                </a:solidFill>
                <a:latin typeface="Calibri" pitchFamily="34" charset="0"/>
                <a:ea typeface="Calibri" pitchFamily="34" charset="-122"/>
                <a:cs typeface="Calibri" pitchFamily="34" charset="-120"/>
              </a:rPr>
              <a:t> Forte Des Données </a:t>
            </a:r>
            <a:endParaRPr lang="en-US" dirty="0"/>
          </a:p>
        </p:txBody>
      </p:sp>
      <p:sp>
        <p:nvSpPr>
          <p:cNvPr id="13" name="Text 11"/>
          <p:cNvSpPr/>
          <p:nvPr/>
        </p:nvSpPr>
        <p:spPr>
          <a:xfrm>
            <a:off x="3209544" y="3063240"/>
            <a:ext cx="2926080" cy="914400"/>
          </a:xfrm>
          <a:prstGeom prst="rect">
            <a:avLst/>
          </a:prstGeom>
          <a:noFill/>
          <a:ln/>
        </p:spPr>
        <p:txBody>
          <a:bodyPr wrap="square" rtlCol="0" anchor="ctr"/>
          <a:lstStyle/>
          <a:p>
            <a:pPr marL="0" indent="0">
              <a:buNone/>
            </a:pPr>
            <a:r>
              <a:rPr lang="en-US" sz="1300" dirty="0">
                <a:solidFill>
                  <a:srgbClr val="5B7A85"/>
                </a:solidFill>
                <a:latin typeface="Calibri" pitchFamily="34" charset="0"/>
                <a:ea typeface="Calibri" pitchFamily="34" charset="-122"/>
                <a:cs typeface="Calibri" pitchFamily="34" charset="-120"/>
              </a:rPr>
              <a:t>Données de santé : catégorie la plus protégée, sécurité et conformité indispensables</a:t>
            </a:r>
            <a:endParaRPr lang="en-US" sz="1300" dirty="0"/>
          </a:p>
        </p:txBody>
      </p:sp>
      <p:sp>
        <p:nvSpPr>
          <p:cNvPr id="14" name="Shape 12"/>
          <p:cNvSpPr/>
          <p:nvPr/>
        </p:nvSpPr>
        <p:spPr>
          <a:xfrm>
            <a:off x="6126480" y="1637414"/>
            <a:ext cx="3308600" cy="2377440"/>
          </a:xfrm>
          <a:prstGeom prst="roundRect">
            <a:avLst>
              <a:gd name="adj" fmla="val 4615"/>
            </a:avLst>
          </a:prstGeom>
          <a:solidFill>
            <a:srgbClr val="F1F7F8"/>
          </a:solidFill>
          <a:ln/>
          <a:effectLst>
            <a:outerShdw blurRad="101600" dist="38100" dir="2700000" algn="bl" rotWithShape="0">
              <a:srgbClr val="000000">
                <a:alpha val="12000"/>
              </a:srgbClr>
            </a:outerShdw>
          </a:effectLst>
        </p:spPr>
        <p:txBody>
          <a:bodyPr/>
          <a:lstStyle/>
          <a:p>
            <a:endParaRPr lang="fr-SN"/>
          </a:p>
        </p:txBody>
      </p:sp>
      <p:sp>
        <p:nvSpPr>
          <p:cNvPr id="15" name="Shape 13"/>
          <p:cNvSpPr/>
          <p:nvPr/>
        </p:nvSpPr>
        <p:spPr>
          <a:xfrm>
            <a:off x="6588465" y="1875583"/>
            <a:ext cx="640080" cy="640080"/>
          </a:xfrm>
          <a:prstGeom prst="ellipse">
            <a:avLst/>
          </a:prstGeom>
          <a:solidFill>
            <a:srgbClr val="118AB2"/>
          </a:solidFill>
          <a:ln/>
        </p:spPr>
        <p:txBody>
          <a:bodyPr/>
          <a:lstStyle/>
          <a:p>
            <a:endParaRPr lang="fr-SN" dirty="0"/>
          </a:p>
        </p:txBody>
      </p:sp>
      <p:sp>
        <p:nvSpPr>
          <p:cNvPr id="16" name="Text 14"/>
          <p:cNvSpPr/>
          <p:nvPr/>
        </p:nvSpPr>
        <p:spPr>
          <a:xfrm>
            <a:off x="6574111" y="1889937"/>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6492240" y="2664519"/>
            <a:ext cx="2926080" cy="365760"/>
          </a:xfrm>
          <a:prstGeom prst="rect">
            <a:avLst/>
          </a:prstGeom>
          <a:noFill/>
          <a:ln/>
        </p:spPr>
        <p:txBody>
          <a:bodyPr wrap="square" rtlCol="0" anchor="ctr"/>
          <a:lstStyle/>
          <a:p>
            <a:pPr marL="0" indent="0">
              <a:buNone/>
            </a:pPr>
            <a:r>
              <a:rPr lang="en-US" sz="1800" b="1" dirty="0">
                <a:solidFill>
                  <a:srgbClr val="1B2B34"/>
                </a:solidFill>
                <a:latin typeface="Calibri" pitchFamily="34" charset="0"/>
                <a:ea typeface="Calibri" pitchFamily="34" charset="-122"/>
                <a:cs typeface="Calibri" pitchFamily="34" charset="-120"/>
              </a:rPr>
              <a:t>Forte Concurrence </a:t>
            </a:r>
            <a:r>
              <a:rPr lang="en-US" b="1" dirty="0" err="1">
                <a:solidFill>
                  <a:srgbClr val="1B2B34"/>
                </a:solidFill>
                <a:latin typeface="Calibri" pitchFamily="34" charset="0"/>
                <a:ea typeface="Calibri" pitchFamily="34" charset="-122"/>
                <a:cs typeface="Calibri" pitchFamily="34" charset="-120"/>
              </a:rPr>
              <a:t>D</a:t>
            </a:r>
            <a:r>
              <a:rPr lang="en-US" sz="1800" b="1" dirty="0" err="1">
                <a:solidFill>
                  <a:srgbClr val="1B2B34"/>
                </a:solidFill>
                <a:latin typeface="Calibri" pitchFamily="34" charset="0"/>
                <a:ea typeface="Calibri" pitchFamily="34" charset="-122"/>
                <a:cs typeface="Calibri" pitchFamily="34" charset="-120"/>
              </a:rPr>
              <a:t>’accès</a:t>
            </a:r>
            <a:endParaRPr lang="en-US" sz="1800" dirty="0"/>
          </a:p>
        </p:txBody>
      </p:sp>
      <p:sp>
        <p:nvSpPr>
          <p:cNvPr id="18" name="Text 16"/>
          <p:cNvSpPr/>
          <p:nvPr/>
        </p:nvSpPr>
        <p:spPr>
          <a:xfrm>
            <a:off x="6492240" y="3051544"/>
            <a:ext cx="2926080" cy="914400"/>
          </a:xfrm>
          <a:prstGeom prst="rect">
            <a:avLst/>
          </a:prstGeom>
          <a:noFill/>
          <a:ln/>
        </p:spPr>
        <p:txBody>
          <a:bodyPr wrap="square" rtlCol="0" anchor="ctr"/>
          <a:lstStyle/>
          <a:p>
            <a:pPr marL="0" indent="0">
              <a:buNone/>
            </a:pPr>
            <a:r>
              <a:rPr lang="en-US" sz="1300" dirty="0">
                <a:solidFill>
                  <a:srgbClr val="5B7A85"/>
                </a:solidFill>
                <a:latin typeface="Calibri" pitchFamily="34" charset="0"/>
                <a:ea typeface="Calibri" pitchFamily="34" charset="-122"/>
                <a:cs typeface="Calibri" pitchFamily="34" charset="-120"/>
              </a:rPr>
              <a:t>Patients, médecins et hôpitaux connectés simultanément, à toute heure</a:t>
            </a:r>
            <a:endParaRPr lang="en-US" sz="1300" dirty="0"/>
          </a:p>
        </p:txBody>
      </p:sp>
      <p:sp>
        <p:nvSpPr>
          <p:cNvPr id="19" name="Shape 17"/>
          <p:cNvSpPr/>
          <p:nvPr/>
        </p:nvSpPr>
        <p:spPr>
          <a:xfrm>
            <a:off x="548640" y="4343400"/>
            <a:ext cx="11064240" cy="1691640"/>
          </a:xfrm>
          <a:prstGeom prst="roundRect">
            <a:avLst>
              <a:gd name="adj" fmla="val 5405"/>
            </a:avLst>
          </a:prstGeom>
          <a:solidFill>
            <a:srgbClr val="073B4C"/>
          </a:solidFill>
          <a:ln/>
        </p:spPr>
        <p:txBody>
          <a:bodyPr/>
          <a:lstStyle/>
          <a:p>
            <a:endParaRPr lang="fr-SN"/>
          </a:p>
        </p:txBody>
      </p:sp>
      <p:sp>
        <p:nvSpPr>
          <p:cNvPr id="20" name="Text 18"/>
          <p:cNvSpPr/>
          <p:nvPr/>
        </p:nvSpPr>
        <p:spPr>
          <a:xfrm>
            <a:off x="914400" y="4526280"/>
            <a:ext cx="3657600" cy="365760"/>
          </a:xfrm>
          <a:prstGeom prst="rect">
            <a:avLst/>
          </a:prstGeom>
          <a:noFill/>
          <a:ln/>
        </p:spPr>
        <p:txBody>
          <a:bodyPr wrap="square" rtlCol="0" anchor="ctr"/>
          <a:lstStyle/>
          <a:p>
            <a:pPr marL="0" indent="0">
              <a:buNone/>
            </a:pPr>
            <a:r>
              <a:rPr lang="en-US" sz="1500" b="1" dirty="0">
                <a:solidFill>
                  <a:srgbClr val="06D6A0"/>
                </a:solidFill>
                <a:latin typeface="Calibri" pitchFamily="34" charset="0"/>
                <a:ea typeface="Calibri" pitchFamily="34" charset="-122"/>
                <a:cs typeface="Calibri" pitchFamily="34" charset="-120"/>
              </a:rPr>
              <a:t>Collections métier</a:t>
            </a:r>
            <a:endParaRPr lang="en-US" sz="1500" dirty="0"/>
          </a:p>
        </p:txBody>
      </p:sp>
      <p:sp>
        <p:nvSpPr>
          <p:cNvPr id="21" name="Text 19"/>
          <p:cNvSpPr/>
          <p:nvPr/>
        </p:nvSpPr>
        <p:spPr>
          <a:xfrm>
            <a:off x="914400" y="4892040"/>
            <a:ext cx="10332720" cy="45720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Patients · Médecins · RendezVous · Consultations · Prescriptions · AnalysesMedicales</a:t>
            </a:r>
            <a:endParaRPr lang="en-US" sz="1500" dirty="0"/>
          </a:p>
        </p:txBody>
      </p:sp>
      <p:sp>
        <p:nvSpPr>
          <p:cNvPr id="22" name="Text 20"/>
          <p:cNvSpPr/>
          <p:nvPr/>
        </p:nvSpPr>
        <p:spPr>
          <a:xfrm>
            <a:off x="914400" y="5440680"/>
            <a:ext cx="10332720" cy="502920"/>
          </a:xfrm>
          <a:prstGeom prst="rect">
            <a:avLst/>
          </a:prstGeom>
          <a:noFill/>
          <a:ln/>
        </p:spPr>
        <p:txBody>
          <a:bodyPr wrap="square" rtlCol="0" anchor="ctr"/>
          <a:lstStyle/>
          <a:p>
            <a:pPr marL="0" indent="0">
              <a:buNone/>
            </a:pPr>
            <a:r>
              <a:rPr lang="en-US" sz="1250" i="1" dirty="0">
                <a:solidFill>
                  <a:srgbClr val="B9D8DD"/>
                </a:solidFill>
                <a:latin typeface="Calibri" pitchFamily="34" charset="0"/>
                <a:ea typeface="Calibri" pitchFamily="34" charset="-122"/>
                <a:cs typeface="Calibri" pitchFamily="34" charset="-120"/>
              </a:rPr>
              <a:t>6 axes traités : architecture de sharding, sécurité, cohérence, clés de sharding, performances, </a:t>
            </a:r>
            <a:r>
              <a:rPr lang="en-US" sz="1250" i="1" dirty="0" err="1">
                <a:solidFill>
                  <a:srgbClr val="B9D8DD"/>
                </a:solidFill>
                <a:latin typeface="Calibri" pitchFamily="34" charset="0"/>
                <a:ea typeface="Calibri" pitchFamily="34" charset="-122"/>
                <a:cs typeface="Calibri" pitchFamily="34" charset="-120"/>
              </a:rPr>
              <a:t>modélisation</a:t>
            </a:r>
            <a:r>
              <a:rPr lang="en-US" sz="1250" i="1" dirty="0">
                <a:solidFill>
                  <a:srgbClr val="B9D8DD"/>
                </a:solidFill>
                <a:latin typeface="Calibri" pitchFamily="34" charset="0"/>
                <a:ea typeface="Calibri" pitchFamily="34" charset="-122"/>
                <a:cs typeface="Calibri" pitchFamily="34" charset="-120"/>
              </a:rPr>
              <a:t> - chacun démontré sur cluster réel</a:t>
            </a:r>
            <a:endParaRPr lang="en-US" sz="1250" dirty="0"/>
          </a:p>
        </p:txBody>
      </p:sp>
      <p:sp>
        <p:nvSpPr>
          <p:cNvPr id="25" name="Shape 12">
            <a:extLst>
              <a:ext uri="{FF2B5EF4-FFF2-40B4-BE49-F238E27FC236}">
                <a16:creationId xmlns:a16="http://schemas.microsoft.com/office/drawing/2014/main" id="{D4DC6C83-B31F-26E7-0B78-3BC7F34E6B60}"/>
              </a:ext>
            </a:extLst>
          </p:cNvPr>
          <p:cNvSpPr/>
          <p:nvPr/>
        </p:nvSpPr>
        <p:spPr>
          <a:xfrm>
            <a:off x="9496038" y="1467292"/>
            <a:ext cx="2695962" cy="2515664"/>
          </a:xfrm>
          <a:prstGeom prst="roundRect">
            <a:avLst>
              <a:gd name="adj" fmla="val 4615"/>
            </a:avLst>
          </a:prstGeom>
          <a:solidFill>
            <a:srgbClr val="F1F7F8"/>
          </a:solidFill>
          <a:ln/>
          <a:effectLst>
            <a:outerShdw blurRad="101600" dist="38100" dir="2700000" algn="bl" rotWithShape="0">
              <a:srgbClr val="000000">
                <a:alpha val="12000"/>
              </a:srgbClr>
            </a:outerShdw>
          </a:effectLst>
        </p:spPr>
        <p:txBody>
          <a:bodyPr/>
          <a:lstStyle/>
          <a:p>
            <a:endParaRPr lang="fr-SN"/>
          </a:p>
        </p:txBody>
      </p:sp>
      <p:sp>
        <p:nvSpPr>
          <p:cNvPr id="29" name="Text 15">
            <a:extLst>
              <a:ext uri="{FF2B5EF4-FFF2-40B4-BE49-F238E27FC236}">
                <a16:creationId xmlns:a16="http://schemas.microsoft.com/office/drawing/2014/main" id="{F8C8EAB2-9934-D760-8116-8C0E16956AE7}"/>
              </a:ext>
            </a:extLst>
          </p:cNvPr>
          <p:cNvSpPr/>
          <p:nvPr/>
        </p:nvSpPr>
        <p:spPr>
          <a:xfrm>
            <a:off x="9669545" y="2628368"/>
            <a:ext cx="1956059" cy="387025"/>
          </a:xfrm>
          <a:prstGeom prst="rect">
            <a:avLst/>
          </a:prstGeom>
          <a:noFill/>
          <a:ln/>
        </p:spPr>
        <p:txBody>
          <a:bodyPr wrap="square" rtlCol="0" anchor="ctr"/>
          <a:lstStyle/>
          <a:p>
            <a:pPr marL="0" indent="0">
              <a:buNone/>
            </a:pPr>
            <a:r>
              <a:rPr lang="en-US" sz="1800" b="1" dirty="0" err="1">
                <a:solidFill>
                  <a:srgbClr val="1B2B34"/>
                </a:solidFill>
                <a:latin typeface="Calibri" pitchFamily="34" charset="0"/>
                <a:ea typeface="Calibri" pitchFamily="34" charset="-122"/>
                <a:cs typeface="Calibri" pitchFamily="34" charset="-120"/>
              </a:rPr>
              <a:t>Défis</a:t>
            </a:r>
            <a:endParaRPr lang="en-US" sz="1800" dirty="0"/>
          </a:p>
        </p:txBody>
      </p:sp>
      <p:sp>
        <p:nvSpPr>
          <p:cNvPr id="31" name="Text 16">
            <a:extLst>
              <a:ext uri="{FF2B5EF4-FFF2-40B4-BE49-F238E27FC236}">
                <a16:creationId xmlns:a16="http://schemas.microsoft.com/office/drawing/2014/main" id="{6B8BAE50-9411-3D56-F974-FDB06AD8319E}"/>
              </a:ext>
            </a:extLst>
          </p:cNvPr>
          <p:cNvSpPr/>
          <p:nvPr/>
        </p:nvSpPr>
        <p:spPr>
          <a:xfrm>
            <a:off x="9623293" y="3015393"/>
            <a:ext cx="1956059" cy="967563"/>
          </a:xfrm>
          <a:prstGeom prst="rect">
            <a:avLst/>
          </a:prstGeom>
          <a:noFill/>
          <a:ln/>
        </p:spPr>
        <p:txBody>
          <a:bodyPr wrap="square" rtlCol="0" anchor="ctr"/>
          <a:lstStyle/>
          <a:p>
            <a:pPr marL="0" indent="0">
              <a:buNone/>
            </a:pPr>
            <a:r>
              <a:rPr lang="fr-FR" sz="1300" dirty="0">
                <a:solidFill>
                  <a:srgbClr val="5B7A85"/>
                </a:solidFill>
                <a:latin typeface="Calibri" pitchFamily="34" charset="0"/>
                <a:ea typeface="Calibri" pitchFamily="34" charset="-122"/>
                <a:cs typeface="Calibri" pitchFamily="34" charset="-120"/>
              </a:rPr>
              <a:t>- Scalabilité</a:t>
            </a:r>
          </a:p>
          <a:p>
            <a:pPr marL="0" indent="0">
              <a:buNone/>
            </a:pPr>
            <a:r>
              <a:rPr lang="fr-FR" sz="1300" dirty="0">
                <a:solidFill>
                  <a:srgbClr val="5B7A85"/>
                </a:solidFill>
                <a:latin typeface="Calibri" pitchFamily="34" charset="0"/>
                <a:ea typeface="Calibri" pitchFamily="34" charset="-122"/>
                <a:cs typeface="Calibri" pitchFamily="34" charset="-120"/>
              </a:rPr>
              <a:t>- Disponibilité</a:t>
            </a:r>
          </a:p>
          <a:p>
            <a:pPr marL="0" indent="0">
              <a:buNone/>
            </a:pPr>
            <a:r>
              <a:rPr lang="fr-FR" sz="1300" dirty="0">
                <a:solidFill>
                  <a:srgbClr val="5B7A85"/>
                </a:solidFill>
                <a:latin typeface="Calibri" pitchFamily="34" charset="0"/>
                <a:ea typeface="Calibri" pitchFamily="34" charset="-122"/>
                <a:cs typeface="Calibri" pitchFamily="34" charset="-120"/>
              </a:rPr>
              <a:t>- Sécurité</a:t>
            </a:r>
          </a:p>
          <a:p>
            <a:pPr marL="0" indent="0">
              <a:buNone/>
            </a:pPr>
            <a:r>
              <a:rPr lang="fr-FR" sz="1300" dirty="0">
                <a:solidFill>
                  <a:srgbClr val="5B7A85"/>
                </a:solidFill>
                <a:latin typeface="Calibri" pitchFamily="34" charset="0"/>
                <a:ea typeface="Calibri" pitchFamily="34" charset="-122"/>
                <a:cs typeface="Calibri" pitchFamily="34" charset="-120"/>
              </a:rPr>
              <a:t>- Performance</a:t>
            </a:r>
            <a:endParaRPr lang="en-US" sz="1300" dirty="0"/>
          </a:p>
        </p:txBody>
      </p:sp>
      <p:sp>
        <p:nvSpPr>
          <p:cNvPr id="37" name="Shape 13">
            <a:extLst>
              <a:ext uri="{FF2B5EF4-FFF2-40B4-BE49-F238E27FC236}">
                <a16:creationId xmlns:a16="http://schemas.microsoft.com/office/drawing/2014/main" id="{CC2B8446-629C-7834-A76F-E2A82705F4A7}"/>
              </a:ext>
            </a:extLst>
          </p:cNvPr>
          <p:cNvSpPr/>
          <p:nvPr/>
        </p:nvSpPr>
        <p:spPr>
          <a:xfrm>
            <a:off x="9680495" y="1874519"/>
            <a:ext cx="691427" cy="641144"/>
          </a:xfrm>
          <a:prstGeom prst="ellipse">
            <a:avLst/>
          </a:prstGeom>
          <a:solidFill>
            <a:srgbClr val="118AB2"/>
          </a:solidFill>
          <a:ln/>
        </p:spPr>
        <p:txBody>
          <a:bodyPr/>
          <a:lstStyle/>
          <a:p>
            <a:endParaRPr lang="fr-SN" dirty="0"/>
          </a:p>
        </p:txBody>
      </p:sp>
      <p:sp>
        <p:nvSpPr>
          <p:cNvPr id="40" name="Text 14">
            <a:extLst>
              <a:ext uri="{FF2B5EF4-FFF2-40B4-BE49-F238E27FC236}">
                <a16:creationId xmlns:a16="http://schemas.microsoft.com/office/drawing/2014/main" id="{5D5EA418-A37F-6C7D-3919-3BAFE076A80A}"/>
              </a:ext>
            </a:extLst>
          </p:cNvPr>
          <p:cNvSpPr/>
          <p:nvPr/>
        </p:nvSpPr>
        <p:spPr>
          <a:xfrm>
            <a:off x="9812265" y="1816572"/>
            <a:ext cx="427888" cy="677294"/>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1 - ARCHITECTURE DE SHARDING</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a:solidFill>
                  <a:srgbClr val="0B3D5C"/>
                </a:solidFill>
                <a:latin typeface="Cambria" pitchFamily="34" charset="0"/>
                <a:ea typeface="Cambria" pitchFamily="34" charset="-122"/>
                <a:cs typeface="Cambria" pitchFamily="34" charset="-120"/>
              </a:rPr>
              <a:t>Topologie du cluster</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sp>
        <p:nvSpPr>
          <p:cNvPr id="6" name="Shape 3"/>
          <p:cNvSpPr/>
          <p:nvPr/>
        </p:nvSpPr>
        <p:spPr>
          <a:xfrm>
            <a:off x="4709160" y="2103120"/>
            <a:ext cx="2743200" cy="777240"/>
          </a:xfrm>
          <a:prstGeom prst="roundRect">
            <a:avLst>
              <a:gd name="adj" fmla="val 9412"/>
            </a:avLst>
          </a:prstGeom>
          <a:solidFill>
            <a:srgbClr val="0B3D5C"/>
          </a:solidFill>
          <a:ln/>
        </p:spPr>
      </p:sp>
      <p:sp>
        <p:nvSpPr>
          <p:cNvPr id="7" name="Text 4"/>
          <p:cNvSpPr/>
          <p:nvPr/>
        </p:nvSpPr>
        <p:spPr>
          <a:xfrm>
            <a:off x="4709160" y="2176272"/>
            <a:ext cx="274320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mongos</a:t>
            </a:r>
            <a:endParaRPr lang="en-US" sz="1500" dirty="0"/>
          </a:p>
        </p:txBody>
      </p:sp>
      <p:sp>
        <p:nvSpPr>
          <p:cNvPr id="8" name="Text 5"/>
          <p:cNvSpPr/>
          <p:nvPr/>
        </p:nvSpPr>
        <p:spPr>
          <a:xfrm>
            <a:off x="4709160" y="2505456"/>
            <a:ext cx="2743200" cy="27432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Routeur — point d’entrée applicatif</a:t>
            </a:r>
            <a:endParaRPr lang="en-US" sz="950" dirty="0"/>
          </a:p>
        </p:txBody>
      </p:sp>
      <p:sp>
        <p:nvSpPr>
          <p:cNvPr id="9" name="Shape 6"/>
          <p:cNvSpPr/>
          <p:nvPr/>
        </p:nvSpPr>
        <p:spPr>
          <a:xfrm>
            <a:off x="6080760" y="2880360"/>
            <a:ext cx="0" cy="274320"/>
          </a:xfrm>
          <a:prstGeom prst="line">
            <a:avLst/>
          </a:prstGeom>
          <a:noFill/>
          <a:ln w="19050">
            <a:solidFill>
              <a:srgbClr val="C7D3D9"/>
            </a:solidFill>
            <a:prstDash val="solid"/>
          </a:ln>
        </p:spPr>
      </p:sp>
      <p:sp>
        <p:nvSpPr>
          <p:cNvPr id="10" name="Shape 7"/>
          <p:cNvSpPr/>
          <p:nvPr/>
        </p:nvSpPr>
        <p:spPr>
          <a:xfrm>
            <a:off x="1097280" y="3154680"/>
            <a:ext cx="10058400" cy="0"/>
          </a:xfrm>
          <a:prstGeom prst="line">
            <a:avLst/>
          </a:prstGeom>
          <a:noFill/>
          <a:ln w="19050">
            <a:solidFill>
              <a:srgbClr val="C7D3D9"/>
            </a:solidFill>
            <a:prstDash val="solid"/>
          </a:ln>
        </p:spPr>
      </p:sp>
      <p:sp>
        <p:nvSpPr>
          <p:cNvPr id="11" name="Shape 8"/>
          <p:cNvSpPr/>
          <p:nvPr/>
        </p:nvSpPr>
        <p:spPr>
          <a:xfrm>
            <a:off x="685800" y="3383280"/>
            <a:ext cx="1920240" cy="1371600"/>
          </a:xfrm>
          <a:prstGeom prst="roundRect">
            <a:avLst>
              <a:gd name="adj" fmla="val 5333"/>
            </a:avLst>
          </a:prstGeom>
          <a:solidFill>
            <a:srgbClr val="F4F8FA"/>
          </a:solidFill>
          <a:ln/>
          <a:effectLst>
            <a:outerShdw blurRad="101600" dist="25400" dir="5400000" algn="bl" rotWithShape="0">
              <a:srgbClr val="0B3D5C">
                <a:alpha val="12000"/>
              </a:srgbClr>
            </a:outerShdw>
          </a:effectLst>
        </p:spPr>
      </p:sp>
      <p:sp>
        <p:nvSpPr>
          <p:cNvPr id="12" name="Text 9"/>
          <p:cNvSpPr/>
          <p:nvPr/>
        </p:nvSpPr>
        <p:spPr>
          <a:xfrm>
            <a:off x="685800" y="3493008"/>
            <a:ext cx="1920240" cy="274320"/>
          </a:xfrm>
          <a:prstGeom prst="rect">
            <a:avLst/>
          </a:prstGeom>
          <a:noFill/>
          <a:ln/>
        </p:spPr>
        <p:txBody>
          <a:bodyPr wrap="square" lIns="0" tIns="0" rIns="0" bIns="0" rtlCol="0" anchor="ctr"/>
          <a:lstStyle/>
          <a:p>
            <a:pPr marL="0" indent="0" algn="ctr">
              <a:buNone/>
            </a:pPr>
            <a:r>
              <a:rPr lang="en-US" sz="1250" b="1" dirty="0">
                <a:solidFill>
                  <a:srgbClr val="0B3D5C"/>
                </a:solidFill>
                <a:latin typeface="Cambria" pitchFamily="34" charset="0"/>
                <a:ea typeface="Cambria" pitchFamily="34" charset="-122"/>
                <a:cs typeface="Cambria" pitchFamily="34" charset="-120"/>
              </a:rPr>
              <a:t>ConfigRS</a:t>
            </a:r>
            <a:endParaRPr lang="en-US" sz="1250" dirty="0"/>
          </a:p>
        </p:txBody>
      </p:sp>
      <p:sp>
        <p:nvSpPr>
          <p:cNvPr id="13" name="Text 10"/>
          <p:cNvSpPr/>
          <p:nvPr/>
        </p:nvSpPr>
        <p:spPr>
          <a:xfrm>
            <a:off x="685800" y="3785616"/>
            <a:ext cx="1920240" cy="457200"/>
          </a:xfrm>
          <a:prstGeom prst="rect">
            <a:avLst/>
          </a:prstGeom>
          <a:noFill/>
          <a:ln/>
        </p:spPr>
        <p:txBody>
          <a:bodyPr wrap="square" lIns="0" tIns="0" rIns="0" bIns="0" rtlCol="0" anchor="ctr"/>
          <a:lstStyle/>
          <a:p>
            <a:pPr marL="0" indent="0" algn="ctr">
              <a:buNone/>
            </a:pPr>
            <a:r>
              <a:rPr lang="en-US" sz="950" dirty="0">
                <a:solidFill>
                  <a:srgbClr val="55636E"/>
                </a:solidFill>
                <a:latin typeface="Calibri" pitchFamily="34" charset="0"/>
                <a:ea typeface="Calibri" pitchFamily="34" charset="-122"/>
                <a:cs typeface="Calibri" pitchFamily="34" charset="-120"/>
              </a:rPr>
              <a:t>Métadonnées de</a:t>
            </a:r>
            <a:endParaRPr lang="en-US" sz="950" dirty="0"/>
          </a:p>
          <a:p>
            <a:pPr marL="0" indent="0" algn="ctr">
              <a:buNone/>
            </a:pPr>
            <a:r>
              <a:rPr lang="en-US" sz="950" dirty="0">
                <a:solidFill>
                  <a:srgbClr val="55636E"/>
                </a:solidFill>
                <a:latin typeface="Calibri" pitchFamily="34" charset="0"/>
                <a:ea typeface="Calibri" pitchFamily="34" charset="-122"/>
                <a:cs typeface="Calibri" pitchFamily="34" charset="-120"/>
              </a:rPr>
              <a:t>sharding</a:t>
            </a:r>
            <a:endParaRPr lang="en-US" sz="950" dirty="0"/>
          </a:p>
        </p:txBody>
      </p:sp>
      <p:sp>
        <p:nvSpPr>
          <p:cNvPr id="14" name="Text 11"/>
          <p:cNvSpPr/>
          <p:nvPr/>
        </p:nvSpPr>
        <p:spPr>
          <a:xfrm>
            <a:off x="685800" y="4370832"/>
            <a:ext cx="1920240" cy="274320"/>
          </a:xfrm>
          <a:prstGeom prst="rect">
            <a:avLst/>
          </a:prstGeom>
          <a:noFill/>
          <a:ln/>
        </p:spPr>
        <p:txBody>
          <a:bodyPr wrap="square" lIns="0" tIns="0" rIns="0" bIns="0" rtlCol="0" anchor="ctr"/>
          <a:lstStyle/>
          <a:p>
            <a:pPr marL="0" indent="0" algn="ctr">
              <a:buNone/>
            </a:pPr>
            <a:r>
              <a:rPr lang="en-US" sz="950" b="1" dirty="0">
                <a:solidFill>
                  <a:srgbClr val="1C7293"/>
                </a:solidFill>
                <a:latin typeface="Calibri" pitchFamily="34" charset="0"/>
                <a:ea typeface="Calibri" pitchFamily="34" charset="-122"/>
                <a:cs typeface="Calibri" pitchFamily="34" charset="-120"/>
              </a:rPr>
              <a:t>3 nœuds (replica set)</a:t>
            </a:r>
            <a:endParaRPr lang="en-US" sz="950" dirty="0"/>
          </a:p>
        </p:txBody>
      </p:sp>
      <p:sp>
        <p:nvSpPr>
          <p:cNvPr id="15" name="Shape 12"/>
          <p:cNvSpPr/>
          <p:nvPr/>
        </p:nvSpPr>
        <p:spPr>
          <a:xfrm>
            <a:off x="3840480" y="3154680"/>
            <a:ext cx="0" cy="228600"/>
          </a:xfrm>
          <a:prstGeom prst="line">
            <a:avLst/>
          </a:prstGeom>
          <a:noFill/>
          <a:ln w="19050">
            <a:solidFill>
              <a:srgbClr val="C7D3D9"/>
            </a:solidFill>
            <a:prstDash val="solid"/>
          </a:ln>
        </p:spPr>
      </p:sp>
      <p:sp>
        <p:nvSpPr>
          <p:cNvPr id="16" name="Shape 13"/>
          <p:cNvSpPr/>
          <p:nvPr/>
        </p:nvSpPr>
        <p:spPr>
          <a:xfrm>
            <a:off x="2880360" y="3383280"/>
            <a:ext cx="1920240" cy="1371600"/>
          </a:xfrm>
          <a:prstGeom prst="roundRect">
            <a:avLst>
              <a:gd name="adj" fmla="val 5333"/>
            </a:avLst>
          </a:prstGeom>
          <a:solidFill>
            <a:srgbClr val="FFFFFF"/>
          </a:solidFill>
          <a:ln w="12700">
            <a:solidFill>
              <a:srgbClr val="E1E8EC"/>
            </a:solidFill>
            <a:prstDash val="solid"/>
          </a:ln>
          <a:effectLst>
            <a:outerShdw blurRad="101600" dist="25400" dir="5400000" algn="bl" rotWithShape="0">
              <a:srgbClr val="0B3D5C">
                <a:alpha val="12000"/>
              </a:srgbClr>
            </a:outerShdw>
          </a:effectLst>
        </p:spPr>
      </p:sp>
      <p:sp>
        <p:nvSpPr>
          <p:cNvPr id="17" name="Shape 14"/>
          <p:cNvSpPr/>
          <p:nvPr/>
        </p:nvSpPr>
        <p:spPr>
          <a:xfrm>
            <a:off x="3593592" y="3511296"/>
            <a:ext cx="384048" cy="384048"/>
          </a:xfrm>
          <a:prstGeom prst="ellipse">
            <a:avLst/>
          </a:prstGeom>
          <a:solidFill>
            <a:srgbClr val="F4F8FA"/>
          </a:solidFill>
          <a:ln/>
        </p:spPr>
      </p:sp>
      <p:pic>
        <p:nvPicPr>
          <p:cNvPr id="18" name="Image 1" descr="preencoded.png"/>
          <p:cNvPicPr>
            <a:picLocks noChangeAspect="1"/>
          </p:cNvPicPr>
          <p:nvPr/>
        </p:nvPicPr>
        <p:blipFill>
          <a:blip r:embed="rId4"/>
          <a:stretch>
            <a:fillRect/>
          </a:stretch>
        </p:blipFill>
        <p:spPr>
          <a:xfrm>
            <a:off x="3680003" y="3597707"/>
            <a:ext cx="211226" cy="211226"/>
          </a:xfrm>
          <a:prstGeom prst="rect">
            <a:avLst/>
          </a:prstGeom>
        </p:spPr>
      </p:pic>
      <p:sp>
        <p:nvSpPr>
          <p:cNvPr id="19" name="Text 15"/>
          <p:cNvSpPr/>
          <p:nvPr/>
        </p:nvSpPr>
        <p:spPr>
          <a:xfrm>
            <a:off x="2880360" y="3931920"/>
            <a:ext cx="1920240" cy="256032"/>
          </a:xfrm>
          <a:prstGeom prst="rect">
            <a:avLst/>
          </a:prstGeom>
          <a:noFill/>
          <a:ln/>
        </p:spPr>
        <p:txBody>
          <a:bodyPr wrap="square" lIns="0" tIns="0" rIns="0" bIns="0" rtlCol="0" anchor="ctr"/>
          <a:lstStyle/>
          <a:p>
            <a:pPr marL="0" indent="0" algn="ctr">
              <a:buNone/>
            </a:pPr>
            <a:r>
              <a:rPr lang="en-US" sz="1200" b="1" dirty="0">
                <a:solidFill>
                  <a:srgbClr val="0B3D5C"/>
                </a:solidFill>
                <a:latin typeface="Cambria" pitchFamily="34" charset="0"/>
                <a:ea typeface="Cambria" pitchFamily="34" charset="-122"/>
                <a:cs typeface="Cambria" pitchFamily="34" charset="-120"/>
              </a:rPr>
              <a:t>Shard 1</a:t>
            </a:r>
            <a:endParaRPr lang="en-US" sz="1200" dirty="0"/>
          </a:p>
        </p:txBody>
      </p:sp>
      <p:sp>
        <p:nvSpPr>
          <p:cNvPr id="20" name="Text 16"/>
          <p:cNvSpPr/>
          <p:nvPr/>
        </p:nvSpPr>
        <p:spPr>
          <a:xfrm>
            <a:off x="2880360" y="4178808"/>
            <a:ext cx="1920240" cy="320040"/>
          </a:xfrm>
          <a:prstGeom prst="rect">
            <a:avLst/>
          </a:prstGeom>
          <a:noFill/>
          <a:ln/>
        </p:spPr>
        <p:txBody>
          <a:bodyPr wrap="square" lIns="0" tIns="0" rIns="0" bIns="0" rtlCol="0" anchor="ctr"/>
          <a:lstStyle/>
          <a:p>
            <a:pPr marL="0" indent="0" algn="ctr">
              <a:buNone/>
            </a:pPr>
            <a:r>
              <a:rPr lang="en-US" sz="900" dirty="0">
                <a:solidFill>
                  <a:srgbClr val="55636E"/>
                </a:solidFill>
                <a:latin typeface="Calibri" pitchFamily="34" charset="0"/>
                <a:ea typeface="Calibri" pitchFamily="34" charset="-122"/>
                <a:cs typeface="Calibri" pitchFamily="34" charset="-120"/>
              </a:rPr>
              <a:t>Afrique de l’Ouest</a:t>
            </a:r>
            <a:endParaRPr lang="en-US" sz="900" dirty="0"/>
          </a:p>
        </p:txBody>
      </p:sp>
      <p:sp>
        <p:nvSpPr>
          <p:cNvPr id="21" name="Text 17"/>
          <p:cNvSpPr/>
          <p:nvPr/>
        </p:nvSpPr>
        <p:spPr>
          <a:xfrm>
            <a:off x="2880360" y="4480560"/>
            <a:ext cx="1920240" cy="228600"/>
          </a:xfrm>
          <a:prstGeom prst="rect">
            <a:avLst/>
          </a:prstGeom>
          <a:noFill/>
          <a:ln/>
        </p:spPr>
        <p:txBody>
          <a:bodyPr wrap="square" lIns="0" tIns="0" rIns="0" bIns="0" rtlCol="0" anchor="ctr"/>
          <a:lstStyle/>
          <a:p>
            <a:pPr marL="0" indent="0" algn="ctr">
              <a:buNone/>
            </a:pPr>
            <a:r>
              <a:rPr lang="en-US" sz="950" b="1" dirty="0">
                <a:solidFill>
                  <a:srgbClr val="02C39A"/>
                </a:solidFill>
                <a:latin typeface="Calibri" pitchFamily="34" charset="0"/>
                <a:ea typeface="Calibri" pitchFamily="34" charset="-122"/>
                <a:cs typeface="Calibri" pitchFamily="34" charset="-120"/>
              </a:rPr>
              <a:t>3 nœuds</a:t>
            </a:r>
            <a:endParaRPr lang="en-US" sz="950" dirty="0"/>
          </a:p>
        </p:txBody>
      </p:sp>
      <p:sp>
        <p:nvSpPr>
          <p:cNvPr id="22" name="Shape 18"/>
          <p:cNvSpPr/>
          <p:nvPr/>
        </p:nvSpPr>
        <p:spPr>
          <a:xfrm>
            <a:off x="5989320" y="3154680"/>
            <a:ext cx="0" cy="228600"/>
          </a:xfrm>
          <a:prstGeom prst="line">
            <a:avLst/>
          </a:prstGeom>
          <a:noFill/>
          <a:ln w="19050">
            <a:solidFill>
              <a:srgbClr val="C7D3D9"/>
            </a:solidFill>
            <a:prstDash val="solid"/>
          </a:ln>
        </p:spPr>
      </p:sp>
      <p:sp>
        <p:nvSpPr>
          <p:cNvPr id="23" name="Shape 19"/>
          <p:cNvSpPr/>
          <p:nvPr/>
        </p:nvSpPr>
        <p:spPr>
          <a:xfrm>
            <a:off x="5029200" y="3383280"/>
            <a:ext cx="1920240" cy="1371600"/>
          </a:xfrm>
          <a:prstGeom prst="roundRect">
            <a:avLst>
              <a:gd name="adj" fmla="val 5333"/>
            </a:avLst>
          </a:prstGeom>
          <a:solidFill>
            <a:srgbClr val="FFFFFF"/>
          </a:solidFill>
          <a:ln w="12700">
            <a:solidFill>
              <a:srgbClr val="E1E8EC"/>
            </a:solidFill>
            <a:prstDash val="solid"/>
          </a:ln>
          <a:effectLst>
            <a:outerShdw blurRad="101600" dist="25400" dir="5400000" algn="bl" rotWithShape="0">
              <a:srgbClr val="0B3D5C">
                <a:alpha val="12000"/>
              </a:srgbClr>
            </a:outerShdw>
          </a:effectLst>
        </p:spPr>
      </p:sp>
      <p:sp>
        <p:nvSpPr>
          <p:cNvPr id="24" name="Shape 20"/>
          <p:cNvSpPr/>
          <p:nvPr/>
        </p:nvSpPr>
        <p:spPr>
          <a:xfrm>
            <a:off x="5742432" y="3511296"/>
            <a:ext cx="384048" cy="384048"/>
          </a:xfrm>
          <a:prstGeom prst="ellipse">
            <a:avLst/>
          </a:prstGeom>
          <a:solidFill>
            <a:srgbClr val="F4F8FA"/>
          </a:solidFill>
          <a:ln/>
        </p:spPr>
      </p:sp>
      <p:pic>
        <p:nvPicPr>
          <p:cNvPr id="25" name="Image 2" descr="preencoded.png"/>
          <p:cNvPicPr>
            <a:picLocks noChangeAspect="1"/>
          </p:cNvPicPr>
          <p:nvPr/>
        </p:nvPicPr>
        <p:blipFill>
          <a:blip r:embed="rId4"/>
          <a:stretch>
            <a:fillRect/>
          </a:stretch>
        </p:blipFill>
        <p:spPr>
          <a:xfrm>
            <a:off x="5828843" y="3597707"/>
            <a:ext cx="211226" cy="211226"/>
          </a:xfrm>
          <a:prstGeom prst="rect">
            <a:avLst/>
          </a:prstGeom>
        </p:spPr>
      </p:pic>
      <p:sp>
        <p:nvSpPr>
          <p:cNvPr id="26" name="Text 21"/>
          <p:cNvSpPr/>
          <p:nvPr/>
        </p:nvSpPr>
        <p:spPr>
          <a:xfrm>
            <a:off x="5029200" y="3931920"/>
            <a:ext cx="1920240" cy="256032"/>
          </a:xfrm>
          <a:prstGeom prst="rect">
            <a:avLst/>
          </a:prstGeom>
          <a:noFill/>
          <a:ln/>
        </p:spPr>
        <p:txBody>
          <a:bodyPr wrap="square" lIns="0" tIns="0" rIns="0" bIns="0" rtlCol="0" anchor="ctr"/>
          <a:lstStyle/>
          <a:p>
            <a:pPr marL="0" indent="0" algn="ctr">
              <a:buNone/>
            </a:pPr>
            <a:r>
              <a:rPr lang="en-US" sz="1200" b="1" dirty="0">
                <a:solidFill>
                  <a:srgbClr val="0B3D5C"/>
                </a:solidFill>
                <a:latin typeface="Cambria" pitchFamily="34" charset="0"/>
                <a:ea typeface="Cambria" pitchFamily="34" charset="-122"/>
                <a:cs typeface="Cambria" pitchFamily="34" charset="-120"/>
              </a:rPr>
              <a:t>Shard 2</a:t>
            </a:r>
            <a:endParaRPr lang="en-US" sz="1200" dirty="0"/>
          </a:p>
        </p:txBody>
      </p:sp>
      <p:sp>
        <p:nvSpPr>
          <p:cNvPr id="27" name="Text 22"/>
          <p:cNvSpPr/>
          <p:nvPr/>
        </p:nvSpPr>
        <p:spPr>
          <a:xfrm>
            <a:off x="5029200" y="4178808"/>
            <a:ext cx="1920240" cy="320040"/>
          </a:xfrm>
          <a:prstGeom prst="rect">
            <a:avLst/>
          </a:prstGeom>
          <a:noFill/>
          <a:ln/>
        </p:spPr>
        <p:txBody>
          <a:bodyPr wrap="square" lIns="0" tIns="0" rIns="0" bIns="0" rtlCol="0" anchor="ctr"/>
          <a:lstStyle/>
          <a:p>
            <a:pPr marL="0" indent="0" algn="ctr">
              <a:buNone/>
            </a:pPr>
            <a:r>
              <a:rPr lang="en-US" sz="900" dirty="0">
                <a:solidFill>
                  <a:srgbClr val="55636E"/>
                </a:solidFill>
                <a:latin typeface="Calibri" pitchFamily="34" charset="0"/>
                <a:ea typeface="Calibri" pitchFamily="34" charset="-122"/>
                <a:cs typeface="Calibri" pitchFamily="34" charset="-120"/>
              </a:rPr>
              <a:t>Afrique Centrale</a:t>
            </a:r>
            <a:endParaRPr lang="en-US" sz="900" dirty="0"/>
          </a:p>
        </p:txBody>
      </p:sp>
      <p:sp>
        <p:nvSpPr>
          <p:cNvPr id="28" name="Text 23"/>
          <p:cNvSpPr/>
          <p:nvPr/>
        </p:nvSpPr>
        <p:spPr>
          <a:xfrm>
            <a:off x="5029200" y="4480560"/>
            <a:ext cx="1920240" cy="228600"/>
          </a:xfrm>
          <a:prstGeom prst="rect">
            <a:avLst/>
          </a:prstGeom>
          <a:noFill/>
          <a:ln/>
        </p:spPr>
        <p:txBody>
          <a:bodyPr wrap="square" lIns="0" tIns="0" rIns="0" bIns="0" rtlCol="0" anchor="ctr"/>
          <a:lstStyle/>
          <a:p>
            <a:pPr marL="0" indent="0" algn="ctr">
              <a:buNone/>
            </a:pPr>
            <a:r>
              <a:rPr lang="en-US" sz="950" b="1" dirty="0">
                <a:solidFill>
                  <a:srgbClr val="02C39A"/>
                </a:solidFill>
                <a:latin typeface="Calibri" pitchFamily="34" charset="0"/>
                <a:ea typeface="Calibri" pitchFamily="34" charset="-122"/>
                <a:cs typeface="Calibri" pitchFamily="34" charset="-120"/>
              </a:rPr>
              <a:t>3 nœuds</a:t>
            </a:r>
            <a:endParaRPr lang="en-US" sz="950" dirty="0"/>
          </a:p>
        </p:txBody>
      </p:sp>
      <p:sp>
        <p:nvSpPr>
          <p:cNvPr id="29" name="Shape 24"/>
          <p:cNvSpPr/>
          <p:nvPr/>
        </p:nvSpPr>
        <p:spPr>
          <a:xfrm>
            <a:off x="8138160" y="3154680"/>
            <a:ext cx="0" cy="228600"/>
          </a:xfrm>
          <a:prstGeom prst="line">
            <a:avLst/>
          </a:prstGeom>
          <a:noFill/>
          <a:ln w="19050">
            <a:solidFill>
              <a:srgbClr val="C7D3D9"/>
            </a:solidFill>
            <a:prstDash val="solid"/>
          </a:ln>
        </p:spPr>
      </p:sp>
      <p:sp>
        <p:nvSpPr>
          <p:cNvPr id="30" name="Shape 25"/>
          <p:cNvSpPr/>
          <p:nvPr/>
        </p:nvSpPr>
        <p:spPr>
          <a:xfrm>
            <a:off x="7178040" y="3383280"/>
            <a:ext cx="1920240" cy="1371600"/>
          </a:xfrm>
          <a:prstGeom prst="roundRect">
            <a:avLst>
              <a:gd name="adj" fmla="val 5333"/>
            </a:avLst>
          </a:prstGeom>
          <a:solidFill>
            <a:srgbClr val="FFFFFF"/>
          </a:solidFill>
          <a:ln w="12700">
            <a:solidFill>
              <a:srgbClr val="E1E8EC"/>
            </a:solidFill>
            <a:prstDash val="solid"/>
          </a:ln>
          <a:effectLst>
            <a:outerShdw blurRad="101600" dist="25400" dir="5400000" algn="bl" rotWithShape="0">
              <a:srgbClr val="0B3D5C">
                <a:alpha val="12000"/>
              </a:srgbClr>
            </a:outerShdw>
          </a:effectLst>
        </p:spPr>
      </p:sp>
      <p:sp>
        <p:nvSpPr>
          <p:cNvPr id="31" name="Shape 26"/>
          <p:cNvSpPr/>
          <p:nvPr/>
        </p:nvSpPr>
        <p:spPr>
          <a:xfrm>
            <a:off x="7891272" y="3511296"/>
            <a:ext cx="384048" cy="384048"/>
          </a:xfrm>
          <a:prstGeom prst="ellipse">
            <a:avLst/>
          </a:prstGeom>
          <a:solidFill>
            <a:srgbClr val="F4F8FA"/>
          </a:solidFill>
          <a:ln/>
        </p:spPr>
      </p:sp>
      <p:pic>
        <p:nvPicPr>
          <p:cNvPr id="32" name="Image 3" descr="preencoded.png"/>
          <p:cNvPicPr>
            <a:picLocks noChangeAspect="1"/>
          </p:cNvPicPr>
          <p:nvPr/>
        </p:nvPicPr>
        <p:blipFill>
          <a:blip r:embed="rId4"/>
          <a:stretch>
            <a:fillRect/>
          </a:stretch>
        </p:blipFill>
        <p:spPr>
          <a:xfrm>
            <a:off x="7977683" y="3597707"/>
            <a:ext cx="211226" cy="211226"/>
          </a:xfrm>
          <a:prstGeom prst="rect">
            <a:avLst/>
          </a:prstGeom>
        </p:spPr>
      </p:pic>
      <p:sp>
        <p:nvSpPr>
          <p:cNvPr id="33" name="Text 27"/>
          <p:cNvSpPr/>
          <p:nvPr/>
        </p:nvSpPr>
        <p:spPr>
          <a:xfrm>
            <a:off x="7178040" y="3931920"/>
            <a:ext cx="1920240" cy="256032"/>
          </a:xfrm>
          <a:prstGeom prst="rect">
            <a:avLst/>
          </a:prstGeom>
          <a:noFill/>
          <a:ln/>
        </p:spPr>
        <p:txBody>
          <a:bodyPr wrap="square" lIns="0" tIns="0" rIns="0" bIns="0" rtlCol="0" anchor="ctr"/>
          <a:lstStyle/>
          <a:p>
            <a:pPr marL="0" indent="0" algn="ctr">
              <a:buNone/>
            </a:pPr>
            <a:r>
              <a:rPr lang="en-US" sz="1200" b="1" dirty="0">
                <a:solidFill>
                  <a:srgbClr val="0B3D5C"/>
                </a:solidFill>
                <a:latin typeface="Cambria" pitchFamily="34" charset="0"/>
                <a:ea typeface="Cambria" pitchFamily="34" charset="-122"/>
                <a:cs typeface="Cambria" pitchFamily="34" charset="-120"/>
              </a:rPr>
              <a:t>Shard 3</a:t>
            </a:r>
            <a:endParaRPr lang="en-US" sz="1200" dirty="0"/>
          </a:p>
        </p:txBody>
      </p:sp>
      <p:sp>
        <p:nvSpPr>
          <p:cNvPr id="34" name="Text 28"/>
          <p:cNvSpPr/>
          <p:nvPr/>
        </p:nvSpPr>
        <p:spPr>
          <a:xfrm>
            <a:off x="7178040" y="4178808"/>
            <a:ext cx="1920240" cy="320040"/>
          </a:xfrm>
          <a:prstGeom prst="rect">
            <a:avLst/>
          </a:prstGeom>
          <a:noFill/>
          <a:ln/>
        </p:spPr>
        <p:txBody>
          <a:bodyPr wrap="square" lIns="0" tIns="0" rIns="0" bIns="0" rtlCol="0" anchor="ctr"/>
          <a:lstStyle/>
          <a:p>
            <a:pPr marL="0" indent="0" algn="ctr">
              <a:buNone/>
            </a:pPr>
            <a:r>
              <a:rPr lang="en-US" sz="900" dirty="0">
                <a:solidFill>
                  <a:srgbClr val="55636E"/>
                </a:solidFill>
                <a:latin typeface="Calibri" pitchFamily="34" charset="0"/>
                <a:ea typeface="Calibri" pitchFamily="34" charset="-122"/>
                <a:cs typeface="Calibri" pitchFamily="34" charset="-120"/>
              </a:rPr>
              <a:t>Europe (diaspora)</a:t>
            </a:r>
            <a:endParaRPr lang="en-US" sz="900" dirty="0"/>
          </a:p>
        </p:txBody>
      </p:sp>
      <p:sp>
        <p:nvSpPr>
          <p:cNvPr id="35" name="Text 29"/>
          <p:cNvSpPr/>
          <p:nvPr/>
        </p:nvSpPr>
        <p:spPr>
          <a:xfrm>
            <a:off x="7178040" y="4480560"/>
            <a:ext cx="1920240" cy="228600"/>
          </a:xfrm>
          <a:prstGeom prst="rect">
            <a:avLst/>
          </a:prstGeom>
          <a:noFill/>
          <a:ln/>
        </p:spPr>
        <p:txBody>
          <a:bodyPr wrap="square" lIns="0" tIns="0" rIns="0" bIns="0" rtlCol="0" anchor="ctr"/>
          <a:lstStyle/>
          <a:p>
            <a:pPr marL="0" indent="0" algn="ctr">
              <a:buNone/>
            </a:pPr>
            <a:r>
              <a:rPr lang="en-US" sz="950" b="1" dirty="0">
                <a:solidFill>
                  <a:srgbClr val="02C39A"/>
                </a:solidFill>
                <a:latin typeface="Calibri" pitchFamily="34" charset="0"/>
                <a:ea typeface="Calibri" pitchFamily="34" charset="-122"/>
                <a:cs typeface="Calibri" pitchFamily="34" charset="-120"/>
              </a:rPr>
              <a:t>3 nœuds</a:t>
            </a:r>
            <a:endParaRPr lang="en-US" sz="950" dirty="0"/>
          </a:p>
        </p:txBody>
      </p:sp>
      <p:sp>
        <p:nvSpPr>
          <p:cNvPr id="36" name="Shape 30"/>
          <p:cNvSpPr/>
          <p:nvPr/>
        </p:nvSpPr>
        <p:spPr>
          <a:xfrm>
            <a:off x="10287000" y="3154680"/>
            <a:ext cx="0" cy="228600"/>
          </a:xfrm>
          <a:prstGeom prst="line">
            <a:avLst/>
          </a:prstGeom>
          <a:noFill/>
          <a:ln w="19050">
            <a:solidFill>
              <a:srgbClr val="C7D3D9"/>
            </a:solidFill>
            <a:prstDash val="solid"/>
          </a:ln>
        </p:spPr>
      </p:sp>
      <p:sp>
        <p:nvSpPr>
          <p:cNvPr id="37" name="Shape 31"/>
          <p:cNvSpPr/>
          <p:nvPr/>
        </p:nvSpPr>
        <p:spPr>
          <a:xfrm>
            <a:off x="9326880" y="3383280"/>
            <a:ext cx="1920240" cy="1371600"/>
          </a:xfrm>
          <a:prstGeom prst="roundRect">
            <a:avLst>
              <a:gd name="adj" fmla="val 5333"/>
            </a:avLst>
          </a:prstGeom>
          <a:solidFill>
            <a:srgbClr val="FFFFFF"/>
          </a:solidFill>
          <a:ln w="12700">
            <a:solidFill>
              <a:srgbClr val="E1E8EC"/>
            </a:solidFill>
            <a:prstDash val="solid"/>
          </a:ln>
          <a:effectLst>
            <a:outerShdw blurRad="101600" dist="25400" dir="5400000" algn="bl" rotWithShape="0">
              <a:srgbClr val="0B3D5C">
                <a:alpha val="12000"/>
              </a:srgbClr>
            </a:outerShdw>
          </a:effectLst>
        </p:spPr>
      </p:sp>
      <p:sp>
        <p:nvSpPr>
          <p:cNvPr id="38" name="Shape 32"/>
          <p:cNvSpPr/>
          <p:nvPr/>
        </p:nvSpPr>
        <p:spPr>
          <a:xfrm>
            <a:off x="10040112" y="3511296"/>
            <a:ext cx="384048" cy="384048"/>
          </a:xfrm>
          <a:prstGeom prst="ellipse">
            <a:avLst/>
          </a:prstGeom>
          <a:solidFill>
            <a:srgbClr val="F4F8FA"/>
          </a:solidFill>
          <a:ln/>
        </p:spPr>
      </p:sp>
      <p:pic>
        <p:nvPicPr>
          <p:cNvPr id="39" name="Image 4" descr="preencoded.png"/>
          <p:cNvPicPr>
            <a:picLocks noChangeAspect="1"/>
          </p:cNvPicPr>
          <p:nvPr/>
        </p:nvPicPr>
        <p:blipFill>
          <a:blip r:embed="rId4"/>
          <a:stretch>
            <a:fillRect/>
          </a:stretch>
        </p:blipFill>
        <p:spPr>
          <a:xfrm>
            <a:off x="10126523" y="3597707"/>
            <a:ext cx="211226" cy="211226"/>
          </a:xfrm>
          <a:prstGeom prst="rect">
            <a:avLst/>
          </a:prstGeom>
        </p:spPr>
      </p:pic>
      <p:sp>
        <p:nvSpPr>
          <p:cNvPr id="40" name="Text 33"/>
          <p:cNvSpPr/>
          <p:nvPr/>
        </p:nvSpPr>
        <p:spPr>
          <a:xfrm>
            <a:off x="9326880" y="3931920"/>
            <a:ext cx="1920240" cy="256032"/>
          </a:xfrm>
          <a:prstGeom prst="rect">
            <a:avLst/>
          </a:prstGeom>
          <a:noFill/>
          <a:ln/>
        </p:spPr>
        <p:txBody>
          <a:bodyPr wrap="square" lIns="0" tIns="0" rIns="0" bIns="0" rtlCol="0" anchor="ctr"/>
          <a:lstStyle/>
          <a:p>
            <a:pPr marL="0" indent="0" algn="ctr">
              <a:buNone/>
            </a:pPr>
            <a:r>
              <a:rPr lang="en-US" sz="1200" b="1" dirty="0">
                <a:solidFill>
                  <a:srgbClr val="0B3D5C"/>
                </a:solidFill>
                <a:latin typeface="Cambria" pitchFamily="34" charset="0"/>
                <a:ea typeface="Cambria" pitchFamily="34" charset="-122"/>
                <a:cs typeface="Cambria" pitchFamily="34" charset="-120"/>
              </a:rPr>
              <a:t>Shard 4</a:t>
            </a:r>
            <a:endParaRPr lang="en-US" sz="1200" dirty="0"/>
          </a:p>
        </p:txBody>
      </p:sp>
      <p:sp>
        <p:nvSpPr>
          <p:cNvPr id="41" name="Text 34"/>
          <p:cNvSpPr/>
          <p:nvPr/>
        </p:nvSpPr>
        <p:spPr>
          <a:xfrm>
            <a:off x="9326880" y="4178808"/>
            <a:ext cx="1920240" cy="320040"/>
          </a:xfrm>
          <a:prstGeom prst="rect">
            <a:avLst/>
          </a:prstGeom>
          <a:noFill/>
          <a:ln/>
        </p:spPr>
        <p:txBody>
          <a:bodyPr wrap="square" lIns="0" tIns="0" rIns="0" bIns="0" rtlCol="0" anchor="ctr"/>
          <a:lstStyle/>
          <a:p>
            <a:pPr marL="0" indent="0" algn="ctr">
              <a:buNone/>
            </a:pPr>
            <a:r>
              <a:rPr lang="en-US" sz="900" dirty="0">
                <a:solidFill>
                  <a:srgbClr val="55636E"/>
                </a:solidFill>
                <a:latin typeface="Calibri" pitchFamily="34" charset="0"/>
                <a:ea typeface="Calibri" pitchFamily="34" charset="-122"/>
                <a:cs typeface="Calibri" pitchFamily="34" charset="-120"/>
              </a:rPr>
              <a:t>Amérique (diaspora)</a:t>
            </a:r>
            <a:endParaRPr lang="en-US" sz="900" dirty="0"/>
          </a:p>
        </p:txBody>
      </p:sp>
      <p:sp>
        <p:nvSpPr>
          <p:cNvPr id="42" name="Text 35"/>
          <p:cNvSpPr/>
          <p:nvPr/>
        </p:nvSpPr>
        <p:spPr>
          <a:xfrm>
            <a:off x="9326880" y="4480560"/>
            <a:ext cx="1920240" cy="228600"/>
          </a:xfrm>
          <a:prstGeom prst="rect">
            <a:avLst/>
          </a:prstGeom>
          <a:noFill/>
          <a:ln/>
        </p:spPr>
        <p:txBody>
          <a:bodyPr wrap="square" lIns="0" tIns="0" rIns="0" bIns="0" rtlCol="0" anchor="ctr"/>
          <a:lstStyle/>
          <a:p>
            <a:pPr marL="0" indent="0" algn="ctr">
              <a:buNone/>
            </a:pPr>
            <a:r>
              <a:rPr lang="en-US" sz="950" b="1" dirty="0">
                <a:solidFill>
                  <a:srgbClr val="02C39A"/>
                </a:solidFill>
                <a:latin typeface="Calibri" pitchFamily="34" charset="0"/>
                <a:ea typeface="Calibri" pitchFamily="34" charset="-122"/>
                <a:cs typeface="Calibri" pitchFamily="34" charset="-120"/>
              </a:rPr>
              <a:t>3 nœuds</a:t>
            </a:r>
            <a:endParaRPr lang="en-US" sz="950" dirty="0"/>
          </a:p>
        </p:txBody>
      </p:sp>
      <p:sp>
        <p:nvSpPr>
          <p:cNvPr id="43" name="Shape 36"/>
          <p:cNvSpPr/>
          <p:nvPr/>
        </p:nvSpPr>
        <p:spPr>
          <a:xfrm>
            <a:off x="548640" y="4892039"/>
            <a:ext cx="11109960" cy="1600199"/>
          </a:xfrm>
          <a:prstGeom prst="roundRect">
            <a:avLst>
              <a:gd name="adj" fmla="val 5926"/>
            </a:avLst>
          </a:prstGeom>
          <a:solidFill>
            <a:srgbClr val="F4F8FA"/>
          </a:solidFill>
          <a:ln/>
          <a:effectLst>
            <a:outerShdw blurRad="101600" dist="25400" dir="5400000" algn="bl" rotWithShape="0">
              <a:srgbClr val="0B3D5C">
                <a:alpha val="12000"/>
              </a:srgbClr>
            </a:outerShdw>
          </a:effectLst>
        </p:spPr>
      </p:sp>
      <p:sp>
        <p:nvSpPr>
          <p:cNvPr id="44" name="Text 37"/>
          <p:cNvSpPr/>
          <p:nvPr/>
        </p:nvSpPr>
        <p:spPr>
          <a:xfrm>
            <a:off x="822960" y="5029200"/>
            <a:ext cx="10607040" cy="137050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5636E"/>
                </a:solidFill>
                <a:latin typeface="Calibri" pitchFamily="34" charset="0"/>
                <a:ea typeface="Calibri" pitchFamily="34" charset="-122"/>
                <a:cs typeface="Calibri" pitchFamily="34" charset="-120"/>
              </a:rPr>
              <a:t>4 shards minimum imposés par l’énoncé — l’alignement sur 4 zones géographiques anticipe le zone sharding (Partie 4)</a:t>
            </a:r>
            <a:endParaRPr lang="en-US" sz="1150" dirty="0"/>
          </a:p>
          <a:p>
            <a:pPr marL="342900" indent="-342900">
              <a:spcAft>
                <a:spcPts val="600"/>
              </a:spcAft>
              <a:buSzPct val="100000"/>
              <a:buChar char="✦"/>
            </a:pPr>
            <a:r>
              <a:rPr lang="en-US" sz="1150" dirty="0">
                <a:solidFill>
                  <a:srgbClr val="55636E"/>
                </a:solidFill>
                <a:latin typeface="Calibri" pitchFamily="34" charset="0"/>
                <a:ea typeface="Calibri" pitchFamily="34" charset="-122"/>
                <a:cs typeface="Calibri" pitchFamily="34" charset="-120"/>
              </a:rPr>
              <a:t>3 nœuds par replica set : tolérance de panne d’un nœud sans perte de disponibilité (quorum majoritaire </a:t>
            </a:r>
            <a:r>
              <a:rPr lang="en-US" sz="1150" dirty="0" err="1">
                <a:solidFill>
                  <a:srgbClr val="55636E"/>
                </a:solidFill>
                <a:latin typeface="Calibri" pitchFamily="34" charset="0"/>
                <a:ea typeface="Calibri" pitchFamily="34" charset="-122"/>
                <a:cs typeface="Calibri" pitchFamily="34" charset="-120"/>
              </a:rPr>
              <a:t>conservé</a:t>
            </a:r>
            <a:r>
              <a:rPr lang="en-US" sz="1150" dirty="0">
                <a:solidFill>
                  <a:srgbClr val="55636E"/>
                </a:solidFill>
                <a:latin typeface="Calibri" pitchFamily="34" charset="0"/>
                <a:ea typeface="Calibri" pitchFamily="34" charset="-122"/>
                <a:cs typeface="Calibri" pitchFamily="34" charset="-120"/>
              </a:rPr>
              <a:t>)</a:t>
            </a:r>
          </a:p>
          <a:p>
            <a:pPr marL="342900" indent="-342900">
              <a:spcAft>
                <a:spcPts val="600"/>
              </a:spcAft>
              <a:buSzPct val="100000"/>
              <a:buFontTx/>
              <a:buChar char="✦"/>
            </a:pPr>
            <a:r>
              <a:rPr lang="en-US" sz="1200" dirty="0">
                <a:solidFill>
                  <a:srgbClr val="55636E"/>
                </a:solidFill>
                <a:latin typeface="Calibri" pitchFamily="34" charset="0"/>
                <a:ea typeface="Calibri" pitchFamily="34" charset="-122"/>
                <a:cs typeface="Calibri" pitchFamily="34" charset="-120"/>
              </a:rPr>
              <a:t>Mongos ne </a:t>
            </a:r>
            <a:r>
              <a:rPr lang="en-US" sz="1200" dirty="0" err="1">
                <a:solidFill>
                  <a:srgbClr val="55636E"/>
                </a:solidFill>
                <a:latin typeface="Calibri" pitchFamily="34" charset="0"/>
                <a:ea typeface="Calibri" pitchFamily="34" charset="-122"/>
                <a:cs typeface="Calibri" pitchFamily="34" charset="-120"/>
              </a:rPr>
              <a:t>stocke</a:t>
            </a:r>
            <a:r>
              <a:rPr lang="en-US" sz="1200" dirty="0">
                <a:solidFill>
                  <a:srgbClr val="55636E"/>
                </a:solidFill>
                <a:latin typeface="Calibri" pitchFamily="34" charset="0"/>
                <a:ea typeface="Calibri" pitchFamily="34" charset="-122"/>
                <a:cs typeface="Calibri" pitchFamily="34" charset="-120"/>
              </a:rPr>
              <a:t> </a:t>
            </a:r>
            <a:r>
              <a:rPr lang="en-US" sz="1200" dirty="0" err="1">
                <a:solidFill>
                  <a:srgbClr val="55636E"/>
                </a:solidFill>
                <a:latin typeface="Calibri" pitchFamily="34" charset="0"/>
                <a:ea typeface="Calibri" pitchFamily="34" charset="-122"/>
                <a:cs typeface="Calibri" pitchFamily="34" charset="-120"/>
              </a:rPr>
              <a:t>aucune</a:t>
            </a:r>
            <a:r>
              <a:rPr lang="en-US" sz="1200" dirty="0">
                <a:solidFill>
                  <a:srgbClr val="55636E"/>
                </a:solidFill>
                <a:latin typeface="Calibri" pitchFamily="34" charset="0"/>
                <a:ea typeface="Calibri" pitchFamily="34" charset="-122"/>
                <a:cs typeface="Calibri" pitchFamily="34" charset="-120"/>
              </a:rPr>
              <a:t> donnée : à </a:t>
            </a:r>
            <a:r>
              <a:rPr lang="en-US" sz="1200" dirty="0" err="1">
                <a:solidFill>
                  <a:srgbClr val="55636E"/>
                </a:solidFill>
                <a:latin typeface="Calibri" pitchFamily="34" charset="0"/>
                <a:ea typeface="Calibri" pitchFamily="34" charset="-122"/>
                <a:cs typeface="Calibri" pitchFamily="34" charset="-120"/>
              </a:rPr>
              <a:t>chaque</a:t>
            </a:r>
            <a:r>
              <a:rPr lang="en-US" sz="1200" dirty="0">
                <a:solidFill>
                  <a:srgbClr val="55636E"/>
                </a:solidFill>
                <a:latin typeface="Calibri" pitchFamily="34" charset="0"/>
                <a:ea typeface="Calibri" pitchFamily="34" charset="-122"/>
                <a:cs typeface="Calibri" pitchFamily="34" charset="-120"/>
              </a:rPr>
              <a:t> </a:t>
            </a:r>
            <a:r>
              <a:rPr lang="en-US" sz="1200" dirty="0" err="1">
                <a:solidFill>
                  <a:srgbClr val="55636E"/>
                </a:solidFill>
                <a:latin typeface="Calibri" pitchFamily="34" charset="0"/>
                <a:ea typeface="Calibri" pitchFamily="34" charset="-122"/>
                <a:cs typeface="Calibri" pitchFamily="34" charset="-120"/>
              </a:rPr>
              <a:t>requête</a:t>
            </a:r>
            <a:r>
              <a:rPr lang="en-US" sz="1200" dirty="0">
                <a:solidFill>
                  <a:srgbClr val="55636E"/>
                </a:solidFill>
                <a:latin typeface="Calibri" pitchFamily="34" charset="0"/>
                <a:ea typeface="Calibri" pitchFamily="34" charset="-122"/>
                <a:cs typeface="Calibri" pitchFamily="34" charset="-120"/>
              </a:rPr>
              <a:t>, il </a:t>
            </a:r>
            <a:r>
              <a:rPr lang="en-US" sz="1200" dirty="0" err="1">
                <a:solidFill>
                  <a:srgbClr val="55636E"/>
                </a:solidFill>
                <a:latin typeface="Calibri" pitchFamily="34" charset="0"/>
                <a:ea typeface="Calibri" pitchFamily="34" charset="-122"/>
                <a:cs typeface="Calibri" pitchFamily="34" charset="-120"/>
              </a:rPr>
              <a:t>interroge</a:t>
            </a:r>
            <a:r>
              <a:rPr lang="en-US" sz="1200" dirty="0">
                <a:solidFill>
                  <a:srgbClr val="55636E"/>
                </a:solidFill>
                <a:latin typeface="Calibri" pitchFamily="34" charset="0"/>
                <a:ea typeface="Calibri" pitchFamily="34" charset="-122"/>
                <a:cs typeface="Calibri" pitchFamily="34" charset="-120"/>
              </a:rPr>
              <a:t> les config servers pour savoir </a:t>
            </a:r>
            <a:r>
              <a:rPr lang="en-US" sz="1200" dirty="0" err="1">
                <a:solidFill>
                  <a:srgbClr val="55636E"/>
                </a:solidFill>
                <a:latin typeface="Calibri" pitchFamily="34" charset="0"/>
                <a:ea typeface="Calibri" pitchFamily="34" charset="-122"/>
                <a:cs typeface="Calibri" pitchFamily="34" charset="-120"/>
              </a:rPr>
              <a:t>quel</a:t>
            </a:r>
            <a:r>
              <a:rPr lang="en-US" sz="1200" dirty="0">
                <a:solidFill>
                  <a:srgbClr val="55636E"/>
                </a:solidFill>
                <a:latin typeface="Calibri" pitchFamily="34" charset="0"/>
                <a:ea typeface="Calibri" pitchFamily="34" charset="-122"/>
                <a:cs typeface="Calibri" pitchFamily="34" charset="-120"/>
              </a:rPr>
              <a:t>(s) shard(s) </a:t>
            </a:r>
            <a:r>
              <a:rPr lang="en-US" sz="1200" dirty="0" err="1">
                <a:solidFill>
                  <a:srgbClr val="55636E"/>
                </a:solidFill>
                <a:latin typeface="Calibri" pitchFamily="34" charset="0"/>
                <a:ea typeface="Calibri" pitchFamily="34" charset="-122"/>
                <a:cs typeface="Calibri" pitchFamily="34" charset="-120"/>
              </a:rPr>
              <a:t>contiennent</a:t>
            </a:r>
            <a:r>
              <a:rPr lang="en-US" sz="1200" dirty="0">
                <a:solidFill>
                  <a:srgbClr val="55636E"/>
                </a:solidFill>
                <a:latin typeface="Calibri" pitchFamily="34" charset="0"/>
                <a:ea typeface="Calibri" pitchFamily="34" charset="-122"/>
                <a:cs typeface="Calibri" pitchFamily="34" charset="-120"/>
              </a:rPr>
              <a:t> les documents </a:t>
            </a:r>
            <a:r>
              <a:rPr lang="en-US" sz="1200" dirty="0" err="1">
                <a:solidFill>
                  <a:srgbClr val="55636E"/>
                </a:solidFill>
                <a:latin typeface="Calibri" pitchFamily="34" charset="0"/>
                <a:ea typeface="Calibri" pitchFamily="34" charset="-122"/>
                <a:cs typeface="Calibri" pitchFamily="34" charset="-120"/>
              </a:rPr>
              <a:t>visés</a:t>
            </a:r>
            <a:r>
              <a:rPr lang="en-US" sz="1200" dirty="0">
                <a:solidFill>
                  <a:srgbClr val="55636E"/>
                </a:solidFill>
                <a:latin typeface="Calibri" pitchFamily="34" charset="0"/>
                <a:ea typeface="Calibri" pitchFamily="34" charset="-122"/>
                <a:cs typeface="Calibri" pitchFamily="34" charset="-120"/>
              </a:rPr>
              <a:t>, </a:t>
            </a:r>
            <a:r>
              <a:rPr lang="en-US" sz="1200" dirty="0" err="1">
                <a:solidFill>
                  <a:srgbClr val="55636E"/>
                </a:solidFill>
                <a:latin typeface="Calibri" pitchFamily="34" charset="0"/>
                <a:ea typeface="Calibri" pitchFamily="34" charset="-122"/>
                <a:cs typeface="Calibri" pitchFamily="34" charset="-120"/>
              </a:rPr>
              <a:t>puis</a:t>
            </a:r>
            <a:r>
              <a:rPr lang="en-US" sz="1200" dirty="0">
                <a:solidFill>
                  <a:srgbClr val="55636E"/>
                </a:solidFill>
                <a:latin typeface="Calibri" pitchFamily="34" charset="0"/>
                <a:ea typeface="Calibri" pitchFamily="34" charset="-122"/>
                <a:cs typeface="Calibri" pitchFamily="34" charset="-120"/>
              </a:rPr>
              <a:t> route et </a:t>
            </a:r>
            <a:r>
              <a:rPr lang="en-US" sz="1200" dirty="0" err="1">
                <a:solidFill>
                  <a:srgbClr val="55636E"/>
                </a:solidFill>
                <a:latin typeface="Calibri" pitchFamily="34" charset="0"/>
                <a:ea typeface="Calibri" pitchFamily="34" charset="-122"/>
                <a:cs typeface="Calibri" pitchFamily="34" charset="-120"/>
              </a:rPr>
              <a:t>agrège</a:t>
            </a:r>
            <a:r>
              <a:rPr lang="en-US" sz="1200" dirty="0">
                <a:solidFill>
                  <a:srgbClr val="55636E"/>
                </a:solidFill>
                <a:latin typeface="Calibri" pitchFamily="34" charset="0"/>
                <a:ea typeface="Calibri" pitchFamily="34" charset="-122"/>
                <a:cs typeface="Calibri" pitchFamily="34" charset="-120"/>
              </a:rPr>
              <a:t> — un patient qui </a:t>
            </a:r>
            <a:r>
              <a:rPr lang="en-US" sz="1200" dirty="0" err="1">
                <a:solidFill>
                  <a:srgbClr val="55636E"/>
                </a:solidFill>
                <a:latin typeface="Calibri" pitchFamily="34" charset="0"/>
                <a:ea typeface="Calibri" pitchFamily="34" charset="-122"/>
                <a:cs typeface="Calibri" pitchFamily="34" charset="-120"/>
              </a:rPr>
              <a:t>interroge</a:t>
            </a:r>
            <a:r>
              <a:rPr lang="en-US" sz="1200" dirty="0">
                <a:solidFill>
                  <a:srgbClr val="55636E"/>
                </a:solidFill>
                <a:latin typeface="Calibri" pitchFamily="34" charset="0"/>
                <a:ea typeface="Calibri" pitchFamily="34" charset="-122"/>
                <a:cs typeface="Calibri" pitchFamily="34" charset="-120"/>
              </a:rPr>
              <a:t> son propre dossier ne </a:t>
            </a:r>
            <a:r>
              <a:rPr lang="en-US" sz="1200" dirty="0" err="1">
                <a:solidFill>
                  <a:srgbClr val="55636E"/>
                </a:solidFill>
                <a:latin typeface="Calibri" pitchFamily="34" charset="0"/>
                <a:ea typeface="Calibri" pitchFamily="34" charset="-122"/>
                <a:cs typeface="Calibri" pitchFamily="34" charset="-120"/>
              </a:rPr>
              <a:t>sollicite</a:t>
            </a:r>
            <a:r>
              <a:rPr lang="en-US" sz="1200" dirty="0">
                <a:solidFill>
                  <a:srgbClr val="55636E"/>
                </a:solidFill>
                <a:latin typeface="Calibri" pitchFamily="34" charset="0"/>
                <a:ea typeface="Calibri" pitchFamily="34" charset="-122"/>
                <a:cs typeface="Calibri" pitchFamily="34" charset="-120"/>
              </a:rPr>
              <a:t> </a:t>
            </a:r>
            <a:r>
              <a:rPr lang="en-US" sz="1200" dirty="0" err="1">
                <a:solidFill>
                  <a:srgbClr val="55636E"/>
                </a:solidFill>
                <a:latin typeface="Calibri" pitchFamily="34" charset="0"/>
                <a:ea typeface="Calibri" pitchFamily="34" charset="-122"/>
                <a:cs typeface="Calibri" pitchFamily="34" charset="-120"/>
              </a:rPr>
              <a:t>typiquement</a:t>
            </a:r>
            <a:r>
              <a:rPr lang="en-US" sz="1200" dirty="0">
                <a:solidFill>
                  <a:srgbClr val="55636E"/>
                </a:solidFill>
                <a:latin typeface="Calibri" pitchFamily="34" charset="0"/>
                <a:ea typeface="Calibri" pitchFamily="34" charset="-122"/>
                <a:cs typeface="Calibri" pitchFamily="34" charset="-120"/>
              </a:rPr>
              <a:t> </a:t>
            </a:r>
            <a:r>
              <a:rPr lang="en-US" sz="1200" dirty="0" err="1">
                <a:solidFill>
                  <a:srgbClr val="55636E"/>
                </a:solidFill>
                <a:latin typeface="Calibri" pitchFamily="34" charset="0"/>
                <a:ea typeface="Calibri" pitchFamily="34" charset="-122"/>
                <a:cs typeface="Calibri" pitchFamily="34" charset="-120"/>
              </a:rPr>
              <a:t>qu’un</a:t>
            </a:r>
            <a:r>
              <a:rPr lang="en-US" sz="1200" dirty="0">
                <a:solidFill>
                  <a:srgbClr val="55636E"/>
                </a:solidFill>
                <a:latin typeface="Calibri" pitchFamily="34" charset="0"/>
                <a:ea typeface="Calibri" pitchFamily="34" charset="-122"/>
                <a:cs typeface="Calibri" pitchFamily="34" charset="-120"/>
              </a:rPr>
              <a:t> seul shard</a:t>
            </a:r>
            <a:endParaRPr lang="en-US" sz="1150" dirty="0"/>
          </a:p>
          <a:p>
            <a:pPr marL="342900" indent="-342900">
              <a:spcAft>
                <a:spcPts val="600"/>
              </a:spcAft>
              <a:buSzPct val="100000"/>
              <a:buChar char="✦"/>
            </a:pPr>
            <a:r>
              <a:rPr lang="en-US" sz="1150" dirty="0">
                <a:solidFill>
                  <a:srgbClr val="55636E"/>
                </a:solidFill>
                <a:latin typeface="Calibri" pitchFamily="34" charset="0"/>
                <a:ea typeface="Calibri" pitchFamily="34" charset="-122"/>
                <a:cs typeface="Calibri" pitchFamily="34" charset="-120"/>
              </a:rPr>
              <a:t>Authentification interne par keyFile (SCRAM), condition préalable à toute sécurité applicative (Partie 2)</a:t>
            </a:r>
            <a:endParaRPr lang="en-US" sz="1150" dirty="0"/>
          </a:p>
        </p:txBody>
      </p:sp>
      <p:sp>
        <p:nvSpPr>
          <p:cNvPr id="45" name="Text 38"/>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46" name="Text 39"/>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1 - ARCHITECTURE DE SHARDING</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a:solidFill>
                  <a:srgbClr val="0B3D5C"/>
                </a:solidFill>
                <a:latin typeface="Cambria" pitchFamily="34" charset="0"/>
                <a:ea typeface="Cambria" pitchFamily="34" charset="-122"/>
                <a:cs typeface="Cambria" pitchFamily="34" charset="-120"/>
              </a:rPr>
              <a:t>Deux voies de déploiement, scriptées de bout en bout</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sp>
        <p:nvSpPr>
          <p:cNvPr id="6" name="Shape 3"/>
          <p:cNvSpPr/>
          <p:nvPr/>
        </p:nvSpPr>
        <p:spPr>
          <a:xfrm>
            <a:off x="548640" y="1600200"/>
            <a:ext cx="5440680" cy="4434840"/>
          </a:xfrm>
          <a:prstGeom prst="roundRect">
            <a:avLst>
              <a:gd name="adj" fmla="val 1649"/>
            </a:avLst>
          </a:prstGeom>
          <a:solidFill>
            <a:srgbClr val="F4F8FA"/>
          </a:solidFill>
          <a:ln/>
          <a:effectLst>
            <a:outerShdw blurRad="101600" dist="25400" dir="5400000" algn="bl" rotWithShape="0">
              <a:srgbClr val="0B3D5C">
                <a:alpha val="12000"/>
              </a:srgbClr>
            </a:outerShdw>
          </a:effectLst>
        </p:spPr>
      </p:sp>
      <p:sp>
        <p:nvSpPr>
          <p:cNvPr id="7" name="Shape 4"/>
          <p:cNvSpPr/>
          <p:nvPr/>
        </p:nvSpPr>
        <p:spPr>
          <a:xfrm>
            <a:off x="868680" y="1828800"/>
            <a:ext cx="502920" cy="502920"/>
          </a:xfrm>
          <a:prstGeom prst="ellipse">
            <a:avLst/>
          </a:prstGeom>
          <a:solidFill>
            <a:srgbClr val="FFFFFF"/>
          </a:solidFill>
          <a:ln/>
        </p:spPr>
      </p:sp>
      <p:pic>
        <p:nvPicPr>
          <p:cNvPr id="8" name="Image 1" descr="preencoded.png"/>
          <p:cNvPicPr>
            <a:picLocks noChangeAspect="1"/>
          </p:cNvPicPr>
          <p:nvPr/>
        </p:nvPicPr>
        <p:blipFill>
          <a:blip r:embed="rId4"/>
          <a:stretch>
            <a:fillRect/>
          </a:stretch>
        </p:blipFill>
        <p:spPr>
          <a:xfrm>
            <a:off x="969264" y="1929384"/>
            <a:ext cx="301752" cy="301752"/>
          </a:xfrm>
          <a:prstGeom prst="rect">
            <a:avLst/>
          </a:prstGeom>
        </p:spPr>
      </p:pic>
      <p:sp>
        <p:nvSpPr>
          <p:cNvPr id="9" name="Text 5"/>
          <p:cNvSpPr/>
          <p:nvPr/>
        </p:nvSpPr>
        <p:spPr>
          <a:xfrm>
            <a:off x="1508760" y="1901952"/>
            <a:ext cx="4297680" cy="365760"/>
          </a:xfrm>
          <a:prstGeom prst="rect">
            <a:avLst/>
          </a:prstGeom>
          <a:noFill/>
          <a:ln/>
        </p:spPr>
        <p:txBody>
          <a:bodyPr wrap="square" lIns="0" tIns="0" rIns="0" bIns="0" rtlCol="0" anchor="ctr"/>
          <a:lstStyle/>
          <a:p>
            <a:pPr marL="0" indent="0">
              <a:buNone/>
            </a:pPr>
            <a:r>
              <a:rPr lang="en-US" sz="1500" b="1" dirty="0">
                <a:solidFill>
                  <a:srgbClr val="0B3D5C"/>
                </a:solidFill>
                <a:latin typeface="Cambria" pitchFamily="34" charset="0"/>
                <a:ea typeface="Cambria" pitchFamily="34" charset="-122"/>
                <a:cs typeface="Cambria" pitchFamily="34" charset="-120"/>
              </a:rPr>
              <a:t>Voie native — Windows</a:t>
            </a:r>
            <a:endParaRPr lang="en-US" sz="1500" dirty="0"/>
          </a:p>
        </p:txBody>
      </p:sp>
      <p:sp>
        <p:nvSpPr>
          <p:cNvPr id="10" name="Shape 6"/>
          <p:cNvSpPr/>
          <p:nvPr/>
        </p:nvSpPr>
        <p:spPr>
          <a:xfrm>
            <a:off x="868680" y="2514600"/>
            <a:ext cx="310896" cy="310896"/>
          </a:xfrm>
          <a:prstGeom prst="ellipse">
            <a:avLst/>
          </a:prstGeom>
          <a:solidFill>
            <a:srgbClr val="1C7293"/>
          </a:solidFill>
          <a:ln/>
        </p:spPr>
      </p:sp>
      <p:sp>
        <p:nvSpPr>
          <p:cNvPr id="11" name="Text 7"/>
          <p:cNvSpPr/>
          <p:nvPr/>
        </p:nvSpPr>
        <p:spPr>
          <a:xfrm>
            <a:off x="868680" y="251460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8"/>
          <p:cNvSpPr/>
          <p:nvPr/>
        </p:nvSpPr>
        <p:spPr>
          <a:xfrm>
            <a:off x="1298448" y="2487168"/>
            <a:ext cx="4526280" cy="384048"/>
          </a:xfrm>
          <a:prstGeom prst="rect">
            <a:avLst/>
          </a:prstGeom>
          <a:noFill/>
          <a:ln/>
        </p:spPr>
        <p:txBody>
          <a:bodyPr wrap="square" lIns="0" tIns="0" rIns="0" bIns="0" rtlCol="0" anchor="ctr"/>
          <a:lstStyle/>
          <a:p>
            <a:pPr marL="0" indent="0">
              <a:buNone/>
            </a:pPr>
            <a:r>
              <a:rPr lang="en-US" sz="1100" dirty="0">
                <a:solidFill>
                  <a:srgbClr val="55636E"/>
                </a:solidFill>
                <a:latin typeface="Calibri" pitchFamily="34" charset="0"/>
                <a:ea typeface="Calibri" pitchFamily="34" charset="-122"/>
                <a:cs typeface="Calibri" pitchFamily="34" charset="-120"/>
              </a:rPr>
              <a:t>Création de l’arborescence (dossiers data/log par nœud)</a:t>
            </a:r>
            <a:endParaRPr lang="en-US" sz="1100" dirty="0"/>
          </a:p>
        </p:txBody>
      </p:sp>
      <p:sp>
        <p:nvSpPr>
          <p:cNvPr id="13" name="Shape 9"/>
          <p:cNvSpPr/>
          <p:nvPr/>
        </p:nvSpPr>
        <p:spPr>
          <a:xfrm>
            <a:off x="868680" y="2999232"/>
            <a:ext cx="310896" cy="310896"/>
          </a:xfrm>
          <a:prstGeom prst="ellipse">
            <a:avLst/>
          </a:prstGeom>
          <a:solidFill>
            <a:srgbClr val="1C7293"/>
          </a:solidFill>
          <a:ln/>
        </p:spPr>
      </p:sp>
      <p:sp>
        <p:nvSpPr>
          <p:cNvPr id="14" name="Text 10"/>
          <p:cNvSpPr/>
          <p:nvPr/>
        </p:nvSpPr>
        <p:spPr>
          <a:xfrm>
            <a:off x="868680" y="299923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1"/>
          <p:cNvSpPr/>
          <p:nvPr/>
        </p:nvSpPr>
        <p:spPr>
          <a:xfrm>
            <a:off x="1298448" y="2971800"/>
            <a:ext cx="4526280" cy="384048"/>
          </a:xfrm>
          <a:prstGeom prst="rect">
            <a:avLst/>
          </a:prstGeom>
          <a:noFill/>
          <a:ln/>
        </p:spPr>
        <p:txBody>
          <a:bodyPr wrap="square" lIns="0" tIns="0" rIns="0" bIns="0" rtlCol="0" anchor="ctr"/>
          <a:lstStyle/>
          <a:p>
            <a:pPr marL="0" indent="0">
              <a:buNone/>
            </a:pPr>
            <a:r>
              <a:rPr lang="en-US" sz="1100" dirty="0">
                <a:solidFill>
                  <a:srgbClr val="55636E"/>
                </a:solidFill>
                <a:latin typeface="Calibri" pitchFamily="34" charset="0"/>
                <a:ea typeface="Calibri" pitchFamily="34" charset="-122"/>
                <a:cs typeface="Calibri" pitchFamily="34" charset="-120"/>
              </a:rPr>
              <a:t>Génération du keyFile et des mongod.conf</a:t>
            </a:r>
            <a:endParaRPr lang="en-US" sz="1100" dirty="0"/>
          </a:p>
        </p:txBody>
      </p:sp>
      <p:sp>
        <p:nvSpPr>
          <p:cNvPr id="16" name="Shape 12"/>
          <p:cNvSpPr/>
          <p:nvPr/>
        </p:nvSpPr>
        <p:spPr>
          <a:xfrm>
            <a:off x="868680" y="3483864"/>
            <a:ext cx="310896" cy="310896"/>
          </a:xfrm>
          <a:prstGeom prst="ellipse">
            <a:avLst/>
          </a:prstGeom>
          <a:solidFill>
            <a:srgbClr val="1C7293"/>
          </a:solidFill>
          <a:ln/>
        </p:spPr>
      </p:sp>
      <p:sp>
        <p:nvSpPr>
          <p:cNvPr id="17" name="Text 13"/>
          <p:cNvSpPr/>
          <p:nvPr/>
        </p:nvSpPr>
        <p:spPr>
          <a:xfrm>
            <a:off x="868680" y="348386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4"/>
          <p:cNvSpPr/>
          <p:nvPr/>
        </p:nvSpPr>
        <p:spPr>
          <a:xfrm>
            <a:off x="1298448" y="3456432"/>
            <a:ext cx="4526280" cy="384048"/>
          </a:xfrm>
          <a:prstGeom prst="rect">
            <a:avLst/>
          </a:prstGeom>
          <a:noFill/>
          <a:ln/>
        </p:spPr>
        <p:txBody>
          <a:bodyPr wrap="square" lIns="0" tIns="0" rIns="0" bIns="0" rtlCol="0" anchor="ctr"/>
          <a:lstStyle/>
          <a:p>
            <a:pPr marL="0" indent="0">
              <a:buNone/>
            </a:pPr>
            <a:r>
              <a:rPr lang="en-US" sz="1100" dirty="0">
                <a:solidFill>
                  <a:srgbClr val="55636E"/>
                </a:solidFill>
                <a:latin typeface="Calibri" pitchFamily="34" charset="0"/>
                <a:ea typeface="Calibri" pitchFamily="34" charset="-122"/>
                <a:cs typeface="Calibri" pitchFamily="34" charset="-120"/>
              </a:rPr>
              <a:t>Démarrage des 15 instances mongod puis du mongos</a:t>
            </a:r>
            <a:endParaRPr lang="en-US" sz="1100" dirty="0"/>
          </a:p>
        </p:txBody>
      </p:sp>
      <p:sp>
        <p:nvSpPr>
          <p:cNvPr id="19" name="Shape 15"/>
          <p:cNvSpPr/>
          <p:nvPr/>
        </p:nvSpPr>
        <p:spPr>
          <a:xfrm>
            <a:off x="868680" y="3968496"/>
            <a:ext cx="310896" cy="310896"/>
          </a:xfrm>
          <a:prstGeom prst="ellipse">
            <a:avLst/>
          </a:prstGeom>
          <a:solidFill>
            <a:srgbClr val="1C7293"/>
          </a:solidFill>
          <a:ln/>
        </p:spPr>
      </p:sp>
      <p:sp>
        <p:nvSpPr>
          <p:cNvPr id="20" name="Text 16"/>
          <p:cNvSpPr/>
          <p:nvPr/>
        </p:nvSpPr>
        <p:spPr>
          <a:xfrm>
            <a:off x="868680" y="396849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7"/>
          <p:cNvSpPr/>
          <p:nvPr/>
        </p:nvSpPr>
        <p:spPr>
          <a:xfrm>
            <a:off x="1298448" y="3941064"/>
            <a:ext cx="4526280" cy="384048"/>
          </a:xfrm>
          <a:prstGeom prst="rect">
            <a:avLst/>
          </a:prstGeom>
          <a:noFill/>
          <a:ln/>
        </p:spPr>
        <p:txBody>
          <a:bodyPr wrap="square" lIns="0" tIns="0" rIns="0" bIns="0" rtlCol="0" anchor="ctr"/>
          <a:lstStyle/>
          <a:p>
            <a:pPr marL="0" indent="0">
              <a:buNone/>
            </a:pPr>
            <a:r>
              <a:rPr lang="en-US" sz="1100" dirty="0">
                <a:solidFill>
                  <a:srgbClr val="55636E"/>
                </a:solidFill>
                <a:latin typeface="Calibri" pitchFamily="34" charset="0"/>
                <a:ea typeface="Calibri" pitchFamily="34" charset="-122"/>
                <a:cs typeface="Calibri" pitchFamily="34" charset="-120"/>
              </a:rPr>
              <a:t>Initialisation des 5 replica sets (rs.initiate)</a:t>
            </a:r>
            <a:endParaRPr lang="en-US" sz="1100" dirty="0"/>
          </a:p>
        </p:txBody>
      </p:sp>
      <p:sp>
        <p:nvSpPr>
          <p:cNvPr id="22" name="Shape 18"/>
          <p:cNvSpPr/>
          <p:nvPr/>
        </p:nvSpPr>
        <p:spPr>
          <a:xfrm>
            <a:off x="868680" y="4453128"/>
            <a:ext cx="310896" cy="310896"/>
          </a:xfrm>
          <a:prstGeom prst="ellipse">
            <a:avLst/>
          </a:prstGeom>
          <a:solidFill>
            <a:srgbClr val="1C7293"/>
          </a:solidFill>
          <a:ln/>
        </p:spPr>
      </p:sp>
      <p:sp>
        <p:nvSpPr>
          <p:cNvPr id="23" name="Text 19"/>
          <p:cNvSpPr/>
          <p:nvPr/>
        </p:nvSpPr>
        <p:spPr>
          <a:xfrm>
            <a:off x="868680" y="445312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0"/>
          <p:cNvSpPr/>
          <p:nvPr/>
        </p:nvSpPr>
        <p:spPr>
          <a:xfrm>
            <a:off x="1298448" y="4425696"/>
            <a:ext cx="4526280" cy="384048"/>
          </a:xfrm>
          <a:prstGeom prst="rect">
            <a:avLst/>
          </a:prstGeom>
          <a:noFill/>
          <a:ln/>
        </p:spPr>
        <p:txBody>
          <a:bodyPr wrap="square" lIns="0" tIns="0" rIns="0" bIns="0" rtlCol="0" anchor="ctr"/>
          <a:lstStyle/>
          <a:p>
            <a:pPr marL="0" indent="0">
              <a:buNone/>
            </a:pPr>
            <a:r>
              <a:rPr lang="en-US" sz="1100" dirty="0">
                <a:solidFill>
                  <a:srgbClr val="55636E"/>
                </a:solidFill>
                <a:latin typeface="Calibri" pitchFamily="34" charset="0"/>
                <a:ea typeface="Calibri" pitchFamily="34" charset="-122"/>
                <a:cs typeface="Calibri" pitchFamily="34" charset="-120"/>
              </a:rPr>
              <a:t>Rattachement des 4 shards au cluster (sh.addShard)</a:t>
            </a:r>
            <a:endParaRPr lang="en-US" sz="1100" dirty="0"/>
          </a:p>
        </p:txBody>
      </p:sp>
      <p:sp>
        <p:nvSpPr>
          <p:cNvPr id="25" name="Text 21"/>
          <p:cNvSpPr/>
          <p:nvPr/>
        </p:nvSpPr>
        <p:spPr>
          <a:xfrm>
            <a:off x="868680" y="4983480"/>
            <a:ext cx="4846320" cy="502920"/>
          </a:xfrm>
          <a:prstGeom prst="rect">
            <a:avLst/>
          </a:prstGeom>
          <a:noFill/>
          <a:ln/>
        </p:spPr>
        <p:txBody>
          <a:bodyPr wrap="square" lIns="0" tIns="0" rIns="0" bIns="0" rtlCol="0" anchor="ctr"/>
          <a:lstStyle/>
          <a:p>
            <a:pPr marL="0" indent="0">
              <a:buNone/>
            </a:pPr>
            <a:r>
              <a:rPr lang="en-US" sz="950" i="1" dirty="0">
                <a:solidFill>
                  <a:srgbClr val="8A97A0"/>
                </a:solidFill>
                <a:latin typeface="Calibri" pitchFamily="34" charset="0"/>
                <a:ea typeface="Calibri" pitchFamily="34" charset="-122"/>
                <a:cs typeface="Calibri" pitchFamily="34" charset="-120"/>
              </a:rPr>
              <a:t>Scripts PowerShell (système) + mongosh (init.) — ports dédiés : 27100-27132 (shards), 27019-27021 (config)</a:t>
            </a:r>
            <a:endParaRPr lang="en-US" sz="950" dirty="0"/>
          </a:p>
        </p:txBody>
      </p:sp>
      <p:sp>
        <p:nvSpPr>
          <p:cNvPr id="26" name="Shape 22"/>
          <p:cNvSpPr/>
          <p:nvPr/>
        </p:nvSpPr>
        <p:spPr>
          <a:xfrm>
            <a:off x="6199632" y="1600200"/>
            <a:ext cx="5440680" cy="4434840"/>
          </a:xfrm>
          <a:prstGeom prst="roundRect">
            <a:avLst>
              <a:gd name="adj" fmla="val 1649"/>
            </a:avLst>
          </a:prstGeom>
          <a:solidFill>
            <a:srgbClr val="F4F8FA"/>
          </a:solidFill>
          <a:ln/>
          <a:effectLst>
            <a:outerShdw blurRad="101600" dist="25400" dir="5400000" algn="bl" rotWithShape="0">
              <a:srgbClr val="0B3D5C">
                <a:alpha val="12000"/>
              </a:srgbClr>
            </a:outerShdw>
          </a:effectLst>
        </p:spPr>
      </p:sp>
      <p:sp>
        <p:nvSpPr>
          <p:cNvPr id="27" name="Shape 23"/>
          <p:cNvSpPr/>
          <p:nvPr/>
        </p:nvSpPr>
        <p:spPr>
          <a:xfrm>
            <a:off x="6519672" y="1828800"/>
            <a:ext cx="502920" cy="502920"/>
          </a:xfrm>
          <a:prstGeom prst="ellipse">
            <a:avLst/>
          </a:prstGeom>
          <a:solidFill>
            <a:srgbClr val="FFFFFF"/>
          </a:solidFill>
          <a:ln/>
        </p:spPr>
      </p:sp>
      <p:pic>
        <p:nvPicPr>
          <p:cNvPr id="28" name="Image 2" descr="preencoded.png"/>
          <p:cNvPicPr>
            <a:picLocks noChangeAspect="1"/>
          </p:cNvPicPr>
          <p:nvPr/>
        </p:nvPicPr>
        <p:blipFill>
          <a:blip r:embed="rId5"/>
          <a:stretch>
            <a:fillRect/>
          </a:stretch>
        </p:blipFill>
        <p:spPr>
          <a:xfrm>
            <a:off x="6620256" y="1929384"/>
            <a:ext cx="301752" cy="301752"/>
          </a:xfrm>
          <a:prstGeom prst="rect">
            <a:avLst/>
          </a:prstGeom>
        </p:spPr>
      </p:pic>
      <p:sp>
        <p:nvSpPr>
          <p:cNvPr id="29" name="Text 24"/>
          <p:cNvSpPr/>
          <p:nvPr/>
        </p:nvSpPr>
        <p:spPr>
          <a:xfrm>
            <a:off x="7159752" y="1901952"/>
            <a:ext cx="4297680" cy="365760"/>
          </a:xfrm>
          <a:prstGeom prst="rect">
            <a:avLst/>
          </a:prstGeom>
          <a:noFill/>
          <a:ln/>
        </p:spPr>
        <p:txBody>
          <a:bodyPr wrap="square" lIns="0" tIns="0" rIns="0" bIns="0" rtlCol="0" anchor="ctr"/>
          <a:lstStyle/>
          <a:p>
            <a:pPr marL="0" indent="0">
              <a:buNone/>
            </a:pPr>
            <a:r>
              <a:rPr lang="en-US" sz="1500" b="1" dirty="0">
                <a:solidFill>
                  <a:srgbClr val="0B3D5C"/>
                </a:solidFill>
                <a:latin typeface="Cambria" pitchFamily="34" charset="0"/>
                <a:ea typeface="Cambria" pitchFamily="34" charset="-122"/>
                <a:cs typeface="Cambria" pitchFamily="34" charset="-120"/>
              </a:rPr>
              <a:t>Voie conteneurisée — Docker</a:t>
            </a:r>
            <a:endParaRPr lang="en-US" sz="1500" dirty="0"/>
          </a:p>
        </p:txBody>
      </p:sp>
      <p:sp>
        <p:nvSpPr>
          <p:cNvPr id="30" name="Shape 25"/>
          <p:cNvSpPr/>
          <p:nvPr/>
        </p:nvSpPr>
        <p:spPr>
          <a:xfrm>
            <a:off x="6519672" y="2514600"/>
            <a:ext cx="310896" cy="310896"/>
          </a:xfrm>
          <a:prstGeom prst="ellipse">
            <a:avLst/>
          </a:prstGeom>
          <a:solidFill>
            <a:srgbClr val="02C39A"/>
          </a:solidFill>
          <a:ln/>
        </p:spPr>
      </p:sp>
      <p:sp>
        <p:nvSpPr>
          <p:cNvPr id="31" name="Text 26"/>
          <p:cNvSpPr/>
          <p:nvPr/>
        </p:nvSpPr>
        <p:spPr>
          <a:xfrm>
            <a:off x="6519672" y="251460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a:t>
            </a:r>
            <a:endParaRPr lang="en-US" sz="1200" dirty="0"/>
          </a:p>
        </p:txBody>
      </p:sp>
      <p:sp>
        <p:nvSpPr>
          <p:cNvPr id="32" name="Text 27"/>
          <p:cNvSpPr/>
          <p:nvPr/>
        </p:nvSpPr>
        <p:spPr>
          <a:xfrm>
            <a:off x="6949440" y="2487168"/>
            <a:ext cx="4572000" cy="457200"/>
          </a:xfrm>
          <a:prstGeom prst="rect">
            <a:avLst/>
          </a:prstGeom>
          <a:noFill/>
          <a:ln/>
        </p:spPr>
        <p:txBody>
          <a:bodyPr wrap="square" lIns="0" tIns="0" rIns="0" bIns="0" rtlCol="0" anchor="ctr"/>
          <a:lstStyle/>
          <a:p>
            <a:pPr marL="0" indent="0">
              <a:buNone/>
            </a:pPr>
            <a:r>
              <a:rPr lang="en-US" sz="1050" dirty="0">
                <a:solidFill>
                  <a:srgbClr val="55636E"/>
                </a:solidFill>
                <a:latin typeface="Calibri" pitchFamily="34" charset="0"/>
                <a:ea typeface="Calibri" pitchFamily="34" charset="-122"/>
                <a:cs typeface="Calibri" pitchFamily="34" charset="-120"/>
              </a:rPr>
              <a:t>keyfile-init : corrige les permissions (owner 999, chmod 400) — un bind-mount direct casse le keyfile sous Linux</a:t>
            </a:r>
            <a:endParaRPr lang="en-US" sz="1050" dirty="0"/>
          </a:p>
        </p:txBody>
      </p:sp>
      <p:sp>
        <p:nvSpPr>
          <p:cNvPr id="33" name="Shape 28"/>
          <p:cNvSpPr/>
          <p:nvPr/>
        </p:nvSpPr>
        <p:spPr>
          <a:xfrm>
            <a:off x="6519672" y="3063240"/>
            <a:ext cx="310896" cy="310896"/>
          </a:xfrm>
          <a:prstGeom prst="ellipse">
            <a:avLst/>
          </a:prstGeom>
          <a:solidFill>
            <a:srgbClr val="02C39A"/>
          </a:solidFill>
          <a:ln/>
        </p:spPr>
      </p:sp>
      <p:sp>
        <p:nvSpPr>
          <p:cNvPr id="34" name="Text 29"/>
          <p:cNvSpPr/>
          <p:nvPr/>
        </p:nvSpPr>
        <p:spPr>
          <a:xfrm>
            <a:off x="6519672" y="30632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5" name="Text 30"/>
          <p:cNvSpPr/>
          <p:nvPr/>
        </p:nvSpPr>
        <p:spPr>
          <a:xfrm>
            <a:off x="6949440" y="3035808"/>
            <a:ext cx="4572000" cy="457200"/>
          </a:xfrm>
          <a:prstGeom prst="rect">
            <a:avLst/>
          </a:prstGeom>
          <a:noFill/>
          <a:ln/>
        </p:spPr>
        <p:txBody>
          <a:bodyPr wrap="square" lIns="0" tIns="0" rIns="0" bIns="0" rtlCol="0" anchor="ctr"/>
          <a:lstStyle/>
          <a:p>
            <a:pPr marL="0" indent="0">
              <a:buNone/>
            </a:pPr>
            <a:r>
              <a:rPr lang="en-US" sz="1050" dirty="0">
                <a:solidFill>
                  <a:srgbClr val="55636E"/>
                </a:solidFill>
                <a:latin typeface="Calibri" pitchFamily="34" charset="0"/>
                <a:ea typeface="Calibri" pitchFamily="34" charset="-122"/>
                <a:cs typeface="Calibri" pitchFamily="34" charset="-120"/>
              </a:rPr>
              <a:t>16 conteneurs démarrés (docker compose up -d)</a:t>
            </a:r>
            <a:endParaRPr lang="en-US" sz="1050" dirty="0"/>
          </a:p>
        </p:txBody>
      </p:sp>
      <p:sp>
        <p:nvSpPr>
          <p:cNvPr id="36" name="Shape 31"/>
          <p:cNvSpPr/>
          <p:nvPr/>
        </p:nvSpPr>
        <p:spPr>
          <a:xfrm>
            <a:off x="6519672" y="3611880"/>
            <a:ext cx="310896" cy="310896"/>
          </a:xfrm>
          <a:prstGeom prst="ellipse">
            <a:avLst/>
          </a:prstGeom>
          <a:solidFill>
            <a:srgbClr val="02C39A"/>
          </a:solidFill>
          <a:ln/>
        </p:spPr>
      </p:sp>
      <p:sp>
        <p:nvSpPr>
          <p:cNvPr id="37" name="Text 32"/>
          <p:cNvSpPr/>
          <p:nvPr/>
        </p:nvSpPr>
        <p:spPr>
          <a:xfrm>
            <a:off x="6519672" y="36118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8" name="Text 33"/>
          <p:cNvSpPr/>
          <p:nvPr/>
        </p:nvSpPr>
        <p:spPr>
          <a:xfrm>
            <a:off x="6949440" y="3584448"/>
            <a:ext cx="4572000" cy="457200"/>
          </a:xfrm>
          <a:prstGeom prst="rect">
            <a:avLst/>
          </a:prstGeom>
          <a:noFill/>
          <a:ln/>
        </p:spPr>
        <p:txBody>
          <a:bodyPr wrap="square" lIns="0" tIns="0" rIns="0" bIns="0" rtlCol="0" anchor="ctr"/>
          <a:lstStyle/>
          <a:p>
            <a:pPr marL="0" indent="0">
              <a:buNone/>
            </a:pPr>
            <a:r>
              <a:rPr lang="en-US" sz="1050" dirty="0">
                <a:solidFill>
                  <a:srgbClr val="55636E"/>
                </a:solidFill>
                <a:latin typeface="Calibri" pitchFamily="34" charset="0"/>
                <a:ea typeface="Calibri" pitchFamily="34" charset="-122"/>
                <a:cs typeface="Calibri" pitchFamily="34" charset="-120"/>
              </a:rPr>
              <a:t>Init. config servers puis 4 replica sets shard</a:t>
            </a:r>
            <a:endParaRPr lang="en-US" sz="1050" dirty="0"/>
          </a:p>
        </p:txBody>
      </p:sp>
      <p:sp>
        <p:nvSpPr>
          <p:cNvPr id="39" name="Shape 34"/>
          <p:cNvSpPr/>
          <p:nvPr/>
        </p:nvSpPr>
        <p:spPr>
          <a:xfrm>
            <a:off x="6519672" y="4160520"/>
            <a:ext cx="310896" cy="310896"/>
          </a:xfrm>
          <a:prstGeom prst="ellipse">
            <a:avLst/>
          </a:prstGeom>
          <a:solidFill>
            <a:srgbClr val="02C39A"/>
          </a:solidFill>
          <a:ln/>
        </p:spPr>
      </p:sp>
      <p:sp>
        <p:nvSpPr>
          <p:cNvPr id="40" name="Text 35"/>
          <p:cNvSpPr/>
          <p:nvPr/>
        </p:nvSpPr>
        <p:spPr>
          <a:xfrm>
            <a:off x="6519672" y="416052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1" name="Text 36"/>
          <p:cNvSpPr/>
          <p:nvPr/>
        </p:nvSpPr>
        <p:spPr>
          <a:xfrm>
            <a:off x="6949440" y="4133088"/>
            <a:ext cx="4572000" cy="457200"/>
          </a:xfrm>
          <a:prstGeom prst="rect">
            <a:avLst/>
          </a:prstGeom>
          <a:noFill/>
          <a:ln/>
        </p:spPr>
        <p:txBody>
          <a:bodyPr wrap="square" lIns="0" tIns="0" rIns="0" bIns="0" rtlCol="0" anchor="ctr"/>
          <a:lstStyle/>
          <a:p>
            <a:pPr marL="0" indent="0">
              <a:buNone/>
            </a:pPr>
            <a:r>
              <a:rPr lang="en-US" sz="1050" dirty="0">
                <a:solidFill>
                  <a:srgbClr val="55636E"/>
                </a:solidFill>
                <a:latin typeface="Calibri" pitchFamily="34" charset="0"/>
                <a:ea typeface="Calibri" pitchFamily="34" charset="-122"/>
                <a:cs typeface="Calibri" pitchFamily="34" charset="-120"/>
              </a:rPr>
              <a:t>Rattachement au mongos + compte admin + RBAC</a:t>
            </a:r>
            <a:endParaRPr lang="en-US" sz="1050" dirty="0"/>
          </a:p>
        </p:txBody>
      </p:sp>
      <p:sp>
        <p:nvSpPr>
          <p:cNvPr id="42" name="Shape 37"/>
          <p:cNvSpPr/>
          <p:nvPr/>
        </p:nvSpPr>
        <p:spPr>
          <a:xfrm>
            <a:off x="6519672" y="4709160"/>
            <a:ext cx="310896" cy="310896"/>
          </a:xfrm>
          <a:prstGeom prst="ellipse">
            <a:avLst/>
          </a:prstGeom>
          <a:solidFill>
            <a:srgbClr val="02C39A"/>
          </a:solidFill>
          <a:ln/>
        </p:spPr>
      </p:sp>
      <p:sp>
        <p:nvSpPr>
          <p:cNvPr id="43" name="Text 38"/>
          <p:cNvSpPr/>
          <p:nvPr/>
        </p:nvSpPr>
        <p:spPr>
          <a:xfrm>
            <a:off x="6519672" y="470916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 name="Text 39"/>
          <p:cNvSpPr/>
          <p:nvPr/>
        </p:nvSpPr>
        <p:spPr>
          <a:xfrm>
            <a:off x="6949440" y="4681728"/>
            <a:ext cx="4572000" cy="457200"/>
          </a:xfrm>
          <a:prstGeom prst="rect">
            <a:avLst/>
          </a:prstGeom>
          <a:noFill/>
          <a:ln/>
        </p:spPr>
        <p:txBody>
          <a:bodyPr wrap="square" lIns="0" tIns="0" rIns="0" bIns="0" rtlCol="0" anchor="ctr"/>
          <a:lstStyle/>
          <a:p>
            <a:pPr marL="0" indent="0">
              <a:buNone/>
            </a:pPr>
            <a:r>
              <a:rPr lang="en-US" sz="1050" dirty="0">
                <a:solidFill>
                  <a:srgbClr val="55636E"/>
                </a:solidFill>
                <a:latin typeface="Calibri" pitchFamily="34" charset="0"/>
                <a:ea typeface="Calibri" pitchFamily="34" charset="-122"/>
                <a:cs typeface="Calibri" pitchFamily="34" charset="-120"/>
              </a:rPr>
              <a:t>Sharding activé de façon idempotente (09-sharding.js)</a:t>
            </a:r>
            <a:endParaRPr lang="en-US" sz="1050" dirty="0"/>
          </a:p>
        </p:txBody>
      </p:sp>
      <p:sp>
        <p:nvSpPr>
          <p:cNvPr id="45" name="Text 40"/>
          <p:cNvSpPr/>
          <p:nvPr/>
        </p:nvSpPr>
        <p:spPr>
          <a:xfrm>
            <a:off x="6519672" y="5276088"/>
            <a:ext cx="4892040" cy="457200"/>
          </a:xfrm>
          <a:prstGeom prst="rect">
            <a:avLst/>
          </a:prstGeom>
          <a:noFill/>
          <a:ln/>
        </p:spPr>
        <p:txBody>
          <a:bodyPr wrap="square" lIns="0" tIns="0" rIns="0" bIns="0" rtlCol="0" anchor="ctr"/>
          <a:lstStyle/>
          <a:p>
            <a:pPr marL="0" indent="0">
              <a:buNone/>
            </a:pPr>
            <a:r>
              <a:rPr lang="en-US" sz="950" i="1" dirty="0">
                <a:solidFill>
                  <a:srgbClr val="8A97A0"/>
                </a:solidFill>
                <a:latin typeface="Calibri" pitchFamily="34" charset="0"/>
                <a:ea typeface="Calibri" pitchFamily="34" charset="-122"/>
                <a:cs typeface="Calibri" pitchFamily="34" charset="-120"/>
              </a:rPr>
              <a:t>Hostnames dédiés par service : ports internes partagés (27018 shards, 27019 config) — deploy.sh / teardown.sh --purge</a:t>
            </a:r>
            <a:endParaRPr lang="en-US" sz="950" dirty="0"/>
          </a:p>
        </p:txBody>
      </p:sp>
      <p:sp>
        <p:nvSpPr>
          <p:cNvPr id="46" name="Text 41"/>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47" name="Text 42"/>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1 - ARCHITECTURE DE SHARDING</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a:solidFill>
                  <a:srgbClr val="0B3D5C"/>
                </a:solidFill>
                <a:latin typeface="Cambria" pitchFamily="34" charset="0"/>
                <a:ea typeface="Cambria" pitchFamily="34" charset="-122"/>
                <a:cs typeface="Cambria" pitchFamily="34" charset="-120"/>
              </a:rPr>
              <a:t>Validation sur cluster réel</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sp>
        <p:nvSpPr>
          <p:cNvPr id="6" name="Text 3"/>
          <p:cNvSpPr/>
          <p:nvPr/>
        </p:nvSpPr>
        <p:spPr>
          <a:xfrm>
            <a:off x="548640" y="1600200"/>
            <a:ext cx="10789920" cy="365760"/>
          </a:xfrm>
          <a:prstGeom prst="rect">
            <a:avLst/>
          </a:prstGeom>
          <a:noFill/>
          <a:ln/>
        </p:spPr>
        <p:txBody>
          <a:bodyPr wrap="square" lIns="0" tIns="0" rIns="0" bIns="0" rtlCol="0" anchor="ctr"/>
          <a:lstStyle/>
          <a:p>
            <a:pPr marL="0" indent="0">
              <a:buNone/>
            </a:pPr>
            <a:r>
              <a:rPr lang="en-US" sz="1350" dirty="0">
                <a:solidFill>
                  <a:srgbClr val="55636E"/>
                </a:solidFill>
                <a:latin typeface="Calibri" pitchFamily="34" charset="0"/>
                <a:ea typeface="Calibri" pitchFamily="34" charset="-122"/>
                <a:cs typeface="Calibri" pitchFamily="34" charset="-120"/>
              </a:rPr>
              <a:t>La commande sh.status() exécutée sur le cluster déployé confirme :</a:t>
            </a:r>
            <a:endParaRPr lang="en-US" sz="1350" dirty="0"/>
          </a:p>
        </p:txBody>
      </p:sp>
      <p:sp>
        <p:nvSpPr>
          <p:cNvPr id="7" name="Shape 4"/>
          <p:cNvSpPr/>
          <p:nvPr/>
        </p:nvSpPr>
        <p:spPr>
          <a:xfrm>
            <a:off x="548640" y="2148840"/>
            <a:ext cx="6903720" cy="3291840"/>
          </a:xfrm>
          <a:prstGeom prst="roundRect">
            <a:avLst>
              <a:gd name="adj" fmla="val 2222"/>
            </a:avLst>
          </a:prstGeom>
          <a:solidFill>
            <a:srgbClr val="0B3D5C"/>
          </a:solidFill>
          <a:ln/>
        </p:spPr>
      </p:sp>
      <p:sp>
        <p:nvSpPr>
          <p:cNvPr id="8" name="Text 5"/>
          <p:cNvSpPr/>
          <p:nvPr/>
        </p:nvSpPr>
        <p:spPr>
          <a:xfrm>
            <a:off x="868680" y="2423160"/>
            <a:ext cx="6309360" cy="2743200"/>
          </a:xfrm>
          <a:prstGeom prst="rect">
            <a:avLst/>
          </a:prstGeom>
          <a:noFill/>
          <a:ln/>
        </p:spPr>
        <p:txBody>
          <a:bodyPr wrap="square" lIns="0" tIns="0" rIns="0" bIns="0" rtlCol="0" anchor="t"/>
          <a:lstStyle/>
          <a:p>
            <a:pPr marL="0" indent="0">
              <a:lnSpc>
                <a:spcPct val="160000"/>
              </a:lnSpc>
              <a:buNone/>
            </a:pPr>
            <a:r>
              <a:rPr lang="en-US" sz="1300" dirty="0">
                <a:solidFill>
                  <a:srgbClr val="7FB3D5"/>
                </a:solidFill>
                <a:latin typeface="Consolas" pitchFamily="34" charset="0"/>
                <a:ea typeface="Consolas" pitchFamily="34" charset="-122"/>
                <a:cs typeface="Consolas" pitchFamily="34" charset="-120"/>
              </a:rPr>
              <a:t>shards: </a:t>
            </a:r>
            <a:r>
              <a:rPr lang="en-US" sz="1300" dirty="0">
                <a:solidFill>
                  <a:srgbClr val="02C39A"/>
                </a:solidFill>
                <a:latin typeface="Consolas" pitchFamily="34" charset="0"/>
                <a:ea typeface="Consolas" pitchFamily="34" charset="-122"/>
                <a:cs typeface="Consolas" pitchFamily="34" charset="-120"/>
              </a:rPr>
              <a:t>[ 'ShardRS1', 'ShardRS2', 'ShardRS3', 'ShardRS4' ]
</a:t>
            </a:r>
            <a:r>
              <a:rPr lang="en-US" sz="1300" dirty="0">
                <a:solidFill>
                  <a:srgbClr val="7FB3D5"/>
                </a:solidFill>
                <a:latin typeface="Consolas" pitchFamily="34" charset="0"/>
                <a:ea typeface="Consolas" pitchFamily="34" charset="-122"/>
                <a:cs typeface="Consolas" pitchFamily="34" charset="-120"/>
              </a:rPr>
              <a:t>active mongoses: </a:t>
            </a:r>
            <a:r>
              <a:rPr lang="en-US" sz="1300" dirty="0">
                <a:solidFill>
                  <a:srgbClr val="02C39A"/>
                </a:solidFill>
                <a:latin typeface="Consolas" pitchFamily="34" charset="0"/>
                <a:ea typeface="Consolas" pitchFamily="34" charset="-122"/>
                <a:cs typeface="Consolas" pitchFamily="34" charset="-120"/>
              </a:rPr>
              <a:t>[ { '8.3.2': 1 } ]
</a:t>
            </a:r>
            <a:r>
              <a:rPr lang="en-US" sz="1300" dirty="0">
                <a:solidFill>
                  <a:srgbClr val="7FB3D5"/>
                </a:solidFill>
                <a:latin typeface="Consolas" pitchFamily="34" charset="0"/>
                <a:ea typeface="Consolas" pitchFamily="34" charset="-122"/>
                <a:cs typeface="Consolas" pitchFamily="34" charset="-120"/>
              </a:rPr>
              <a:t>balancer: </a:t>
            </a:r>
            <a:r>
              <a:rPr lang="en-US" sz="1300" dirty="0">
                <a:solidFill>
                  <a:srgbClr val="02C39A"/>
                </a:solidFill>
                <a:latin typeface="Consolas" pitchFamily="34" charset="0"/>
                <a:ea typeface="Consolas" pitchFamily="34" charset="-122"/>
                <a:cs typeface="Consolas" pitchFamily="34" charset="-120"/>
              </a:rPr>
              <a:t>{ 'Currently enabled': 'yes', 'Currently running': 'no' }</a:t>
            </a:r>
            <a:endParaRPr lang="en-US" sz="1300" dirty="0"/>
          </a:p>
        </p:txBody>
      </p:sp>
      <p:sp>
        <p:nvSpPr>
          <p:cNvPr id="9" name="Text 6"/>
          <p:cNvSpPr/>
          <p:nvPr/>
        </p:nvSpPr>
        <p:spPr>
          <a:xfrm>
            <a:off x="7818120" y="2331720"/>
            <a:ext cx="3794760" cy="777240"/>
          </a:xfrm>
          <a:prstGeom prst="rect">
            <a:avLst/>
          </a:prstGeom>
          <a:noFill/>
          <a:ln/>
        </p:spPr>
        <p:txBody>
          <a:bodyPr wrap="square" lIns="0" tIns="0" rIns="0" bIns="0" rtlCol="0" anchor="ctr"/>
          <a:lstStyle/>
          <a:p>
            <a:pPr marL="0" indent="0" algn="ctr">
              <a:buNone/>
            </a:pPr>
            <a:r>
              <a:rPr lang="en-US" sz="4000" b="1" dirty="0">
                <a:solidFill>
                  <a:srgbClr val="02C39A"/>
                </a:solidFill>
                <a:latin typeface="Cambria" pitchFamily="34" charset="0"/>
                <a:ea typeface="Cambria" pitchFamily="34" charset="-122"/>
                <a:cs typeface="Cambria" pitchFamily="34" charset="-120"/>
              </a:rPr>
              <a:t>4 / 4</a:t>
            </a:r>
            <a:endParaRPr lang="en-US" sz="4000" dirty="0"/>
          </a:p>
        </p:txBody>
      </p:sp>
      <p:sp>
        <p:nvSpPr>
          <p:cNvPr id="10" name="Text 7"/>
          <p:cNvSpPr/>
          <p:nvPr/>
        </p:nvSpPr>
        <p:spPr>
          <a:xfrm>
            <a:off x="7818120" y="3081528"/>
            <a:ext cx="3794760" cy="457200"/>
          </a:xfrm>
          <a:prstGeom prst="rect">
            <a:avLst/>
          </a:prstGeom>
          <a:noFill/>
          <a:ln/>
        </p:spPr>
        <p:txBody>
          <a:bodyPr wrap="square" lIns="0" tIns="0" rIns="0" bIns="0" rtlCol="0" anchor="ctr"/>
          <a:lstStyle/>
          <a:p>
            <a:pPr marL="0" indent="0" algn="ctr">
              <a:buNone/>
            </a:pPr>
            <a:r>
              <a:rPr lang="en-US" sz="1150" dirty="0">
                <a:solidFill>
                  <a:srgbClr val="55636E"/>
                </a:solidFill>
                <a:latin typeface="Calibri" pitchFamily="34" charset="0"/>
                <a:ea typeface="Calibri" pitchFamily="34" charset="-122"/>
                <a:cs typeface="Calibri" pitchFamily="34" charset="-120"/>
              </a:rPr>
              <a:t>shards attachés et opérationnels</a:t>
            </a:r>
            <a:endParaRPr lang="en-US" sz="1150" dirty="0"/>
          </a:p>
        </p:txBody>
      </p:sp>
      <p:sp>
        <p:nvSpPr>
          <p:cNvPr id="11" name="Shape 8"/>
          <p:cNvSpPr/>
          <p:nvPr/>
        </p:nvSpPr>
        <p:spPr>
          <a:xfrm>
            <a:off x="8138160" y="3520440"/>
            <a:ext cx="3200400" cy="0"/>
          </a:xfrm>
          <a:prstGeom prst="line">
            <a:avLst/>
          </a:prstGeom>
          <a:noFill/>
          <a:ln w="12700">
            <a:solidFill>
              <a:srgbClr val="E1E8EC"/>
            </a:solidFill>
            <a:prstDash val="solid"/>
          </a:ln>
        </p:spPr>
      </p:sp>
      <p:sp>
        <p:nvSpPr>
          <p:cNvPr id="12" name="Text 9"/>
          <p:cNvSpPr/>
          <p:nvPr/>
        </p:nvSpPr>
        <p:spPr>
          <a:xfrm>
            <a:off x="7818120" y="3703320"/>
            <a:ext cx="3794760" cy="777240"/>
          </a:xfrm>
          <a:prstGeom prst="rect">
            <a:avLst/>
          </a:prstGeom>
          <a:noFill/>
          <a:ln/>
        </p:spPr>
        <p:txBody>
          <a:bodyPr wrap="square" lIns="0" tIns="0" rIns="0" bIns="0" rtlCol="0" anchor="ctr"/>
          <a:lstStyle/>
          <a:p>
            <a:pPr marL="0" indent="0" algn="ctr">
              <a:buNone/>
            </a:pPr>
            <a:r>
              <a:rPr lang="en-US" sz="4000" b="1" dirty="0">
                <a:solidFill>
                  <a:srgbClr val="1C7293"/>
                </a:solidFill>
                <a:latin typeface="Cambria" pitchFamily="34" charset="0"/>
                <a:ea typeface="Cambria" pitchFamily="34" charset="-122"/>
                <a:cs typeface="Cambria" pitchFamily="34" charset="-120"/>
              </a:rPr>
              <a:t>Actif</a:t>
            </a:r>
            <a:endParaRPr lang="en-US" sz="4000" dirty="0"/>
          </a:p>
        </p:txBody>
      </p:sp>
      <p:sp>
        <p:nvSpPr>
          <p:cNvPr id="13" name="Text 10"/>
          <p:cNvSpPr/>
          <p:nvPr/>
        </p:nvSpPr>
        <p:spPr>
          <a:xfrm>
            <a:off x="7818120" y="4453128"/>
            <a:ext cx="3794760" cy="457200"/>
          </a:xfrm>
          <a:prstGeom prst="rect">
            <a:avLst/>
          </a:prstGeom>
          <a:noFill/>
          <a:ln/>
        </p:spPr>
        <p:txBody>
          <a:bodyPr wrap="square" lIns="0" tIns="0" rIns="0" bIns="0" rtlCol="0" anchor="ctr"/>
          <a:lstStyle/>
          <a:p>
            <a:pPr marL="0" indent="0" algn="ctr">
              <a:buNone/>
            </a:pPr>
            <a:r>
              <a:rPr lang="en-US" sz="1150" dirty="0">
                <a:solidFill>
                  <a:srgbClr val="55636E"/>
                </a:solidFill>
                <a:latin typeface="Calibri" pitchFamily="34" charset="0"/>
                <a:ea typeface="Calibri" pitchFamily="34" charset="-122"/>
                <a:cs typeface="Calibri" pitchFamily="34" charset="-120"/>
              </a:rPr>
              <a:t>Balancer — répartition automatique des chunks</a:t>
            </a:r>
            <a:endParaRPr lang="en-US" sz="1150" dirty="0"/>
          </a:p>
        </p:txBody>
      </p:sp>
      <p:sp>
        <p:nvSpPr>
          <p:cNvPr id="14" name="Shape 11"/>
          <p:cNvSpPr/>
          <p:nvPr/>
        </p:nvSpPr>
        <p:spPr>
          <a:xfrm>
            <a:off x="8138160" y="4892040"/>
            <a:ext cx="3200400" cy="0"/>
          </a:xfrm>
          <a:prstGeom prst="line">
            <a:avLst/>
          </a:prstGeom>
          <a:noFill/>
          <a:ln w="12700">
            <a:solidFill>
              <a:srgbClr val="E1E8EC"/>
            </a:solidFill>
            <a:prstDash val="solid"/>
          </a:ln>
        </p:spPr>
      </p:sp>
      <p:sp>
        <p:nvSpPr>
          <p:cNvPr id="15" name="Text 12"/>
          <p:cNvSpPr/>
          <p:nvPr/>
        </p:nvSpPr>
        <p:spPr>
          <a:xfrm>
            <a:off x="7818120" y="5074920"/>
            <a:ext cx="3794760" cy="777240"/>
          </a:xfrm>
          <a:prstGeom prst="rect">
            <a:avLst/>
          </a:prstGeom>
          <a:noFill/>
          <a:ln/>
        </p:spPr>
        <p:txBody>
          <a:bodyPr wrap="square" lIns="0" tIns="0" rIns="0" bIns="0" rtlCol="0" anchor="ctr"/>
          <a:lstStyle/>
          <a:p>
            <a:pPr marL="0" indent="0" algn="ctr">
              <a:buNone/>
            </a:pPr>
            <a:r>
              <a:rPr lang="en-US" sz="4000" b="1" dirty="0">
                <a:solidFill>
                  <a:srgbClr val="0B3D5C"/>
                </a:solidFill>
                <a:latin typeface="Cambria" pitchFamily="34" charset="0"/>
                <a:ea typeface="Cambria" pitchFamily="34" charset="-122"/>
                <a:cs typeface="Cambria" pitchFamily="34" charset="-120"/>
              </a:rPr>
              <a:t>0</a:t>
            </a:r>
            <a:endParaRPr lang="en-US" sz="4000" dirty="0"/>
          </a:p>
        </p:txBody>
      </p:sp>
      <p:sp>
        <p:nvSpPr>
          <p:cNvPr id="16" name="Text 13"/>
          <p:cNvSpPr/>
          <p:nvPr/>
        </p:nvSpPr>
        <p:spPr>
          <a:xfrm>
            <a:off x="7818120" y="5824728"/>
            <a:ext cx="3794760" cy="457200"/>
          </a:xfrm>
          <a:prstGeom prst="rect">
            <a:avLst/>
          </a:prstGeom>
          <a:noFill/>
          <a:ln/>
        </p:spPr>
        <p:txBody>
          <a:bodyPr wrap="square" lIns="0" tIns="0" rIns="0" bIns="0" rtlCol="0" anchor="ctr"/>
          <a:lstStyle/>
          <a:p>
            <a:pPr marL="0" indent="0" algn="ctr">
              <a:buNone/>
            </a:pPr>
            <a:r>
              <a:rPr lang="en-US" sz="1150" dirty="0">
                <a:solidFill>
                  <a:srgbClr val="55636E"/>
                </a:solidFill>
                <a:latin typeface="Calibri" pitchFamily="34" charset="0"/>
                <a:ea typeface="Calibri" pitchFamily="34" charset="-122"/>
                <a:cs typeface="Calibri" pitchFamily="34" charset="-120"/>
              </a:rPr>
              <a:t>anomalie de migration détectée</a:t>
            </a:r>
            <a:endParaRPr lang="en-US" sz="1150" dirty="0"/>
          </a:p>
        </p:txBody>
      </p:sp>
      <p:sp>
        <p:nvSpPr>
          <p:cNvPr id="17" name="Text 14"/>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18" name="Text 15"/>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2 - SÉCURITÉ</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a:solidFill>
                  <a:srgbClr val="0B3D5C"/>
                </a:solidFill>
                <a:latin typeface="Cambria" pitchFamily="34" charset="0"/>
                <a:ea typeface="Cambria" pitchFamily="34" charset="-122"/>
                <a:cs typeface="Cambria" pitchFamily="34" charset="-120"/>
              </a:rPr>
              <a:t>Authentification &amp; gestion des autorisations</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sp>
        <p:nvSpPr>
          <p:cNvPr id="6" name="Shape 3"/>
          <p:cNvSpPr/>
          <p:nvPr/>
        </p:nvSpPr>
        <p:spPr>
          <a:xfrm>
            <a:off x="548640" y="1554480"/>
            <a:ext cx="11109960" cy="1097280"/>
          </a:xfrm>
          <a:prstGeom prst="roundRect">
            <a:avLst>
              <a:gd name="adj" fmla="val 6667"/>
            </a:avLst>
          </a:prstGeom>
          <a:solidFill>
            <a:srgbClr val="F4F8FA"/>
          </a:solidFill>
          <a:ln/>
          <a:effectLst>
            <a:outerShdw blurRad="101600" dist="25400" dir="5400000" algn="bl" rotWithShape="0">
              <a:srgbClr val="0B3D5C">
                <a:alpha val="12000"/>
              </a:srgbClr>
            </a:outerShdw>
          </a:effectLst>
        </p:spPr>
      </p:sp>
      <p:sp>
        <p:nvSpPr>
          <p:cNvPr id="7" name="Shape 4"/>
          <p:cNvSpPr/>
          <p:nvPr/>
        </p:nvSpPr>
        <p:spPr>
          <a:xfrm>
            <a:off x="822960" y="1764792"/>
            <a:ext cx="566928" cy="566928"/>
          </a:xfrm>
          <a:prstGeom prst="ellipse">
            <a:avLst/>
          </a:prstGeom>
          <a:solidFill>
            <a:srgbClr val="FFFFFF"/>
          </a:solidFill>
          <a:ln/>
        </p:spPr>
      </p:sp>
      <p:pic>
        <p:nvPicPr>
          <p:cNvPr id="8" name="Image 1" descr="preencoded.png"/>
          <p:cNvPicPr>
            <a:picLocks noChangeAspect="1"/>
          </p:cNvPicPr>
          <p:nvPr/>
        </p:nvPicPr>
        <p:blipFill>
          <a:blip r:embed="rId4"/>
          <a:stretch>
            <a:fillRect/>
          </a:stretch>
        </p:blipFill>
        <p:spPr>
          <a:xfrm>
            <a:off x="950519" y="1892351"/>
            <a:ext cx="311810" cy="311810"/>
          </a:xfrm>
          <a:prstGeom prst="rect">
            <a:avLst/>
          </a:prstGeom>
        </p:spPr>
      </p:pic>
      <p:sp>
        <p:nvSpPr>
          <p:cNvPr id="9" name="Text 5"/>
          <p:cNvSpPr/>
          <p:nvPr/>
        </p:nvSpPr>
        <p:spPr>
          <a:xfrm>
            <a:off x="1600200" y="1691640"/>
            <a:ext cx="9829800" cy="822960"/>
          </a:xfrm>
          <a:prstGeom prst="rect">
            <a:avLst/>
          </a:prstGeom>
          <a:noFill/>
          <a:ln/>
        </p:spPr>
        <p:txBody>
          <a:bodyPr wrap="square" lIns="0" tIns="0" rIns="0" bIns="0" rtlCol="0" anchor="ctr"/>
          <a:lstStyle/>
          <a:p>
            <a:pPr marL="0" indent="0">
              <a:lnSpc>
                <a:spcPct val="115000"/>
              </a:lnSpc>
              <a:buNone/>
            </a:pPr>
            <a:r>
              <a:rPr lang="en-US" sz="1200" b="1" dirty="0">
                <a:solidFill>
                  <a:srgbClr val="0B3D5C"/>
                </a:solidFill>
                <a:latin typeface="Calibri" pitchFamily="34" charset="0"/>
                <a:ea typeface="Calibri" pitchFamily="34" charset="-122"/>
                <a:cs typeface="Calibri" pitchFamily="34" charset="-120"/>
              </a:rPr>
              <a:t>Authentification interne — </a:t>
            </a:r>
            <a:r>
              <a:rPr lang="en-US" sz="1200" dirty="0">
                <a:solidFill>
                  <a:srgbClr val="55636E"/>
                </a:solidFill>
                <a:latin typeface="Calibri" pitchFamily="34" charset="0"/>
                <a:ea typeface="Calibri" pitchFamily="34" charset="-122"/>
                <a:cs typeface="Calibri" pitchFamily="34" charset="-120"/>
              </a:rPr>
              <a:t>keyFile de 756 octets (secret partagé, aléatoire), imposant SCRAM-SHA aux connexions internes comme externes. Un compte admin root est créé via l’exception localhost, seule fenêtre non authentifiée avant le premier utilisateur.</a:t>
            </a:r>
            <a:endParaRPr lang="en-US" sz="1200" dirty="0"/>
          </a:p>
        </p:txBody>
      </p:sp>
      <p:sp>
        <p:nvSpPr>
          <p:cNvPr id="10" name="Text 6"/>
          <p:cNvSpPr/>
          <p:nvPr/>
        </p:nvSpPr>
        <p:spPr>
          <a:xfrm>
            <a:off x="548640" y="2926080"/>
            <a:ext cx="9144000" cy="320040"/>
          </a:xfrm>
          <a:prstGeom prst="rect">
            <a:avLst/>
          </a:prstGeom>
          <a:noFill/>
          <a:ln/>
        </p:spPr>
        <p:txBody>
          <a:bodyPr wrap="square" lIns="0" tIns="0" rIns="0" bIns="0" rtlCol="0" anchor="ctr"/>
          <a:lstStyle/>
          <a:p>
            <a:pPr marL="0" indent="0">
              <a:buNone/>
            </a:pPr>
            <a:r>
              <a:rPr lang="en-US" sz="1450" b="1" dirty="0">
                <a:solidFill>
                  <a:srgbClr val="0B3D5C"/>
                </a:solidFill>
                <a:latin typeface="Cambria" pitchFamily="34" charset="0"/>
                <a:ea typeface="Cambria" pitchFamily="34" charset="-122"/>
                <a:cs typeface="Cambria" pitchFamily="34" charset="-120"/>
              </a:rPr>
              <a:t>RBAC — trois rôles métier, privilèges scopés par collection</a:t>
            </a:r>
            <a:endParaRPr lang="en-US" sz="14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11109960" cy="2496312"/>
        </p:xfrm>
        <a:graphic>
          <a:graphicData uri="http://schemas.openxmlformats.org/drawingml/2006/table">
            <a:tbl>
              <a:tblPr/>
              <a:tblGrid>
                <a:gridCol w="30632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356616">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Collection</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B3D5C"/>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Admin</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B3D5C"/>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Médecin</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B3D5C"/>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Patient</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B3D5C"/>
                    </a:solidFill>
                  </a:tcPr>
                </a:tc>
                <a:extLst>
                  <a:ext uri="{0D108BD9-81ED-4DB2-BD59-A6C34878D82A}">
                    <a16:rowId xmlns:a16="http://schemas.microsoft.com/office/drawing/2014/main" val="10000"/>
                  </a:ext>
                </a:extLst>
              </a:tr>
              <a:tr h="356616">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Patients</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4F8FA"/>
                    </a:solidFill>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CRUD complet</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Lecture</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Aucun accès direct *</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1"/>
                  </a:ext>
                </a:extLst>
              </a:tr>
              <a:tr h="356616">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Medecins</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CRUD complet</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Lecture / MAJ profil</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Lecture (annuaire)</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2"/>
                  </a:ext>
                </a:extLst>
              </a:tr>
              <a:tr h="356616">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RendezVous</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4F8FA"/>
                    </a:solidFill>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CRUD complet</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Créer / Lire / MAJ **</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Créer + Lire</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3"/>
                  </a:ext>
                </a:extLst>
              </a:tr>
              <a:tr h="356616">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Consultations</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CRUD complet</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Créer / Lire / MAJ **</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Lecture</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4"/>
                  </a:ext>
                </a:extLst>
              </a:tr>
              <a:tr h="356616">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Prescriptions</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4F8FA"/>
                    </a:solidFill>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CRUD complet</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Créer + Lire</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Lecture</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5"/>
                  </a:ext>
                </a:extLst>
              </a:tr>
              <a:tr h="356616">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AnalysesMedicales</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CRUD complet</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Créer + Lire</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50" dirty="0">
                          <a:solidFill>
                            <a:srgbClr val="55636E"/>
                          </a:solidFill>
                          <a:latin typeface="Calibri" pitchFamily="34" charset="0"/>
                          <a:ea typeface="Calibri" pitchFamily="34" charset="-122"/>
                          <a:cs typeface="Calibri" pitchFamily="34" charset="-120"/>
                        </a:rPr>
                        <a:t>Lecture</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2" name="Text 7"/>
          <p:cNvSpPr/>
          <p:nvPr/>
        </p:nvSpPr>
        <p:spPr>
          <a:xfrm>
            <a:off x="548640" y="5989320"/>
            <a:ext cx="11109960" cy="274320"/>
          </a:xfrm>
          <a:prstGeom prst="rect">
            <a:avLst/>
          </a:prstGeom>
          <a:noFill/>
          <a:ln/>
        </p:spPr>
        <p:txBody>
          <a:bodyPr wrap="square" lIns="0" tIns="0" rIns="0" bIns="0" rtlCol="0" anchor="ctr"/>
          <a:lstStyle/>
          <a:p>
            <a:pPr marL="0" indent="0">
              <a:buNone/>
            </a:pPr>
            <a:r>
              <a:rPr lang="en-US" sz="950" i="1" dirty="0">
                <a:solidFill>
                  <a:srgbClr val="8A97A0"/>
                </a:solidFill>
                <a:latin typeface="Calibri" pitchFamily="34" charset="0"/>
                <a:ea typeface="Calibri" pitchFamily="34" charset="-122"/>
                <a:cs typeface="Calibri" pitchFamily="34" charset="-120"/>
              </a:rPr>
              <a:t>* Axe de renforcement documenté (voir Conclusion)     ** find / insert / update accordés, sans remove</a:t>
            </a:r>
            <a:endParaRPr lang="en-US" sz="950" dirty="0"/>
          </a:p>
        </p:txBody>
      </p:sp>
      <p:sp>
        <p:nvSpPr>
          <p:cNvPr id="13" name="Text 8"/>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14" name="Text 9"/>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2 - SÉCURITÉ</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a:solidFill>
                  <a:srgbClr val="0B3D5C"/>
                </a:solidFill>
                <a:latin typeface="Cambria" pitchFamily="34" charset="0"/>
                <a:ea typeface="Cambria" pitchFamily="34" charset="-122"/>
                <a:cs typeface="Cambria" pitchFamily="34" charset="-120"/>
              </a:rPr>
              <a:t>Sécurité document-level : la vue MesPatients</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sp>
        <p:nvSpPr>
          <p:cNvPr id="6" name="Text 3"/>
          <p:cNvSpPr/>
          <p:nvPr/>
        </p:nvSpPr>
        <p:spPr>
          <a:xfrm>
            <a:off x="548640" y="1600200"/>
            <a:ext cx="11109960" cy="868680"/>
          </a:xfrm>
          <a:prstGeom prst="rect">
            <a:avLst/>
          </a:prstGeom>
          <a:noFill/>
          <a:ln/>
        </p:spPr>
        <p:txBody>
          <a:bodyPr wrap="square" lIns="0" tIns="0" rIns="0" bIns="0" rtlCol="0" anchor="ctr"/>
          <a:lstStyle/>
          <a:p>
            <a:pPr marL="0" indent="0">
              <a:lnSpc>
                <a:spcPct val="120000"/>
              </a:lnSpc>
              <a:buNone/>
            </a:pPr>
            <a:r>
              <a:rPr lang="en-US" sz="1300" dirty="0">
                <a:solidFill>
                  <a:srgbClr val="55636E"/>
                </a:solidFill>
                <a:latin typeface="Calibri" pitchFamily="34" charset="0"/>
                <a:ea typeface="Calibri" pitchFamily="34" charset="-122"/>
                <a:cs typeface="Calibri" pitchFamily="34" charset="-120"/>
              </a:rPr>
              <a:t>MongoDB gère le RBAC au niveau collection, pas document. Pour restreindre un médecin à ses seuls patients sans logique applicative, une vue filtrante s’appuie sur la variable système $$USER_ROLES, couplée à un rôle marqueur individuel (ex. access_MED-0001).</a:t>
            </a:r>
            <a:endParaRPr lang="en-US" sz="1300" dirty="0"/>
          </a:p>
        </p:txBody>
      </p:sp>
      <p:sp>
        <p:nvSpPr>
          <p:cNvPr id="7" name="Shape 4"/>
          <p:cNvSpPr/>
          <p:nvPr/>
        </p:nvSpPr>
        <p:spPr>
          <a:xfrm>
            <a:off x="548640" y="2651760"/>
            <a:ext cx="6675120" cy="3429000"/>
          </a:xfrm>
          <a:prstGeom prst="roundRect">
            <a:avLst>
              <a:gd name="adj" fmla="val 2133"/>
            </a:avLst>
          </a:prstGeom>
          <a:solidFill>
            <a:srgbClr val="0B3D5C"/>
          </a:solidFill>
          <a:ln/>
        </p:spPr>
      </p:sp>
      <p:sp>
        <p:nvSpPr>
          <p:cNvPr id="8" name="Text 5"/>
          <p:cNvSpPr/>
          <p:nvPr/>
        </p:nvSpPr>
        <p:spPr>
          <a:xfrm>
            <a:off x="868680" y="2834640"/>
            <a:ext cx="6035040" cy="320040"/>
          </a:xfrm>
          <a:prstGeom prst="rect">
            <a:avLst/>
          </a:prstGeom>
          <a:noFill/>
          <a:ln/>
        </p:spPr>
        <p:txBody>
          <a:bodyPr wrap="square" lIns="0" tIns="0" rIns="0" bIns="0" rtlCol="0" anchor="ctr"/>
          <a:lstStyle/>
          <a:p>
            <a:pPr marL="0" indent="0">
              <a:buNone/>
            </a:pPr>
            <a:r>
              <a:rPr lang="en-US" sz="1300" b="1" dirty="0">
                <a:solidFill>
                  <a:srgbClr val="CADCFC"/>
                </a:solidFill>
                <a:latin typeface="Cambria" pitchFamily="34" charset="0"/>
                <a:ea typeface="Cambria" pitchFamily="34" charset="-122"/>
                <a:cs typeface="Cambria" pitchFamily="34" charset="-120"/>
              </a:rPr>
              <a:t>Validation sur cluster réel</a:t>
            </a:r>
            <a:endParaRPr lang="en-US" sz="1300" dirty="0"/>
          </a:p>
        </p:txBody>
      </p:sp>
      <p:sp>
        <p:nvSpPr>
          <p:cNvPr id="9" name="Text 6"/>
          <p:cNvSpPr/>
          <p:nvPr/>
        </p:nvSpPr>
        <p:spPr>
          <a:xfrm>
            <a:off x="868680" y="3200400"/>
            <a:ext cx="6035040" cy="36576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Utilisateur dr_diop (rôle Médecin, MED-0001) interroge la vue :</a:t>
            </a:r>
            <a:endParaRPr lang="en-US" sz="1100" dirty="0"/>
          </a:p>
        </p:txBody>
      </p:sp>
      <p:sp>
        <p:nvSpPr>
          <p:cNvPr id="10" name="Text 7"/>
          <p:cNvSpPr/>
          <p:nvPr/>
        </p:nvSpPr>
        <p:spPr>
          <a:xfrm>
            <a:off x="868680" y="3611880"/>
            <a:ext cx="6035040" cy="1463040"/>
          </a:xfrm>
          <a:prstGeom prst="rect">
            <a:avLst/>
          </a:prstGeom>
          <a:noFill/>
          <a:ln/>
        </p:spPr>
        <p:txBody>
          <a:bodyPr wrap="square" lIns="0" tIns="0" rIns="0" bIns="0" rtlCol="0" anchor="t"/>
          <a:lstStyle/>
          <a:p>
            <a:pPr marL="0" indent="0">
              <a:lnSpc>
                <a:spcPct val="140000"/>
              </a:lnSpc>
              <a:buNone/>
            </a:pPr>
            <a:r>
              <a:rPr lang="en-US" sz="1050" dirty="0">
                <a:solidFill>
                  <a:srgbClr val="7FB3D5"/>
                </a:solidFill>
                <a:latin typeface="Consolas" pitchFamily="34" charset="0"/>
                <a:ea typeface="Consolas" pitchFamily="34" charset="-122"/>
                <a:cs typeface="Consolas" pitchFamily="34" charset="-120"/>
              </a:rPr>
              <a:t>db.MesPatients.find().count()
</a:t>
            </a:r>
            <a:r>
              <a:rPr lang="en-US" sz="1050" b="1" dirty="0">
                <a:solidFill>
                  <a:srgbClr val="02C39A"/>
                </a:solidFill>
                <a:latin typeface="Consolas" pitchFamily="34" charset="0"/>
                <a:ea typeface="Consolas" pitchFamily="34" charset="-122"/>
                <a:cs typeface="Consolas" pitchFamily="34" charset="-120"/>
              </a:rPr>
              <a:t>// -&gt; 20
</a:t>
            </a:r>
            <a:r>
              <a:rPr lang="en-US" sz="1050" dirty="0">
                <a:solidFill>
                  <a:srgbClr val="7FB3D5"/>
                </a:solidFill>
                <a:latin typeface="Consolas" pitchFamily="34" charset="0"/>
                <a:ea typeface="Consolas" pitchFamily="34" charset="-122"/>
                <a:cs typeface="Consolas" pitchFamily="34" charset="-120"/>
              </a:rPr>
              <a:t>db.MesPatients.find({medecin_id: {$ne: "MED-0001"}}).count()
</a:t>
            </a:r>
            <a:r>
              <a:rPr lang="en-US" sz="1050" b="1" dirty="0">
                <a:solidFill>
                  <a:srgbClr val="02C39A"/>
                </a:solidFill>
                <a:latin typeface="Consolas" pitchFamily="34" charset="0"/>
                <a:ea typeface="Consolas" pitchFamily="34" charset="-122"/>
                <a:cs typeface="Consolas" pitchFamily="34" charset="-120"/>
              </a:rPr>
              <a:t>// -&gt; 0</a:t>
            </a:r>
            <a:endParaRPr lang="en-US" sz="1050" dirty="0"/>
          </a:p>
        </p:txBody>
      </p:sp>
      <p:sp>
        <p:nvSpPr>
          <p:cNvPr id="11" name="Shape 8"/>
          <p:cNvSpPr/>
          <p:nvPr/>
        </p:nvSpPr>
        <p:spPr>
          <a:xfrm>
            <a:off x="868680" y="5257800"/>
            <a:ext cx="6035040" cy="0"/>
          </a:xfrm>
          <a:prstGeom prst="line">
            <a:avLst/>
          </a:prstGeom>
          <a:noFill/>
          <a:ln w="12700">
            <a:solidFill>
              <a:srgbClr val="2A5A78"/>
            </a:solidFill>
            <a:prstDash val="solid"/>
          </a:ln>
        </p:spPr>
      </p:sp>
      <p:sp>
        <p:nvSpPr>
          <p:cNvPr id="12" name="Text 9"/>
          <p:cNvSpPr/>
          <p:nvPr/>
        </p:nvSpPr>
        <p:spPr>
          <a:xfrm>
            <a:off x="868680" y="5394960"/>
            <a:ext cx="2834640" cy="777240"/>
          </a:xfrm>
          <a:prstGeom prst="rect">
            <a:avLst/>
          </a:prstGeom>
          <a:noFill/>
          <a:ln/>
        </p:spPr>
        <p:txBody>
          <a:bodyPr wrap="square" lIns="0" tIns="0" rIns="0" bIns="0" rtlCol="0" anchor="ctr"/>
          <a:lstStyle/>
          <a:p>
            <a:pPr marL="0" indent="0" algn="ctr">
              <a:buNone/>
            </a:pPr>
            <a:r>
              <a:rPr lang="en-US" sz="4000" b="1" dirty="0">
                <a:solidFill>
                  <a:srgbClr val="02C39A"/>
                </a:solidFill>
                <a:latin typeface="Cambria" pitchFamily="34" charset="0"/>
                <a:ea typeface="Cambria" pitchFamily="34" charset="-122"/>
                <a:cs typeface="Cambria" pitchFamily="34" charset="-120"/>
              </a:rPr>
              <a:t>20 / 20</a:t>
            </a:r>
            <a:endParaRPr lang="en-US" sz="4000" dirty="0"/>
          </a:p>
        </p:txBody>
      </p:sp>
      <p:sp>
        <p:nvSpPr>
          <p:cNvPr id="13" name="Text 10"/>
          <p:cNvSpPr/>
          <p:nvPr/>
        </p:nvSpPr>
        <p:spPr>
          <a:xfrm>
            <a:off x="868680" y="6144768"/>
            <a:ext cx="2834640" cy="457200"/>
          </a:xfrm>
          <a:prstGeom prst="rect">
            <a:avLst/>
          </a:prstGeom>
          <a:noFill/>
          <a:ln/>
        </p:spPr>
        <p:txBody>
          <a:bodyPr wrap="square" lIns="0" tIns="0" rIns="0" bIns="0" rtlCol="0" anchor="ctr"/>
          <a:lstStyle/>
          <a:p>
            <a:pPr marL="0" indent="0" algn="ctr">
              <a:buNone/>
            </a:pPr>
            <a:r>
              <a:rPr lang="en-US" sz="1150" dirty="0">
                <a:solidFill>
                  <a:srgbClr val="55636E"/>
                </a:solidFill>
                <a:latin typeface="Calibri" pitchFamily="34" charset="0"/>
                <a:ea typeface="Calibri" pitchFamily="34" charset="-122"/>
                <a:cs typeface="Calibri" pitchFamily="34" charset="-120"/>
              </a:rPr>
              <a:t>consultations correctement filtrées</a:t>
            </a:r>
            <a:endParaRPr lang="en-US" sz="1150" dirty="0"/>
          </a:p>
        </p:txBody>
      </p:sp>
      <p:sp>
        <p:nvSpPr>
          <p:cNvPr id="14" name="Text 11"/>
          <p:cNvSpPr/>
          <p:nvPr/>
        </p:nvSpPr>
        <p:spPr>
          <a:xfrm>
            <a:off x="3703320" y="5394960"/>
            <a:ext cx="2834640" cy="777240"/>
          </a:xfrm>
          <a:prstGeom prst="rect">
            <a:avLst/>
          </a:prstGeom>
          <a:noFill/>
          <a:ln/>
        </p:spPr>
        <p:txBody>
          <a:bodyPr wrap="square" lIns="0" tIns="0" rIns="0" bIns="0" rtlCol="0" anchor="ctr"/>
          <a:lstStyle/>
          <a:p>
            <a:pPr marL="0" indent="0" algn="ctr">
              <a:buNone/>
            </a:pPr>
            <a:r>
              <a:rPr lang="en-US" sz="4000" b="1" dirty="0">
                <a:solidFill>
                  <a:srgbClr val="02C39A"/>
                </a:solidFill>
                <a:latin typeface="Cambria" pitchFamily="34" charset="0"/>
                <a:ea typeface="Cambria" pitchFamily="34" charset="-122"/>
                <a:cs typeface="Cambria" pitchFamily="34" charset="-120"/>
              </a:rPr>
              <a:t>0</a:t>
            </a:r>
            <a:endParaRPr lang="en-US" sz="4000" dirty="0"/>
          </a:p>
        </p:txBody>
      </p:sp>
      <p:sp>
        <p:nvSpPr>
          <p:cNvPr id="15" name="Text 12"/>
          <p:cNvSpPr/>
          <p:nvPr/>
        </p:nvSpPr>
        <p:spPr>
          <a:xfrm>
            <a:off x="3703320" y="6144768"/>
            <a:ext cx="2834640" cy="457200"/>
          </a:xfrm>
          <a:prstGeom prst="rect">
            <a:avLst/>
          </a:prstGeom>
          <a:noFill/>
          <a:ln/>
        </p:spPr>
        <p:txBody>
          <a:bodyPr wrap="square" lIns="0" tIns="0" rIns="0" bIns="0" rtlCol="0" anchor="ctr"/>
          <a:lstStyle/>
          <a:p>
            <a:pPr marL="0" indent="0" algn="ctr">
              <a:buNone/>
            </a:pPr>
            <a:r>
              <a:rPr lang="en-US" sz="1150" dirty="0">
                <a:solidFill>
                  <a:srgbClr val="55636E"/>
                </a:solidFill>
                <a:latin typeface="Calibri" pitchFamily="34" charset="0"/>
                <a:ea typeface="Calibri" pitchFamily="34" charset="-122"/>
                <a:cs typeface="Calibri" pitchFamily="34" charset="-120"/>
              </a:rPr>
              <a:t>fuite vers un autre médecin</a:t>
            </a:r>
            <a:endParaRPr lang="en-US" sz="1150" dirty="0"/>
          </a:p>
        </p:txBody>
      </p:sp>
      <p:sp>
        <p:nvSpPr>
          <p:cNvPr id="16" name="Shape 13"/>
          <p:cNvSpPr/>
          <p:nvPr/>
        </p:nvSpPr>
        <p:spPr>
          <a:xfrm>
            <a:off x="7452360" y="2651760"/>
            <a:ext cx="4206240" cy="3429000"/>
          </a:xfrm>
          <a:prstGeom prst="roundRect">
            <a:avLst>
              <a:gd name="adj" fmla="val 2133"/>
            </a:avLst>
          </a:prstGeom>
          <a:solidFill>
            <a:srgbClr val="F4F8FA"/>
          </a:solidFill>
          <a:ln/>
          <a:effectLst>
            <a:outerShdw blurRad="101600" dist="25400" dir="5400000" algn="bl" rotWithShape="0">
              <a:srgbClr val="0B3D5C">
                <a:alpha val="12000"/>
              </a:srgbClr>
            </a:outerShdw>
          </a:effectLst>
        </p:spPr>
      </p:sp>
      <p:sp>
        <p:nvSpPr>
          <p:cNvPr id="17" name="Text 14"/>
          <p:cNvSpPr/>
          <p:nvPr/>
        </p:nvSpPr>
        <p:spPr>
          <a:xfrm>
            <a:off x="7726680" y="2880360"/>
            <a:ext cx="3657600" cy="320040"/>
          </a:xfrm>
          <a:prstGeom prst="rect">
            <a:avLst/>
          </a:prstGeom>
          <a:noFill/>
          <a:ln/>
        </p:spPr>
        <p:txBody>
          <a:bodyPr wrap="square" lIns="0" tIns="0" rIns="0" bIns="0" rtlCol="0" anchor="ctr"/>
          <a:lstStyle/>
          <a:p>
            <a:pPr marL="0" indent="0">
              <a:buNone/>
            </a:pPr>
            <a:r>
              <a:rPr lang="en-US" sz="1300" b="1" dirty="0">
                <a:solidFill>
                  <a:srgbClr val="0B3D5C"/>
                </a:solidFill>
                <a:latin typeface="Cambria" pitchFamily="34" charset="0"/>
                <a:ea typeface="Cambria" pitchFamily="34" charset="-122"/>
                <a:cs typeface="Cambria" pitchFamily="34" charset="-120"/>
              </a:rPr>
              <a:t>Limite assumée</a:t>
            </a:r>
            <a:endParaRPr lang="en-US" sz="1300" dirty="0"/>
          </a:p>
        </p:txBody>
      </p:sp>
      <p:sp>
        <p:nvSpPr>
          <p:cNvPr id="18" name="Text 15"/>
          <p:cNvSpPr/>
          <p:nvPr/>
        </p:nvSpPr>
        <p:spPr>
          <a:xfrm>
            <a:off x="7726680" y="3291840"/>
            <a:ext cx="3657600" cy="1371600"/>
          </a:xfrm>
          <a:prstGeom prst="rect">
            <a:avLst/>
          </a:prstGeom>
          <a:noFill/>
          <a:ln/>
        </p:spPr>
        <p:txBody>
          <a:bodyPr wrap="square" lIns="0" tIns="0" rIns="0" bIns="0" rtlCol="0" anchor="t"/>
          <a:lstStyle/>
          <a:p>
            <a:pPr marL="0" indent="0">
              <a:lnSpc>
                <a:spcPct val="120000"/>
              </a:lnSpc>
              <a:buNone/>
            </a:pPr>
            <a:r>
              <a:rPr lang="en-US" sz="1100" dirty="0">
                <a:solidFill>
                  <a:srgbClr val="55636E"/>
                </a:solidFill>
                <a:latin typeface="Calibri" pitchFamily="34" charset="0"/>
                <a:ea typeface="Calibri" pitchFamily="34" charset="-122"/>
                <a:cs typeface="Calibri" pitchFamily="34" charset="-120"/>
              </a:rPr>
              <a:t>Ce filtrage fonctionne en lecture (find) mais pas sur les écritures (insert/update), qui restent à sécuriser côté application — pratique standard en production.</a:t>
            </a:r>
            <a:endParaRPr lang="en-US" sz="1100" dirty="0"/>
          </a:p>
        </p:txBody>
      </p:sp>
      <p:sp>
        <p:nvSpPr>
          <p:cNvPr id="19" name="Shape 16"/>
          <p:cNvSpPr/>
          <p:nvPr/>
        </p:nvSpPr>
        <p:spPr>
          <a:xfrm>
            <a:off x="7726680" y="4800600"/>
            <a:ext cx="3611880" cy="0"/>
          </a:xfrm>
          <a:prstGeom prst="line">
            <a:avLst/>
          </a:prstGeom>
          <a:noFill/>
          <a:ln w="12700">
            <a:solidFill>
              <a:srgbClr val="DCE4E8"/>
            </a:solidFill>
            <a:prstDash val="solid"/>
          </a:ln>
        </p:spPr>
      </p:sp>
      <p:sp>
        <p:nvSpPr>
          <p:cNvPr id="20" name="Text 17"/>
          <p:cNvSpPr/>
          <p:nvPr/>
        </p:nvSpPr>
        <p:spPr>
          <a:xfrm>
            <a:off x="7726680" y="4983480"/>
            <a:ext cx="3657600" cy="960120"/>
          </a:xfrm>
          <a:prstGeom prst="rect">
            <a:avLst/>
          </a:prstGeom>
          <a:noFill/>
          <a:ln/>
        </p:spPr>
        <p:txBody>
          <a:bodyPr wrap="square" lIns="0" tIns="0" rIns="0" bIns="0" rtlCol="0" anchor="t"/>
          <a:lstStyle/>
          <a:p>
            <a:pPr marL="0" indent="0">
              <a:buNone/>
            </a:pPr>
            <a:r>
              <a:rPr lang="en-US" sz="1050" i="1" dirty="0">
                <a:solidFill>
                  <a:srgbClr val="8A97A0"/>
                </a:solidFill>
                <a:latin typeface="Calibri" pitchFamily="34" charset="0"/>
                <a:ea typeface="Calibri" pitchFamily="34" charset="-122"/>
                <a:cs typeface="Calibri" pitchFamily="34" charset="-120"/>
              </a:rPr>
              <a:t>Symétrique côté patient : documenté comme axe de renforcement plutôt que masqué.</a:t>
            </a:r>
            <a:endParaRPr lang="en-US" sz="1050" dirty="0"/>
          </a:p>
        </p:txBody>
      </p:sp>
      <p:sp>
        <p:nvSpPr>
          <p:cNvPr id="21" name="Text 18"/>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22" name="Text 19"/>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2 - SÉCURITÉ</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a:solidFill>
                  <a:srgbClr val="0B3D5C"/>
                </a:solidFill>
                <a:latin typeface="Cambria" pitchFamily="34" charset="0"/>
                <a:ea typeface="Cambria" pitchFamily="34" charset="-122"/>
                <a:cs typeface="Cambria" pitchFamily="34" charset="-120"/>
              </a:rPr>
              <a:t>Chiffrement, TLS et sauvegarde</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sp>
        <p:nvSpPr>
          <p:cNvPr id="6" name="Shape 3"/>
          <p:cNvSpPr/>
          <p:nvPr/>
        </p:nvSpPr>
        <p:spPr>
          <a:xfrm>
            <a:off x="548640" y="1691640"/>
            <a:ext cx="3566160" cy="4297680"/>
          </a:xfrm>
          <a:prstGeom prst="roundRect">
            <a:avLst>
              <a:gd name="adj" fmla="val 2051"/>
            </a:avLst>
          </a:prstGeom>
          <a:solidFill>
            <a:srgbClr val="F4F8FA"/>
          </a:solidFill>
          <a:ln/>
          <a:effectLst>
            <a:outerShdw blurRad="101600" dist="25400" dir="5400000" algn="bl" rotWithShape="0">
              <a:srgbClr val="0B3D5C">
                <a:alpha val="12000"/>
              </a:srgbClr>
            </a:outerShdw>
          </a:effectLst>
        </p:spPr>
      </p:sp>
      <p:sp>
        <p:nvSpPr>
          <p:cNvPr id="7" name="Shape 4"/>
          <p:cNvSpPr/>
          <p:nvPr/>
        </p:nvSpPr>
        <p:spPr>
          <a:xfrm>
            <a:off x="822960" y="1920240"/>
            <a:ext cx="548640" cy="548640"/>
          </a:xfrm>
          <a:prstGeom prst="ellipse">
            <a:avLst/>
          </a:prstGeom>
          <a:solidFill>
            <a:srgbClr val="FFFFFF"/>
          </a:solidFill>
          <a:ln/>
        </p:spPr>
      </p:sp>
      <p:pic>
        <p:nvPicPr>
          <p:cNvPr id="8" name="Image 1" descr="preencoded.png"/>
          <p:cNvPicPr>
            <a:picLocks noChangeAspect="1"/>
          </p:cNvPicPr>
          <p:nvPr/>
        </p:nvPicPr>
        <p:blipFill>
          <a:blip r:embed="rId4"/>
          <a:stretch>
            <a:fillRect/>
          </a:stretch>
        </p:blipFill>
        <p:spPr>
          <a:xfrm>
            <a:off x="946404" y="2043684"/>
            <a:ext cx="301752" cy="301752"/>
          </a:xfrm>
          <a:prstGeom prst="rect">
            <a:avLst/>
          </a:prstGeom>
        </p:spPr>
      </p:pic>
      <p:sp>
        <p:nvSpPr>
          <p:cNvPr id="9" name="Text 5"/>
          <p:cNvSpPr/>
          <p:nvPr/>
        </p:nvSpPr>
        <p:spPr>
          <a:xfrm>
            <a:off x="822960" y="2606040"/>
            <a:ext cx="3017520" cy="365760"/>
          </a:xfrm>
          <a:prstGeom prst="rect">
            <a:avLst/>
          </a:prstGeom>
          <a:noFill/>
          <a:ln/>
        </p:spPr>
        <p:txBody>
          <a:bodyPr wrap="square" lIns="0" tIns="0" rIns="0" bIns="0" rtlCol="0" anchor="ctr"/>
          <a:lstStyle/>
          <a:p>
            <a:pPr marL="0" indent="0">
              <a:buNone/>
            </a:pPr>
            <a:r>
              <a:rPr lang="en-US" sz="1500" b="1" dirty="0">
                <a:solidFill>
                  <a:srgbClr val="0B3D5C"/>
                </a:solidFill>
                <a:latin typeface="Cambria" pitchFamily="34" charset="0"/>
                <a:ea typeface="Cambria" pitchFamily="34" charset="-122"/>
                <a:cs typeface="Cambria" pitchFamily="34" charset="-120"/>
              </a:rPr>
              <a:t>Chiffrement</a:t>
            </a:r>
            <a:endParaRPr lang="en-US" sz="1500" dirty="0"/>
          </a:p>
        </p:txBody>
      </p:sp>
      <p:sp>
        <p:nvSpPr>
          <p:cNvPr id="10" name="Text 6"/>
          <p:cNvSpPr/>
          <p:nvPr/>
        </p:nvSpPr>
        <p:spPr>
          <a:xfrm>
            <a:off x="822960" y="3063240"/>
            <a:ext cx="3017520" cy="278892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100" dirty="0">
                <a:solidFill>
                  <a:srgbClr val="55636E"/>
                </a:solidFill>
                <a:latin typeface="Calibri" pitchFamily="34" charset="0"/>
                <a:ea typeface="Calibri" pitchFamily="34" charset="-122"/>
                <a:cs typeface="Calibri" pitchFamily="34" charset="-120"/>
              </a:rPr>
              <a:t>Encryption at Rest activable via security.enableEncryption</a:t>
            </a:r>
            <a:endParaRPr lang="en-US" sz="1100" dirty="0"/>
          </a:p>
          <a:p>
            <a:pPr marL="342900" indent="-342900">
              <a:lnSpc>
                <a:spcPct val="115000"/>
              </a:lnSpc>
              <a:spcAft>
                <a:spcPts val="1000"/>
              </a:spcAft>
              <a:buSzPct val="100000"/>
              <a:buChar char="✦"/>
            </a:pPr>
            <a:r>
              <a:rPr lang="en-US" sz="1100" dirty="0">
                <a:solidFill>
                  <a:srgbClr val="55636E"/>
                </a:solidFill>
                <a:latin typeface="Calibri" pitchFamily="34" charset="0"/>
                <a:ea typeface="Calibri" pitchFamily="34" charset="-122"/>
                <a:cs typeface="Calibri" pitchFamily="34" charset="-120"/>
              </a:rPr>
              <a:t>CSFLE recommandé pour les champs ultra-sensibles (diagnostic, résultat d’analyse) — axe de renforcement</a:t>
            </a:r>
            <a:endParaRPr lang="en-US" sz="1100" dirty="0"/>
          </a:p>
        </p:txBody>
      </p:sp>
      <p:sp>
        <p:nvSpPr>
          <p:cNvPr id="11" name="Shape 7"/>
          <p:cNvSpPr/>
          <p:nvPr/>
        </p:nvSpPr>
        <p:spPr>
          <a:xfrm>
            <a:off x="4343400" y="1691640"/>
            <a:ext cx="3566160" cy="4297680"/>
          </a:xfrm>
          <a:prstGeom prst="roundRect">
            <a:avLst>
              <a:gd name="adj" fmla="val 2051"/>
            </a:avLst>
          </a:prstGeom>
          <a:solidFill>
            <a:srgbClr val="F4F8FA"/>
          </a:solidFill>
          <a:ln/>
          <a:effectLst>
            <a:outerShdw blurRad="101600" dist="25400" dir="5400000" algn="bl" rotWithShape="0">
              <a:srgbClr val="0B3D5C">
                <a:alpha val="12000"/>
              </a:srgbClr>
            </a:outerShdw>
          </a:effectLst>
        </p:spPr>
      </p:sp>
      <p:sp>
        <p:nvSpPr>
          <p:cNvPr id="12" name="Shape 8"/>
          <p:cNvSpPr/>
          <p:nvPr/>
        </p:nvSpPr>
        <p:spPr>
          <a:xfrm>
            <a:off x="4617720" y="1920240"/>
            <a:ext cx="548640" cy="548640"/>
          </a:xfrm>
          <a:prstGeom prst="ellipse">
            <a:avLst/>
          </a:prstGeom>
          <a:solidFill>
            <a:srgbClr val="FFFFFF"/>
          </a:solidFill>
          <a:ln/>
        </p:spPr>
      </p:sp>
      <p:pic>
        <p:nvPicPr>
          <p:cNvPr id="13" name="Image 2" descr="preencoded.png"/>
          <p:cNvPicPr>
            <a:picLocks noChangeAspect="1"/>
          </p:cNvPicPr>
          <p:nvPr/>
        </p:nvPicPr>
        <p:blipFill>
          <a:blip r:embed="rId5"/>
          <a:stretch>
            <a:fillRect/>
          </a:stretch>
        </p:blipFill>
        <p:spPr>
          <a:xfrm>
            <a:off x="4741164" y="2043684"/>
            <a:ext cx="301752" cy="301752"/>
          </a:xfrm>
          <a:prstGeom prst="rect">
            <a:avLst/>
          </a:prstGeom>
        </p:spPr>
      </p:pic>
      <p:sp>
        <p:nvSpPr>
          <p:cNvPr id="14" name="Text 9"/>
          <p:cNvSpPr/>
          <p:nvPr/>
        </p:nvSpPr>
        <p:spPr>
          <a:xfrm>
            <a:off x="4617720" y="2606040"/>
            <a:ext cx="3017520" cy="365760"/>
          </a:xfrm>
          <a:prstGeom prst="rect">
            <a:avLst/>
          </a:prstGeom>
          <a:noFill/>
          <a:ln/>
        </p:spPr>
        <p:txBody>
          <a:bodyPr wrap="square" lIns="0" tIns="0" rIns="0" bIns="0" rtlCol="0" anchor="ctr"/>
          <a:lstStyle/>
          <a:p>
            <a:pPr marL="0" indent="0">
              <a:buNone/>
            </a:pPr>
            <a:r>
              <a:rPr lang="en-US" sz="1500" b="1" dirty="0">
                <a:solidFill>
                  <a:srgbClr val="0B3D5C"/>
                </a:solidFill>
                <a:latin typeface="Cambria" pitchFamily="34" charset="0"/>
                <a:ea typeface="Cambria" pitchFamily="34" charset="-122"/>
                <a:cs typeface="Cambria" pitchFamily="34" charset="-120"/>
              </a:rPr>
              <a:t>TLS / SSL</a:t>
            </a:r>
            <a:endParaRPr lang="en-US" sz="1500" dirty="0"/>
          </a:p>
        </p:txBody>
      </p:sp>
      <p:sp>
        <p:nvSpPr>
          <p:cNvPr id="15" name="Text 10"/>
          <p:cNvSpPr/>
          <p:nvPr/>
        </p:nvSpPr>
        <p:spPr>
          <a:xfrm>
            <a:off x="4617720" y="3063240"/>
            <a:ext cx="3017520" cy="278892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100" dirty="0">
                <a:solidFill>
                  <a:srgbClr val="55636E"/>
                </a:solidFill>
                <a:latin typeface="Calibri" pitchFamily="34" charset="0"/>
                <a:ea typeface="Calibri" pitchFamily="34" charset="-122"/>
                <a:cs typeface="Calibri" pitchFamily="34" charset="-120"/>
              </a:rPr>
              <a:t>CA et certificat serveur auto-signés (OpenSSL), tlsMode requireTLS disponible</a:t>
            </a:r>
            <a:endParaRPr lang="en-US" sz="1100" dirty="0"/>
          </a:p>
          <a:p>
            <a:pPr marL="342900" indent="-342900">
              <a:lnSpc>
                <a:spcPct val="115000"/>
              </a:lnSpc>
              <a:spcAft>
                <a:spcPts val="1000"/>
              </a:spcAft>
              <a:buSzPct val="100000"/>
              <a:buChar char="✦"/>
            </a:pPr>
            <a:r>
              <a:rPr lang="en-US" sz="1100" dirty="0">
                <a:solidFill>
                  <a:srgbClr val="55636E"/>
                </a:solidFill>
                <a:latin typeface="Calibri" pitchFamily="34" charset="0"/>
                <a:ea typeface="Calibri" pitchFamily="34" charset="-122"/>
                <a:cs typeface="Calibri" pitchFamily="34" charset="-120"/>
              </a:rPr>
              <a:t>Désactivé pendant cette démonstration locale (flag manuel) — transparence assumée</a:t>
            </a:r>
            <a:endParaRPr lang="en-US" sz="1100" dirty="0"/>
          </a:p>
        </p:txBody>
      </p:sp>
      <p:sp>
        <p:nvSpPr>
          <p:cNvPr id="16" name="Shape 11"/>
          <p:cNvSpPr/>
          <p:nvPr/>
        </p:nvSpPr>
        <p:spPr>
          <a:xfrm>
            <a:off x="8138160" y="1691640"/>
            <a:ext cx="3566160" cy="4297680"/>
          </a:xfrm>
          <a:prstGeom prst="roundRect">
            <a:avLst>
              <a:gd name="adj" fmla="val 2051"/>
            </a:avLst>
          </a:prstGeom>
          <a:solidFill>
            <a:srgbClr val="F4F8FA"/>
          </a:solidFill>
          <a:ln/>
          <a:effectLst>
            <a:outerShdw blurRad="101600" dist="25400" dir="5400000" algn="bl" rotWithShape="0">
              <a:srgbClr val="0B3D5C">
                <a:alpha val="12000"/>
              </a:srgbClr>
            </a:outerShdw>
          </a:effectLst>
        </p:spPr>
      </p:sp>
      <p:sp>
        <p:nvSpPr>
          <p:cNvPr id="17" name="Shape 12"/>
          <p:cNvSpPr/>
          <p:nvPr/>
        </p:nvSpPr>
        <p:spPr>
          <a:xfrm>
            <a:off x="8412480" y="1920240"/>
            <a:ext cx="548640" cy="548640"/>
          </a:xfrm>
          <a:prstGeom prst="ellipse">
            <a:avLst/>
          </a:prstGeom>
          <a:solidFill>
            <a:srgbClr val="FFFFFF"/>
          </a:solidFill>
          <a:ln/>
        </p:spPr>
      </p:sp>
      <p:pic>
        <p:nvPicPr>
          <p:cNvPr id="18" name="Image 3" descr="preencoded.png"/>
          <p:cNvPicPr>
            <a:picLocks noChangeAspect="1"/>
          </p:cNvPicPr>
          <p:nvPr/>
        </p:nvPicPr>
        <p:blipFill>
          <a:blip r:embed="rId6"/>
          <a:stretch>
            <a:fillRect/>
          </a:stretch>
        </p:blipFill>
        <p:spPr>
          <a:xfrm>
            <a:off x="8535924" y="2043684"/>
            <a:ext cx="301752" cy="301752"/>
          </a:xfrm>
          <a:prstGeom prst="rect">
            <a:avLst/>
          </a:prstGeom>
        </p:spPr>
      </p:pic>
      <p:sp>
        <p:nvSpPr>
          <p:cNvPr id="19" name="Text 13"/>
          <p:cNvSpPr/>
          <p:nvPr/>
        </p:nvSpPr>
        <p:spPr>
          <a:xfrm>
            <a:off x="8412480" y="2606040"/>
            <a:ext cx="3017520" cy="365760"/>
          </a:xfrm>
          <a:prstGeom prst="rect">
            <a:avLst/>
          </a:prstGeom>
          <a:noFill/>
          <a:ln/>
        </p:spPr>
        <p:txBody>
          <a:bodyPr wrap="square" lIns="0" tIns="0" rIns="0" bIns="0" rtlCol="0" anchor="ctr"/>
          <a:lstStyle/>
          <a:p>
            <a:pPr marL="0" indent="0">
              <a:buNone/>
            </a:pPr>
            <a:r>
              <a:rPr lang="en-US" sz="1500" b="1" dirty="0">
                <a:solidFill>
                  <a:srgbClr val="0B3D5C"/>
                </a:solidFill>
                <a:latin typeface="Cambria" pitchFamily="34" charset="0"/>
                <a:ea typeface="Cambria" pitchFamily="34" charset="-122"/>
                <a:cs typeface="Cambria" pitchFamily="34" charset="-120"/>
              </a:rPr>
              <a:t>Sauvegarde</a:t>
            </a:r>
            <a:endParaRPr lang="en-US" sz="1500" dirty="0"/>
          </a:p>
        </p:txBody>
      </p:sp>
      <p:sp>
        <p:nvSpPr>
          <p:cNvPr id="20" name="Text 14"/>
          <p:cNvSpPr/>
          <p:nvPr/>
        </p:nvSpPr>
        <p:spPr>
          <a:xfrm>
            <a:off x="8412480" y="3063240"/>
            <a:ext cx="3017520" cy="278892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100" dirty="0">
                <a:solidFill>
                  <a:srgbClr val="55636E"/>
                </a:solidFill>
                <a:latin typeface="Calibri" pitchFamily="34" charset="0"/>
                <a:ea typeface="Calibri" pitchFamily="34" charset="-122"/>
                <a:cs typeface="Calibri" pitchFamily="34" charset="-120"/>
              </a:rPr>
              <a:t>mongodump quotidien via mongos, balancer stoppé le temps du dump</a:t>
            </a:r>
            <a:endParaRPr lang="en-US" sz="1100" dirty="0"/>
          </a:p>
          <a:p>
            <a:pPr marL="342900" indent="-342900">
              <a:lnSpc>
                <a:spcPct val="115000"/>
              </a:lnSpc>
              <a:spcAft>
                <a:spcPts val="1000"/>
              </a:spcAft>
              <a:buSzPct val="100000"/>
              <a:buChar char="✦"/>
            </a:pPr>
            <a:r>
              <a:rPr lang="en-US" sz="1100" dirty="0">
                <a:solidFill>
                  <a:srgbClr val="55636E"/>
                </a:solidFill>
                <a:latin typeface="Calibri" pitchFamily="34" charset="0"/>
                <a:ea typeface="Calibri" pitchFamily="34" charset="-122"/>
                <a:cs typeface="Calibri" pitchFamily="34" charset="-120"/>
              </a:rPr>
              <a:t>Archive compressée et chiffrée, restauration testée (mongorestore), rétention 30 jours</a:t>
            </a:r>
            <a:endParaRPr lang="en-US" sz="1100" dirty="0"/>
          </a:p>
        </p:txBody>
      </p:sp>
      <p:sp>
        <p:nvSpPr>
          <p:cNvPr id="21" name="Text 15"/>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22" name="Text 16"/>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3 - TYPES DE COHÉRENCE</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a:solidFill>
                  <a:srgbClr val="0B3D5C"/>
                </a:solidFill>
                <a:latin typeface="Cambria" pitchFamily="34" charset="0"/>
                <a:ea typeface="Cambria" pitchFamily="34" charset="-122"/>
                <a:cs typeface="Cambria" pitchFamily="34" charset="-120"/>
              </a:rPr>
              <a:t>Un niveau de cohérence par enjeu métier</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sp>
        <p:nvSpPr>
          <p:cNvPr id="6" name="Text 3"/>
          <p:cNvSpPr/>
          <p:nvPr/>
        </p:nvSpPr>
        <p:spPr>
          <a:xfrm>
            <a:off x="548640" y="1554480"/>
            <a:ext cx="11109960" cy="411480"/>
          </a:xfrm>
          <a:prstGeom prst="rect">
            <a:avLst/>
          </a:prstGeom>
          <a:noFill/>
          <a:ln/>
        </p:spPr>
        <p:txBody>
          <a:bodyPr wrap="square" lIns="0" tIns="0" rIns="0" bIns="0" rtlCol="0" anchor="ctr"/>
          <a:lstStyle/>
          <a:p>
            <a:pPr marL="0" indent="0">
              <a:buNone/>
            </a:pPr>
            <a:r>
              <a:rPr lang="en-US" sz="1250" dirty="0">
                <a:solidFill>
                  <a:srgbClr val="55636E"/>
                </a:solidFill>
                <a:latin typeface="Calibri" pitchFamily="34" charset="0"/>
                <a:ea typeface="Calibri" pitchFamily="34" charset="-122"/>
                <a:cs typeface="Calibri" pitchFamily="34" charset="-120"/>
              </a:rPr>
              <a:t>MongoDB expose le compromis cohérence / latence via trois leviers : readConcern, writeConcern et les sessions causalement cohérentes.</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109960" cy="2304288"/>
        </p:xfrm>
        <a:graphic>
          <a:graphicData uri="http://schemas.openxmlformats.org/drawingml/2006/table">
            <a:tbl>
              <a:tblPr/>
              <a:tblGrid>
                <a:gridCol w="233172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3749040">
                  <a:extLst>
                    <a:ext uri="{9D8B030D-6E8A-4147-A177-3AD203B41FA5}">
                      <a16:colId xmlns:a16="http://schemas.microsoft.com/office/drawing/2014/main" val="20003"/>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Collection</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B3D5C"/>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Read Concern</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B3D5C"/>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Write Concern</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B3D5C"/>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Justification</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B3D5C"/>
                    </a:solidFill>
                  </a:tcPr>
                </a:tc>
                <a:extLst>
                  <a:ext uri="{0D108BD9-81ED-4DB2-BD59-A6C34878D82A}">
                    <a16:rowId xmlns:a16="http://schemas.microsoft.com/office/drawing/2014/main" val="10000"/>
                  </a:ext>
                </a:extLst>
              </a:tr>
              <a:tr h="384048">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Prescriptions</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4F8FA"/>
                    </a:solidFill>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linearizable</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{w:"majority", j:true}</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Erreur médicale inacceptable, durabilité maximale</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Consultations</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majority</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{w:"majority"}</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Cohérence forte, tolère quelques ms de latence</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AnalysesMedicales</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4F8FA"/>
                    </a:solidFill>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majority</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{w:"majority", j:true}</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Résultat clinique jamais perdu</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RendezVous</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local</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{w:1} ou {w:"majority"}</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Priorité à la réactivité de l’UI</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Dossier complet</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4F8FA"/>
                    </a:solidFill>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snapshot (transaction)</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{w:"majority"}</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080" dirty="0">
                          <a:solidFill>
                            <a:srgbClr val="55636E"/>
                          </a:solidFill>
                          <a:latin typeface="Calibri" pitchFamily="34" charset="0"/>
                          <a:ea typeface="Calibri" pitchFamily="34" charset="-122"/>
                          <a:cs typeface="Calibri" pitchFamily="34" charset="-120"/>
                        </a:rPr>
                        <a:t>Cohérence inter-collections à un instant T</a:t>
                      </a:r>
                      <a:endParaRPr lang="en-US" sz="108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4"/>
          <p:cNvSpPr/>
          <p:nvPr/>
        </p:nvSpPr>
        <p:spPr>
          <a:xfrm>
            <a:off x="548640" y="4663440"/>
            <a:ext cx="11109960" cy="1417320"/>
          </a:xfrm>
          <a:prstGeom prst="roundRect">
            <a:avLst>
              <a:gd name="adj" fmla="val 5161"/>
            </a:avLst>
          </a:prstGeom>
          <a:solidFill>
            <a:srgbClr val="0B3D5C"/>
          </a:solidFill>
          <a:ln/>
        </p:spPr>
      </p:sp>
      <p:sp>
        <p:nvSpPr>
          <p:cNvPr id="9" name="Text 5"/>
          <p:cNvSpPr/>
          <p:nvPr/>
        </p:nvSpPr>
        <p:spPr>
          <a:xfrm>
            <a:off x="822960" y="4828032"/>
            <a:ext cx="4572000" cy="274320"/>
          </a:xfrm>
          <a:prstGeom prst="rect">
            <a:avLst/>
          </a:prstGeom>
          <a:noFill/>
          <a:ln/>
        </p:spPr>
        <p:txBody>
          <a:bodyPr wrap="square" lIns="0" tIns="0" rIns="0" bIns="0" rtlCol="0" anchor="ctr"/>
          <a:lstStyle/>
          <a:p>
            <a:pPr marL="0" indent="0">
              <a:buNone/>
            </a:pPr>
            <a:r>
              <a:rPr lang="en-US" sz="1250" b="1" dirty="0">
                <a:solidFill>
                  <a:srgbClr val="02C39A"/>
                </a:solidFill>
                <a:latin typeface="Cambria" pitchFamily="34" charset="0"/>
                <a:ea typeface="Cambria" pitchFamily="34" charset="-122"/>
                <a:cs typeface="Cambria" pitchFamily="34" charset="-120"/>
              </a:rPr>
              <a:t>Validation sur cluster réel</a:t>
            </a:r>
            <a:endParaRPr lang="en-US" sz="1250" dirty="0"/>
          </a:p>
        </p:txBody>
      </p:sp>
      <p:sp>
        <p:nvSpPr>
          <p:cNvPr id="10" name="Text 6"/>
          <p:cNvSpPr/>
          <p:nvPr/>
        </p:nvSpPr>
        <p:spPr>
          <a:xfrm>
            <a:off x="822960" y="5138928"/>
            <a:ext cx="10515600" cy="868680"/>
          </a:xfrm>
          <a:prstGeom prst="rect">
            <a:avLst/>
          </a:prstGeom>
          <a:noFill/>
          <a:ln/>
        </p:spPr>
        <p:txBody>
          <a:bodyPr wrap="square" lIns="0" tIns="0" rIns="0" bIns="0" rtlCol="0" anchor="t"/>
          <a:lstStyle/>
          <a:p>
            <a:pPr marL="0" indent="0">
              <a:lnSpc>
                <a:spcPct val="120000"/>
              </a:lnSpc>
              <a:buNone/>
            </a:pPr>
            <a:r>
              <a:rPr lang="en-US" sz="1100" dirty="0">
                <a:solidFill>
                  <a:srgbClr val="E4ECF0"/>
                </a:solidFill>
                <a:latin typeface="Calibri" pitchFamily="34" charset="0"/>
                <a:ea typeface="Calibri" pitchFamily="34" charset="-122"/>
                <a:cs typeface="Calibri" pitchFamily="34" charset="-120"/>
              </a:rPr>
              <a:t>• Transaction multi-documents en readConcern snapshot : lecture cohérente d’un patient et de ses 4 consultations, dans le même instant logique.
• Session causalement cohérente (causalConsistency: true) : read-your-own-writes confirmé — une consultation insérée est immédiatement relisible en readConcern majority.</a:t>
            </a:r>
            <a:endParaRPr lang="en-US" sz="1100" dirty="0"/>
          </a:p>
        </p:txBody>
      </p:sp>
      <p:sp>
        <p:nvSpPr>
          <p:cNvPr id="7" name="Text 7"/>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12" name="Text 8"/>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57200"/>
            <a:ext cx="457200" cy="457200"/>
          </a:xfrm>
          <a:prstGeom prst="rect">
            <a:avLst/>
          </a:prstGeom>
        </p:spPr>
      </p:pic>
      <p:sp>
        <p:nvSpPr>
          <p:cNvPr id="3" name="Text 0"/>
          <p:cNvSpPr/>
          <p:nvPr/>
        </p:nvSpPr>
        <p:spPr>
          <a:xfrm>
            <a:off x="1143000" y="411480"/>
            <a:ext cx="9601200" cy="548640"/>
          </a:xfrm>
          <a:prstGeom prst="rect">
            <a:avLst/>
          </a:prstGeom>
          <a:noFill/>
          <a:ln/>
        </p:spPr>
        <p:txBody>
          <a:bodyPr wrap="square" rtlCol="0" anchor="ctr"/>
          <a:lstStyle/>
          <a:p>
            <a:pPr marL="0" indent="0">
              <a:buNone/>
            </a:pPr>
            <a:r>
              <a:rPr lang="en-US" sz="2800" b="1" dirty="0">
                <a:solidFill>
                  <a:srgbClr val="0B3D5C"/>
                </a:solidFill>
                <a:latin typeface="Cambria" pitchFamily="34" charset="0"/>
                <a:ea typeface="Cambria" pitchFamily="34" charset="-122"/>
              </a:rPr>
              <a:t>Partie 4 - Types de clés de sharding</a:t>
            </a:r>
          </a:p>
        </p:txBody>
      </p:sp>
      <p:sp>
        <p:nvSpPr>
          <p:cNvPr id="4" name="Text 1"/>
          <p:cNvSpPr/>
          <p:nvPr/>
        </p:nvSpPr>
        <p:spPr>
          <a:xfrm>
            <a:off x="1143000" y="914400"/>
            <a:ext cx="9144000" cy="365760"/>
          </a:xfrm>
          <a:prstGeom prst="rect">
            <a:avLst/>
          </a:prstGeom>
          <a:noFill/>
          <a:ln/>
        </p:spPr>
        <p:txBody>
          <a:bodyPr wrap="square" rtlCol="0" anchor="ctr"/>
          <a:lstStyle/>
          <a:p>
            <a:pPr marL="0" indent="0">
              <a:buNone/>
            </a:pPr>
            <a:r>
              <a:rPr lang="en-US" sz="1400" i="1" dirty="0">
                <a:solidFill>
                  <a:srgbClr val="5B7A85"/>
                </a:solidFill>
                <a:latin typeface="Calibri" pitchFamily="34" charset="0"/>
                <a:ea typeface="Calibri" pitchFamily="34" charset="-122"/>
                <a:cs typeface="Calibri" pitchFamily="34" charset="-120"/>
              </a:rPr>
              <a:t>3 stratégies officielles MongoDB, analysées et comparées</a:t>
            </a:r>
            <a:endParaRPr lang="en-US" sz="1400" dirty="0"/>
          </a:p>
        </p:txBody>
      </p:sp>
      <p:sp>
        <p:nvSpPr>
          <p:cNvPr id="5" name="Shape 2"/>
          <p:cNvSpPr/>
          <p:nvPr/>
        </p:nvSpPr>
        <p:spPr>
          <a:xfrm>
            <a:off x="640080" y="1508760"/>
            <a:ext cx="3520440" cy="3566160"/>
          </a:xfrm>
          <a:prstGeom prst="roundRect">
            <a:avLst>
              <a:gd name="adj" fmla="val 3117"/>
            </a:avLst>
          </a:prstGeom>
          <a:solidFill>
            <a:srgbClr val="FFFFFF"/>
          </a:solidFill>
          <a:ln w="12700">
            <a:solidFill>
              <a:srgbClr val="E3EBEC"/>
            </a:solidFill>
            <a:prstDash val="solid"/>
          </a:ln>
          <a:effectLst>
            <a:outerShdw blurRad="101600" dist="38100" dir="2700000" algn="bl" rotWithShape="0">
              <a:srgbClr val="000000">
                <a:alpha val="12000"/>
              </a:srgbClr>
            </a:outerShdw>
          </a:effectLst>
        </p:spPr>
        <p:txBody>
          <a:bodyPr/>
          <a:lstStyle/>
          <a:p>
            <a:endParaRPr lang="fr-SN"/>
          </a:p>
        </p:txBody>
      </p:sp>
      <p:sp>
        <p:nvSpPr>
          <p:cNvPr id="6" name="Shape 3"/>
          <p:cNvSpPr/>
          <p:nvPr/>
        </p:nvSpPr>
        <p:spPr>
          <a:xfrm>
            <a:off x="640080" y="1508760"/>
            <a:ext cx="3520440" cy="777240"/>
          </a:xfrm>
          <a:prstGeom prst="roundRect">
            <a:avLst>
              <a:gd name="adj" fmla="val 14118"/>
            </a:avLst>
          </a:prstGeom>
          <a:solidFill>
            <a:srgbClr val="9CA9AD"/>
          </a:solidFill>
          <a:ln/>
        </p:spPr>
        <p:txBody>
          <a:bodyPr/>
          <a:lstStyle/>
          <a:p>
            <a:endParaRPr lang="fr-SN"/>
          </a:p>
        </p:txBody>
      </p:sp>
      <p:sp>
        <p:nvSpPr>
          <p:cNvPr id="7" name="Text 4"/>
          <p:cNvSpPr/>
          <p:nvPr/>
        </p:nvSpPr>
        <p:spPr>
          <a:xfrm>
            <a:off x="640080" y="1572768"/>
            <a:ext cx="3520440" cy="41148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Range-based</a:t>
            </a:r>
            <a:endParaRPr lang="en-US" sz="1800" dirty="0"/>
          </a:p>
        </p:txBody>
      </p:sp>
      <p:sp>
        <p:nvSpPr>
          <p:cNvPr id="8" name="Text 5"/>
          <p:cNvSpPr/>
          <p:nvPr/>
        </p:nvSpPr>
        <p:spPr>
          <a:xfrm>
            <a:off x="640080" y="1947672"/>
            <a:ext cx="3520440" cy="320040"/>
          </a:xfrm>
          <a:prstGeom prst="rect">
            <a:avLst/>
          </a:prstGeom>
          <a:noFill/>
          <a:ln/>
        </p:spPr>
        <p:txBody>
          <a:bodyPr wrap="square" rtlCol="0" anchor="ctr"/>
          <a:lstStyle/>
          <a:p>
            <a:pPr marL="0" indent="0" algn="ctr">
              <a:buNone/>
            </a:pPr>
            <a:r>
              <a:rPr lang="en-US" sz="1150" i="1" dirty="0">
                <a:solidFill>
                  <a:srgbClr val="FFFFFF"/>
                </a:solidFill>
                <a:latin typeface="Calibri" pitchFamily="34" charset="0"/>
                <a:ea typeface="Calibri" pitchFamily="34" charset="-122"/>
                <a:cs typeface="Calibri" pitchFamily="34" charset="-120"/>
              </a:rPr>
              <a:t>Écartée</a:t>
            </a:r>
            <a:endParaRPr lang="en-US" sz="1150" dirty="0"/>
          </a:p>
        </p:txBody>
      </p:sp>
      <p:sp>
        <p:nvSpPr>
          <p:cNvPr id="9" name="Text 6"/>
          <p:cNvSpPr/>
          <p:nvPr/>
        </p:nvSpPr>
        <p:spPr>
          <a:xfrm>
            <a:off x="868680" y="2514600"/>
            <a:ext cx="3108960" cy="548640"/>
          </a:xfrm>
          <a:prstGeom prst="rect">
            <a:avLst/>
          </a:prstGeom>
          <a:noFill/>
          <a:ln/>
        </p:spPr>
        <p:txBody>
          <a:bodyPr wrap="square" rtlCol="0" anchor="ctr"/>
          <a:lstStyle/>
          <a:p>
            <a:pPr marL="0" indent="0">
              <a:buNone/>
            </a:pPr>
            <a:r>
              <a:rPr lang="en-US" sz="1250" dirty="0">
                <a:solidFill>
                  <a:srgbClr val="1B2B34"/>
                </a:solidFill>
                <a:latin typeface="Calibri" pitchFamily="34" charset="0"/>
                <a:ea typeface="Calibri" pitchFamily="34" charset="-122"/>
                <a:cs typeface="Calibri" pitchFamily="34" charset="-120"/>
              </a:rPr>
              <a:t>• Hotspot si clé monotone</a:t>
            </a:r>
            <a:endParaRPr lang="en-US" sz="1250" dirty="0"/>
          </a:p>
        </p:txBody>
      </p:sp>
      <p:sp>
        <p:nvSpPr>
          <p:cNvPr id="10" name="Text 7"/>
          <p:cNvSpPr/>
          <p:nvPr/>
        </p:nvSpPr>
        <p:spPr>
          <a:xfrm>
            <a:off x="868680" y="3108960"/>
            <a:ext cx="3108960" cy="548640"/>
          </a:xfrm>
          <a:prstGeom prst="rect">
            <a:avLst/>
          </a:prstGeom>
          <a:noFill/>
          <a:ln/>
        </p:spPr>
        <p:txBody>
          <a:bodyPr wrap="square" rtlCol="0" anchor="ctr"/>
          <a:lstStyle/>
          <a:p>
            <a:pPr marL="0" indent="0">
              <a:buNone/>
            </a:pPr>
            <a:r>
              <a:rPr lang="en-US" sz="1250" dirty="0">
                <a:solidFill>
                  <a:srgbClr val="1B2B34"/>
                </a:solidFill>
                <a:latin typeface="Calibri" pitchFamily="34" charset="0"/>
                <a:ea typeface="Calibri" pitchFamily="34" charset="-122"/>
                <a:cs typeface="Calibri" pitchFamily="34" charset="-120"/>
              </a:rPr>
              <a:t>• Requêtes par plage : ++</a:t>
            </a:r>
            <a:endParaRPr lang="en-US" sz="1250" dirty="0"/>
          </a:p>
        </p:txBody>
      </p:sp>
      <p:sp>
        <p:nvSpPr>
          <p:cNvPr id="11" name="Text 8"/>
          <p:cNvSpPr/>
          <p:nvPr/>
        </p:nvSpPr>
        <p:spPr>
          <a:xfrm>
            <a:off x="868680" y="3703320"/>
            <a:ext cx="3108960" cy="548640"/>
          </a:xfrm>
          <a:prstGeom prst="rect">
            <a:avLst/>
          </a:prstGeom>
          <a:noFill/>
          <a:ln/>
        </p:spPr>
        <p:txBody>
          <a:bodyPr wrap="square" rtlCol="0" anchor="ctr"/>
          <a:lstStyle/>
          <a:p>
            <a:pPr marL="0" indent="0">
              <a:buNone/>
            </a:pPr>
            <a:r>
              <a:rPr lang="en-US" sz="1250" dirty="0">
                <a:solidFill>
                  <a:srgbClr val="1B2B34"/>
                </a:solidFill>
                <a:latin typeface="Calibri" pitchFamily="34" charset="0"/>
                <a:ea typeface="Calibri" pitchFamily="34" charset="-122"/>
                <a:cs typeface="Calibri" pitchFamily="34" charset="-120"/>
              </a:rPr>
              <a:t>• Conformité : non garantie</a:t>
            </a:r>
            <a:endParaRPr lang="en-US" sz="1250" dirty="0"/>
          </a:p>
        </p:txBody>
      </p:sp>
      <p:sp>
        <p:nvSpPr>
          <p:cNvPr id="12" name="Shape 9"/>
          <p:cNvSpPr/>
          <p:nvPr/>
        </p:nvSpPr>
        <p:spPr>
          <a:xfrm>
            <a:off x="4343400" y="1508760"/>
            <a:ext cx="3520440" cy="3566160"/>
          </a:xfrm>
          <a:prstGeom prst="roundRect">
            <a:avLst>
              <a:gd name="adj" fmla="val 3117"/>
            </a:avLst>
          </a:prstGeom>
          <a:solidFill>
            <a:srgbClr val="FFFFFF"/>
          </a:solidFill>
          <a:ln w="12700">
            <a:solidFill>
              <a:srgbClr val="E3EBEC"/>
            </a:solidFill>
            <a:prstDash val="solid"/>
          </a:ln>
          <a:effectLst>
            <a:outerShdw blurRad="101600" dist="38100" dir="2700000" algn="bl" rotWithShape="0">
              <a:srgbClr val="000000">
                <a:alpha val="12000"/>
              </a:srgbClr>
            </a:outerShdw>
          </a:effectLst>
        </p:spPr>
        <p:txBody>
          <a:bodyPr/>
          <a:lstStyle/>
          <a:p>
            <a:endParaRPr lang="fr-SN"/>
          </a:p>
        </p:txBody>
      </p:sp>
      <p:sp>
        <p:nvSpPr>
          <p:cNvPr id="13" name="Shape 10"/>
          <p:cNvSpPr/>
          <p:nvPr/>
        </p:nvSpPr>
        <p:spPr>
          <a:xfrm>
            <a:off x="4343400" y="1508760"/>
            <a:ext cx="3520440" cy="777240"/>
          </a:xfrm>
          <a:prstGeom prst="roundRect">
            <a:avLst>
              <a:gd name="adj" fmla="val 14118"/>
            </a:avLst>
          </a:prstGeom>
          <a:solidFill>
            <a:srgbClr val="118AB2"/>
          </a:solidFill>
          <a:ln/>
        </p:spPr>
        <p:txBody>
          <a:bodyPr/>
          <a:lstStyle/>
          <a:p>
            <a:endParaRPr lang="fr-SN"/>
          </a:p>
        </p:txBody>
      </p:sp>
      <p:sp>
        <p:nvSpPr>
          <p:cNvPr id="14" name="Text 11"/>
          <p:cNvSpPr/>
          <p:nvPr/>
        </p:nvSpPr>
        <p:spPr>
          <a:xfrm>
            <a:off x="4343400" y="1572768"/>
            <a:ext cx="3520440" cy="41148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Hashed</a:t>
            </a:r>
            <a:endParaRPr lang="en-US" sz="1800" dirty="0"/>
          </a:p>
        </p:txBody>
      </p:sp>
      <p:sp>
        <p:nvSpPr>
          <p:cNvPr id="15" name="Text 12"/>
          <p:cNvSpPr/>
          <p:nvPr/>
        </p:nvSpPr>
        <p:spPr>
          <a:xfrm>
            <a:off x="4343400" y="1947672"/>
            <a:ext cx="3520440" cy="320040"/>
          </a:xfrm>
          <a:prstGeom prst="rect">
            <a:avLst/>
          </a:prstGeom>
          <a:noFill/>
          <a:ln/>
        </p:spPr>
        <p:txBody>
          <a:bodyPr wrap="square" rtlCol="0" anchor="ctr"/>
          <a:lstStyle/>
          <a:p>
            <a:pPr marL="0" indent="0" algn="ctr">
              <a:buNone/>
            </a:pPr>
            <a:r>
              <a:rPr lang="en-US" sz="1150" i="1" dirty="0" err="1">
                <a:solidFill>
                  <a:srgbClr val="FFFFFF"/>
                </a:solidFill>
                <a:latin typeface="Calibri" pitchFamily="34" charset="0"/>
                <a:ea typeface="Calibri" pitchFamily="34" charset="-122"/>
                <a:cs typeface="Calibri" pitchFamily="34" charset="-120"/>
              </a:rPr>
              <a:t>Retenue</a:t>
            </a:r>
            <a:r>
              <a:rPr lang="en-US" sz="1150" i="1" dirty="0">
                <a:solidFill>
                  <a:srgbClr val="FFFFFF"/>
                </a:solidFill>
                <a:latin typeface="Calibri" pitchFamily="34" charset="0"/>
                <a:ea typeface="Calibri" pitchFamily="34" charset="-122"/>
                <a:cs typeface="Calibri" pitchFamily="34" charset="-120"/>
              </a:rPr>
              <a:t> - patient_id</a:t>
            </a:r>
            <a:endParaRPr lang="en-US" sz="1150" dirty="0"/>
          </a:p>
        </p:txBody>
      </p:sp>
      <p:sp>
        <p:nvSpPr>
          <p:cNvPr id="16" name="Text 13"/>
          <p:cNvSpPr/>
          <p:nvPr/>
        </p:nvSpPr>
        <p:spPr>
          <a:xfrm>
            <a:off x="4572000" y="2514600"/>
            <a:ext cx="3108960" cy="548640"/>
          </a:xfrm>
          <a:prstGeom prst="rect">
            <a:avLst/>
          </a:prstGeom>
          <a:noFill/>
          <a:ln/>
        </p:spPr>
        <p:txBody>
          <a:bodyPr wrap="square" rtlCol="0" anchor="ctr"/>
          <a:lstStyle/>
          <a:p>
            <a:pPr marL="0" indent="0">
              <a:buNone/>
            </a:pPr>
            <a:r>
              <a:rPr lang="en-US" sz="1250" dirty="0">
                <a:solidFill>
                  <a:srgbClr val="1B2B34"/>
                </a:solidFill>
                <a:latin typeface="Calibri" pitchFamily="34" charset="0"/>
                <a:ea typeface="Calibri" pitchFamily="34" charset="-122"/>
                <a:cs typeface="Calibri" pitchFamily="34" charset="-120"/>
              </a:rPr>
              <a:t>• Distribution uniforme</a:t>
            </a:r>
            <a:endParaRPr lang="en-US" sz="1250" dirty="0"/>
          </a:p>
        </p:txBody>
      </p:sp>
      <p:sp>
        <p:nvSpPr>
          <p:cNvPr id="17" name="Text 14"/>
          <p:cNvSpPr/>
          <p:nvPr/>
        </p:nvSpPr>
        <p:spPr>
          <a:xfrm>
            <a:off x="4572000" y="3108960"/>
            <a:ext cx="3108960" cy="548640"/>
          </a:xfrm>
          <a:prstGeom prst="rect">
            <a:avLst/>
          </a:prstGeom>
          <a:noFill/>
          <a:ln/>
        </p:spPr>
        <p:txBody>
          <a:bodyPr wrap="square" rtlCol="0" anchor="ctr"/>
          <a:lstStyle/>
          <a:p>
            <a:pPr marL="0" indent="0">
              <a:buNone/>
            </a:pPr>
            <a:r>
              <a:rPr lang="en-US" sz="1250" dirty="0">
                <a:solidFill>
                  <a:srgbClr val="1B2B34"/>
                </a:solidFill>
                <a:latin typeface="Calibri" pitchFamily="34" charset="0"/>
                <a:ea typeface="Calibri" pitchFamily="34" charset="-122"/>
                <a:cs typeface="Calibri" pitchFamily="34" charset="-120"/>
              </a:rPr>
              <a:t>• Scatter-gather par plage</a:t>
            </a:r>
            <a:endParaRPr lang="en-US" sz="1250" dirty="0"/>
          </a:p>
        </p:txBody>
      </p:sp>
      <p:sp>
        <p:nvSpPr>
          <p:cNvPr id="18" name="Text 15"/>
          <p:cNvSpPr/>
          <p:nvPr/>
        </p:nvSpPr>
        <p:spPr>
          <a:xfrm>
            <a:off x="4572000" y="3703320"/>
            <a:ext cx="3108960" cy="548640"/>
          </a:xfrm>
          <a:prstGeom prst="rect">
            <a:avLst/>
          </a:prstGeom>
          <a:noFill/>
          <a:ln/>
        </p:spPr>
        <p:txBody>
          <a:bodyPr wrap="square" rtlCol="0" anchor="ctr"/>
          <a:lstStyle/>
          <a:p>
            <a:pPr marL="0" indent="0">
              <a:buNone/>
            </a:pPr>
            <a:r>
              <a:rPr lang="en-US" sz="1250" dirty="0">
                <a:solidFill>
                  <a:srgbClr val="1B2B34"/>
                </a:solidFill>
                <a:latin typeface="Calibri" pitchFamily="34" charset="0"/>
                <a:ea typeface="Calibri" pitchFamily="34" charset="-122"/>
                <a:cs typeface="Calibri" pitchFamily="34" charset="-120"/>
              </a:rPr>
              <a:t>• Conformité : non garantie</a:t>
            </a:r>
            <a:endParaRPr lang="en-US" sz="1250" dirty="0"/>
          </a:p>
        </p:txBody>
      </p:sp>
      <p:sp>
        <p:nvSpPr>
          <p:cNvPr id="19" name="Shape 16"/>
          <p:cNvSpPr/>
          <p:nvPr/>
        </p:nvSpPr>
        <p:spPr>
          <a:xfrm>
            <a:off x="8046720" y="1508760"/>
            <a:ext cx="3520440" cy="3566160"/>
          </a:xfrm>
          <a:prstGeom prst="roundRect">
            <a:avLst>
              <a:gd name="adj" fmla="val 3117"/>
            </a:avLst>
          </a:prstGeom>
          <a:solidFill>
            <a:srgbClr val="FFFFFF"/>
          </a:solidFill>
          <a:ln w="12700">
            <a:solidFill>
              <a:srgbClr val="E3EBEC"/>
            </a:solidFill>
            <a:prstDash val="solid"/>
          </a:ln>
          <a:effectLst>
            <a:outerShdw blurRad="101600" dist="38100" dir="2700000" algn="bl" rotWithShape="0">
              <a:srgbClr val="000000">
                <a:alpha val="12000"/>
              </a:srgbClr>
            </a:outerShdw>
          </a:effectLst>
        </p:spPr>
        <p:txBody>
          <a:bodyPr/>
          <a:lstStyle/>
          <a:p>
            <a:endParaRPr lang="fr-SN"/>
          </a:p>
        </p:txBody>
      </p:sp>
      <p:sp>
        <p:nvSpPr>
          <p:cNvPr id="20" name="Shape 17"/>
          <p:cNvSpPr/>
          <p:nvPr/>
        </p:nvSpPr>
        <p:spPr>
          <a:xfrm>
            <a:off x="8046720" y="1508760"/>
            <a:ext cx="3520440" cy="777240"/>
          </a:xfrm>
          <a:prstGeom prst="roundRect">
            <a:avLst>
              <a:gd name="adj" fmla="val 14118"/>
            </a:avLst>
          </a:prstGeom>
          <a:solidFill>
            <a:srgbClr val="06D6A0"/>
          </a:solidFill>
          <a:ln/>
        </p:spPr>
        <p:txBody>
          <a:bodyPr/>
          <a:lstStyle/>
          <a:p>
            <a:endParaRPr lang="fr-SN"/>
          </a:p>
        </p:txBody>
      </p:sp>
      <p:sp>
        <p:nvSpPr>
          <p:cNvPr id="21" name="Text 18"/>
          <p:cNvSpPr/>
          <p:nvPr/>
        </p:nvSpPr>
        <p:spPr>
          <a:xfrm>
            <a:off x="8046720" y="1572768"/>
            <a:ext cx="3520440" cy="41148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Zoned</a:t>
            </a:r>
            <a:endParaRPr lang="en-US" sz="1800" dirty="0"/>
          </a:p>
        </p:txBody>
      </p:sp>
      <p:sp>
        <p:nvSpPr>
          <p:cNvPr id="22" name="Text 19"/>
          <p:cNvSpPr/>
          <p:nvPr/>
        </p:nvSpPr>
        <p:spPr>
          <a:xfrm>
            <a:off x="8046720" y="1947672"/>
            <a:ext cx="3520440" cy="320040"/>
          </a:xfrm>
          <a:prstGeom prst="rect">
            <a:avLst/>
          </a:prstGeom>
          <a:noFill/>
          <a:ln/>
        </p:spPr>
        <p:txBody>
          <a:bodyPr wrap="square" rtlCol="0" anchor="ctr"/>
          <a:lstStyle/>
          <a:p>
            <a:pPr marL="0" indent="0" algn="ctr">
              <a:buNone/>
            </a:pPr>
            <a:r>
              <a:rPr lang="en-US" sz="1150" i="1" dirty="0" err="1">
                <a:solidFill>
                  <a:srgbClr val="FFFFFF"/>
                </a:solidFill>
                <a:latin typeface="Calibri" pitchFamily="34" charset="0"/>
                <a:ea typeface="Calibri" pitchFamily="34" charset="-122"/>
                <a:cs typeface="Calibri" pitchFamily="34" charset="-120"/>
              </a:rPr>
              <a:t>Retenue</a:t>
            </a:r>
            <a:r>
              <a:rPr lang="en-US" sz="1150" i="1" dirty="0">
                <a:solidFill>
                  <a:srgbClr val="FFFFFF"/>
                </a:solidFill>
                <a:latin typeface="Calibri" pitchFamily="34" charset="0"/>
                <a:ea typeface="Calibri" pitchFamily="34" charset="-122"/>
                <a:cs typeface="Calibri" pitchFamily="34" charset="-120"/>
              </a:rPr>
              <a:t> - region + patient_id</a:t>
            </a:r>
            <a:endParaRPr lang="en-US" sz="1150" dirty="0"/>
          </a:p>
        </p:txBody>
      </p:sp>
      <p:sp>
        <p:nvSpPr>
          <p:cNvPr id="23" name="Text 20"/>
          <p:cNvSpPr/>
          <p:nvPr/>
        </p:nvSpPr>
        <p:spPr>
          <a:xfrm>
            <a:off x="8275320" y="2514600"/>
            <a:ext cx="3108960" cy="548640"/>
          </a:xfrm>
          <a:prstGeom prst="rect">
            <a:avLst/>
          </a:prstGeom>
          <a:noFill/>
          <a:ln/>
        </p:spPr>
        <p:txBody>
          <a:bodyPr wrap="square" rtlCol="0" anchor="ctr"/>
          <a:lstStyle/>
          <a:p>
            <a:pPr marL="0" indent="0">
              <a:buNone/>
            </a:pPr>
            <a:r>
              <a:rPr lang="en-US" sz="1250" dirty="0">
                <a:solidFill>
                  <a:srgbClr val="1B2B34"/>
                </a:solidFill>
                <a:latin typeface="Calibri" pitchFamily="34" charset="0"/>
                <a:ea typeface="Calibri" pitchFamily="34" charset="-122"/>
                <a:cs typeface="Calibri" pitchFamily="34" charset="-120"/>
              </a:rPr>
              <a:t>• Uniforme par zone</a:t>
            </a:r>
            <a:endParaRPr lang="en-US" sz="1250" dirty="0"/>
          </a:p>
        </p:txBody>
      </p:sp>
      <p:sp>
        <p:nvSpPr>
          <p:cNvPr id="24" name="Text 21"/>
          <p:cNvSpPr/>
          <p:nvPr/>
        </p:nvSpPr>
        <p:spPr>
          <a:xfrm>
            <a:off x="8275320" y="3108960"/>
            <a:ext cx="3108960" cy="548640"/>
          </a:xfrm>
          <a:prstGeom prst="rect">
            <a:avLst/>
          </a:prstGeom>
          <a:noFill/>
          <a:ln/>
        </p:spPr>
        <p:txBody>
          <a:bodyPr wrap="square" rtlCol="0" anchor="ctr"/>
          <a:lstStyle/>
          <a:p>
            <a:pPr marL="0" indent="0">
              <a:buNone/>
            </a:pPr>
            <a:r>
              <a:rPr lang="en-US" sz="1250" dirty="0">
                <a:solidFill>
                  <a:srgbClr val="1B2B34"/>
                </a:solidFill>
                <a:latin typeface="Calibri" pitchFamily="34" charset="0"/>
                <a:ea typeface="Calibri" pitchFamily="34" charset="-122"/>
                <a:cs typeface="Calibri" pitchFamily="34" charset="-120"/>
              </a:rPr>
              <a:t>• Efficace si dans une zone</a:t>
            </a:r>
            <a:endParaRPr lang="en-US" sz="1250" dirty="0"/>
          </a:p>
        </p:txBody>
      </p:sp>
      <p:sp>
        <p:nvSpPr>
          <p:cNvPr id="25" name="Text 22"/>
          <p:cNvSpPr/>
          <p:nvPr/>
        </p:nvSpPr>
        <p:spPr>
          <a:xfrm>
            <a:off x="8275320" y="3703320"/>
            <a:ext cx="3108960" cy="548640"/>
          </a:xfrm>
          <a:prstGeom prst="rect">
            <a:avLst/>
          </a:prstGeom>
          <a:noFill/>
          <a:ln/>
        </p:spPr>
        <p:txBody>
          <a:bodyPr wrap="square" rtlCol="0" anchor="ctr"/>
          <a:lstStyle/>
          <a:p>
            <a:pPr marL="0" indent="0">
              <a:buNone/>
            </a:pPr>
            <a:r>
              <a:rPr lang="en-US" sz="1250" dirty="0">
                <a:solidFill>
                  <a:srgbClr val="1B2B34"/>
                </a:solidFill>
                <a:latin typeface="Calibri" pitchFamily="34" charset="0"/>
                <a:ea typeface="Calibri" pitchFamily="34" charset="-122"/>
                <a:cs typeface="Calibri" pitchFamily="34" charset="-120"/>
              </a:rPr>
              <a:t>• Conformité : garantie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4 - TYPES DE CLÉS DE SHARDING</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a:solidFill>
                  <a:srgbClr val="0B3D5C"/>
                </a:solidFill>
                <a:latin typeface="Cambria" pitchFamily="34" charset="0"/>
                <a:ea typeface="Cambria" pitchFamily="34" charset="-122"/>
                <a:cs typeface="Cambria" pitchFamily="34" charset="-120"/>
              </a:rPr>
              <a:t>Clés retenues &amp; zone sharding</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sp>
        <p:nvSpPr>
          <p:cNvPr id="6" name="Shape 3"/>
          <p:cNvSpPr/>
          <p:nvPr/>
        </p:nvSpPr>
        <p:spPr>
          <a:xfrm>
            <a:off x="548640" y="1600200"/>
            <a:ext cx="5440680" cy="1965960"/>
          </a:xfrm>
          <a:prstGeom prst="roundRect">
            <a:avLst>
              <a:gd name="adj" fmla="val 3721"/>
            </a:avLst>
          </a:prstGeom>
          <a:solidFill>
            <a:srgbClr val="F4F8FA"/>
          </a:solidFill>
          <a:ln/>
          <a:effectLst>
            <a:outerShdw blurRad="101600" dist="25400" dir="5400000" algn="bl" rotWithShape="0">
              <a:srgbClr val="0B3D5C">
                <a:alpha val="12000"/>
              </a:srgbClr>
            </a:outerShdw>
          </a:effectLst>
        </p:spPr>
      </p:sp>
      <p:sp>
        <p:nvSpPr>
          <p:cNvPr id="7" name="Text 4"/>
          <p:cNvSpPr/>
          <p:nvPr/>
        </p:nvSpPr>
        <p:spPr>
          <a:xfrm>
            <a:off x="822960" y="1783080"/>
            <a:ext cx="4937760" cy="274320"/>
          </a:xfrm>
          <a:prstGeom prst="rect">
            <a:avLst/>
          </a:prstGeom>
          <a:noFill/>
          <a:ln/>
        </p:spPr>
        <p:txBody>
          <a:bodyPr wrap="square" lIns="0" tIns="0" rIns="0" bIns="0" rtlCol="0" anchor="ctr"/>
          <a:lstStyle/>
          <a:p>
            <a:pPr marL="0" indent="0">
              <a:buNone/>
            </a:pPr>
            <a:r>
              <a:rPr lang="en-US" sz="1350" b="1" dirty="0">
                <a:solidFill>
                  <a:srgbClr val="0B3D5C"/>
                </a:solidFill>
                <a:latin typeface="Cambria" pitchFamily="34" charset="0"/>
                <a:ea typeface="Cambria" pitchFamily="34" charset="-122"/>
                <a:cs typeface="Cambria" pitchFamily="34" charset="-120"/>
              </a:rPr>
              <a:t>Collections principales</a:t>
            </a:r>
            <a:endParaRPr lang="en-US" sz="1350" dirty="0"/>
          </a:p>
        </p:txBody>
      </p:sp>
      <p:sp>
        <p:nvSpPr>
          <p:cNvPr id="8" name="Text 5"/>
          <p:cNvSpPr/>
          <p:nvPr/>
        </p:nvSpPr>
        <p:spPr>
          <a:xfrm>
            <a:off x="822960" y="2148840"/>
            <a:ext cx="4937760" cy="1371600"/>
          </a:xfrm>
          <a:prstGeom prst="rect">
            <a:avLst/>
          </a:prstGeom>
          <a:noFill/>
          <a:ln/>
        </p:spPr>
        <p:txBody>
          <a:bodyPr wrap="square" lIns="0" tIns="0" rIns="0" bIns="0" rtlCol="0" anchor="t"/>
          <a:lstStyle/>
          <a:p>
            <a:pPr marL="0" indent="0">
              <a:lnSpc>
                <a:spcPct val="115000"/>
              </a:lnSpc>
              <a:buNone/>
            </a:pPr>
            <a:r>
              <a:rPr lang="en-US" sz="1300" b="1" dirty="0">
                <a:solidFill>
                  <a:srgbClr val="1C7293"/>
                </a:solidFill>
                <a:latin typeface="Consolas" pitchFamily="34" charset="0"/>
                <a:ea typeface="Consolas" pitchFamily="34" charset="-122"/>
                <a:cs typeface="Consolas" pitchFamily="34" charset="-120"/>
              </a:rPr>
              <a:t>{ patient_id: "hashed" }
</a:t>
            </a:r>
            <a:r>
              <a:rPr lang="en-US" sz="1100" dirty="0">
                <a:solidFill>
                  <a:srgbClr val="55636E"/>
                </a:solidFill>
              </a:rPr>
              <a:t>Patients, Consultations, Prescriptions, AnalysesMedicales — distribution uniforme, sans hotspot
</a:t>
            </a:r>
            <a:r>
              <a:rPr lang="en-US" sz="1300" b="1" dirty="0">
                <a:solidFill>
                  <a:srgbClr val="1C7293"/>
                </a:solidFill>
                <a:latin typeface="Consolas" pitchFamily="34" charset="0"/>
                <a:ea typeface="Consolas" pitchFamily="34" charset="-122"/>
                <a:cs typeface="Consolas" pitchFamily="34" charset="-120"/>
              </a:rPr>
              <a:t>{ medecin_id: 1, date_rdv: 1 }
</a:t>
            </a:r>
            <a:r>
              <a:rPr lang="en-US" sz="1100" dirty="0">
                <a:solidFill>
                  <a:srgbClr val="55636E"/>
                </a:solidFill>
              </a:rPr>
              <a:t>RendezVous — clé composite adaptée aux requêtes de planning par médecin</a:t>
            </a:r>
            <a:endParaRPr lang="en-US" sz="1300" dirty="0"/>
          </a:p>
        </p:txBody>
      </p:sp>
      <p:sp>
        <p:nvSpPr>
          <p:cNvPr id="9" name="Shape 6"/>
          <p:cNvSpPr/>
          <p:nvPr/>
        </p:nvSpPr>
        <p:spPr>
          <a:xfrm>
            <a:off x="548640" y="3703320"/>
            <a:ext cx="5440680" cy="2377440"/>
          </a:xfrm>
          <a:prstGeom prst="roundRect">
            <a:avLst>
              <a:gd name="adj" fmla="val 3077"/>
            </a:avLst>
          </a:prstGeom>
          <a:solidFill>
            <a:srgbClr val="0B3D5C"/>
          </a:solidFill>
          <a:ln/>
        </p:spPr>
      </p:sp>
      <p:sp>
        <p:nvSpPr>
          <p:cNvPr id="10" name="Text 7"/>
          <p:cNvSpPr/>
          <p:nvPr/>
        </p:nvSpPr>
        <p:spPr>
          <a:xfrm>
            <a:off x="822960" y="3886200"/>
            <a:ext cx="493776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Zone sharding — PatientsZoned</a:t>
            </a:r>
            <a:endParaRPr lang="en-US" sz="1350" dirty="0"/>
          </a:p>
        </p:txBody>
      </p:sp>
      <p:sp>
        <p:nvSpPr>
          <p:cNvPr id="11" name="Text 8"/>
          <p:cNvSpPr/>
          <p:nvPr/>
        </p:nvSpPr>
        <p:spPr>
          <a:xfrm>
            <a:off x="822960" y="4206240"/>
            <a:ext cx="4937760" cy="274320"/>
          </a:xfrm>
          <a:prstGeom prst="rect">
            <a:avLst/>
          </a:prstGeom>
          <a:noFill/>
          <a:ln/>
        </p:spPr>
        <p:txBody>
          <a:bodyPr wrap="square" lIns="0" tIns="0" rIns="0" bIns="0" rtlCol="0" anchor="ctr"/>
          <a:lstStyle/>
          <a:p>
            <a:pPr marL="0" indent="0">
              <a:buNone/>
            </a:pPr>
            <a:r>
              <a:rPr lang="en-US" sz="1250" b="1" dirty="0">
                <a:solidFill>
                  <a:srgbClr val="02C39A"/>
                </a:solidFill>
                <a:latin typeface="Consolas" pitchFamily="34" charset="0"/>
                <a:ea typeface="Consolas" pitchFamily="34" charset="-122"/>
                <a:cs typeface="Consolas" pitchFamily="34" charset="-120"/>
              </a:rPr>
              <a:t>{ region: 1, patient_id: "hashed" }</a:t>
            </a:r>
            <a:endParaRPr lang="en-US" sz="1250" dirty="0"/>
          </a:p>
        </p:txBody>
      </p:sp>
      <p:sp>
        <p:nvSpPr>
          <p:cNvPr id="12" name="Text 9"/>
          <p:cNvSpPr/>
          <p:nvPr/>
        </p:nvSpPr>
        <p:spPr>
          <a:xfrm>
            <a:off x="822960" y="4526280"/>
            <a:ext cx="4937760" cy="685800"/>
          </a:xfrm>
          <a:prstGeom prst="rect">
            <a:avLst/>
          </a:prstGeom>
          <a:noFill/>
          <a:ln/>
        </p:spPr>
        <p:txBody>
          <a:bodyPr wrap="square" lIns="0" tIns="0" rIns="0" bIns="0" rtlCol="0" anchor="t"/>
          <a:lstStyle/>
          <a:p>
            <a:pPr marL="0" indent="0">
              <a:lnSpc>
                <a:spcPct val="115000"/>
              </a:lnSpc>
              <a:buNone/>
            </a:pPr>
            <a:r>
              <a:rPr lang="en-US" sz="1050" dirty="0">
                <a:solidFill>
                  <a:srgbClr val="CADCFC"/>
                </a:solidFill>
                <a:latin typeface="Calibri" pitchFamily="34" charset="0"/>
                <a:ea typeface="Calibri" pitchFamily="34" charset="-122"/>
                <a:cs typeface="Calibri" pitchFamily="34" charset="-120"/>
              </a:rPr>
              <a:t>Chaque shard est taggé selon sa zone géographique — réponse à la contrainte réaliste de résidence des données de santé.</a:t>
            </a:r>
            <a:endParaRPr lang="en-US" sz="1050" dirty="0"/>
          </a:p>
        </p:txBody>
      </p:sp>
      <p:sp>
        <p:nvSpPr>
          <p:cNvPr id="13" name="Shape 10"/>
          <p:cNvSpPr/>
          <p:nvPr/>
        </p:nvSpPr>
        <p:spPr>
          <a:xfrm>
            <a:off x="822960" y="5303520"/>
            <a:ext cx="1207008" cy="640080"/>
          </a:xfrm>
          <a:prstGeom prst="roundRect">
            <a:avLst>
              <a:gd name="adj" fmla="val 8571"/>
            </a:avLst>
          </a:prstGeom>
          <a:solidFill>
            <a:srgbClr val="133C55"/>
          </a:solidFill>
          <a:ln/>
        </p:spPr>
      </p:sp>
      <p:sp>
        <p:nvSpPr>
          <p:cNvPr id="14" name="Text 11"/>
          <p:cNvSpPr/>
          <p:nvPr/>
        </p:nvSpPr>
        <p:spPr>
          <a:xfrm>
            <a:off x="822960" y="5358384"/>
            <a:ext cx="120700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ShardRS1</a:t>
            </a:r>
            <a:endParaRPr lang="en-US" sz="900" dirty="0"/>
          </a:p>
        </p:txBody>
      </p:sp>
      <p:sp>
        <p:nvSpPr>
          <p:cNvPr id="15" name="Text 12"/>
          <p:cNvSpPr/>
          <p:nvPr/>
        </p:nvSpPr>
        <p:spPr>
          <a:xfrm>
            <a:off x="822960" y="5577840"/>
            <a:ext cx="1207008" cy="320040"/>
          </a:xfrm>
          <a:prstGeom prst="rect">
            <a:avLst/>
          </a:prstGeom>
          <a:noFill/>
          <a:ln/>
        </p:spPr>
        <p:txBody>
          <a:bodyPr wrap="square" lIns="0" tIns="0" rIns="0" bIns="0" rtlCol="0" anchor="ctr"/>
          <a:lstStyle/>
          <a:p>
            <a:pPr marL="0" indent="0" algn="ctr">
              <a:buNone/>
            </a:pPr>
            <a:r>
              <a:rPr lang="en-US" sz="800" dirty="0">
                <a:solidFill>
                  <a:srgbClr val="CADCFC"/>
                </a:solidFill>
                <a:latin typeface="Calibri" pitchFamily="34" charset="0"/>
                <a:ea typeface="Calibri" pitchFamily="34" charset="-122"/>
                <a:cs typeface="Calibri" pitchFamily="34" charset="-120"/>
              </a:rPr>
              <a:t>Afrique Ouest</a:t>
            </a:r>
            <a:endParaRPr lang="en-US" sz="800" dirty="0"/>
          </a:p>
        </p:txBody>
      </p:sp>
      <p:sp>
        <p:nvSpPr>
          <p:cNvPr id="16" name="Shape 13"/>
          <p:cNvSpPr/>
          <p:nvPr/>
        </p:nvSpPr>
        <p:spPr>
          <a:xfrm>
            <a:off x="2075688" y="5303520"/>
            <a:ext cx="1207008" cy="640080"/>
          </a:xfrm>
          <a:prstGeom prst="roundRect">
            <a:avLst>
              <a:gd name="adj" fmla="val 8571"/>
            </a:avLst>
          </a:prstGeom>
          <a:solidFill>
            <a:srgbClr val="133C55"/>
          </a:solidFill>
          <a:ln/>
        </p:spPr>
      </p:sp>
      <p:sp>
        <p:nvSpPr>
          <p:cNvPr id="17" name="Text 14"/>
          <p:cNvSpPr/>
          <p:nvPr/>
        </p:nvSpPr>
        <p:spPr>
          <a:xfrm>
            <a:off x="2075688" y="5358384"/>
            <a:ext cx="120700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ShardRS2</a:t>
            </a:r>
            <a:endParaRPr lang="en-US" sz="900" dirty="0"/>
          </a:p>
        </p:txBody>
      </p:sp>
      <p:sp>
        <p:nvSpPr>
          <p:cNvPr id="18" name="Text 15"/>
          <p:cNvSpPr/>
          <p:nvPr/>
        </p:nvSpPr>
        <p:spPr>
          <a:xfrm>
            <a:off x="2075688" y="5577840"/>
            <a:ext cx="1207008" cy="320040"/>
          </a:xfrm>
          <a:prstGeom prst="rect">
            <a:avLst/>
          </a:prstGeom>
          <a:noFill/>
          <a:ln/>
        </p:spPr>
        <p:txBody>
          <a:bodyPr wrap="square" lIns="0" tIns="0" rIns="0" bIns="0" rtlCol="0" anchor="ctr"/>
          <a:lstStyle/>
          <a:p>
            <a:pPr marL="0" indent="0" algn="ctr">
              <a:buNone/>
            </a:pPr>
            <a:r>
              <a:rPr lang="en-US" sz="800" dirty="0">
                <a:solidFill>
                  <a:srgbClr val="CADCFC"/>
                </a:solidFill>
                <a:latin typeface="Calibri" pitchFamily="34" charset="0"/>
                <a:ea typeface="Calibri" pitchFamily="34" charset="-122"/>
                <a:cs typeface="Calibri" pitchFamily="34" charset="-120"/>
              </a:rPr>
              <a:t>Afrique Centr.</a:t>
            </a:r>
            <a:endParaRPr lang="en-US" sz="800" dirty="0"/>
          </a:p>
        </p:txBody>
      </p:sp>
      <p:sp>
        <p:nvSpPr>
          <p:cNvPr id="19" name="Shape 16"/>
          <p:cNvSpPr/>
          <p:nvPr/>
        </p:nvSpPr>
        <p:spPr>
          <a:xfrm>
            <a:off x="3328416" y="5303520"/>
            <a:ext cx="1207008" cy="640080"/>
          </a:xfrm>
          <a:prstGeom prst="roundRect">
            <a:avLst>
              <a:gd name="adj" fmla="val 8571"/>
            </a:avLst>
          </a:prstGeom>
          <a:solidFill>
            <a:srgbClr val="133C55"/>
          </a:solidFill>
          <a:ln/>
        </p:spPr>
      </p:sp>
      <p:sp>
        <p:nvSpPr>
          <p:cNvPr id="20" name="Text 17"/>
          <p:cNvSpPr/>
          <p:nvPr/>
        </p:nvSpPr>
        <p:spPr>
          <a:xfrm>
            <a:off x="3328416" y="5358384"/>
            <a:ext cx="120700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ShardRS3</a:t>
            </a:r>
            <a:endParaRPr lang="en-US" sz="900" dirty="0"/>
          </a:p>
        </p:txBody>
      </p:sp>
      <p:sp>
        <p:nvSpPr>
          <p:cNvPr id="21" name="Text 18"/>
          <p:cNvSpPr/>
          <p:nvPr/>
        </p:nvSpPr>
        <p:spPr>
          <a:xfrm>
            <a:off x="3328416" y="5577840"/>
            <a:ext cx="1207008" cy="320040"/>
          </a:xfrm>
          <a:prstGeom prst="rect">
            <a:avLst/>
          </a:prstGeom>
          <a:noFill/>
          <a:ln/>
        </p:spPr>
        <p:txBody>
          <a:bodyPr wrap="square" lIns="0" tIns="0" rIns="0" bIns="0" rtlCol="0" anchor="ctr"/>
          <a:lstStyle/>
          <a:p>
            <a:pPr marL="0" indent="0" algn="ctr">
              <a:buNone/>
            </a:pPr>
            <a:r>
              <a:rPr lang="en-US" sz="800" dirty="0">
                <a:solidFill>
                  <a:srgbClr val="CADCFC"/>
                </a:solidFill>
                <a:latin typeface="Calibri" pitchFamily="34" charset="0"/>
                <a:ea typeface="Calibri" pitchFamily="34" charset="-122"/>
                <a:cs typeface="Calibri" pitchFamily="34" charset="-120"/>
              </a:rPr>
              <a:t>Europe</a:t>
            </a:r>
            <a:endParaRPr lang="en-US" sz="800" dirty="0"/>
          </a:p>
        </p:txBody>
      </p:sp>
      <p:sp>
        <p:nvSpPr>
          <p:cNvPr id="22" name="Shape 19"/>
          <p:cNvSpPr/>
          <p:nvPr/>
        </p:nvSpPr>
        <p:spPr>
          <a:xfrm>
            <a:off x="4581144" y="5303520"/>
            <a:ext cx="1207008" cy="640080"/>
          </a:xfrm>
          <a:prstGeom prst="roundRect">
            <a:avLst>
              <a:gd name="adj" fmla="val 8571"/>
            </a:avLst>
          </a:prstGeom>
          <a:solidFill>
            <a:srgbClr val="133C55"/>
          </a:solidFill>
          <a:ln/>
        </p:spPr>
      </p:sp>
      <p:sp>
        <p:nvSpPr>
          <p:cNvPr id="23" name="Text 20"/>
          <p:cNvSpPr/>
          <p:nvPr/>
        </p:nvSpPr>
        <p:spPr>
          <a:xfrm>
            <a:off x="4581144" y="5358384"/>
            <a:ext cx="120700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ShardRS4</a:t>
            </a:r>
            <a:endParaRPr lang="en-US" sz="900" dirty="0"/>
          </a:p>
        </p:txBody>
      </p:sp>
      <p:sp>
        <p:nvSpPr>
          <p:cNvPr id="24" name="Text 21"/>
          <p:cNvSpPr/>
          <p:nvPr/>
        </p:nvSpPr>
        <p:spPr>
          <a:xfrm>
            <a:off x="4581144" y="5577840"/>
            <a:ext cx="1207008" cy="320040"/>
          </a:xfrm>
          <a:prstGeom prst="rect">
            <a:avLst/>
          </a:prstGeom>
          <a:noFill/>
          <a:ln/>
        </p:spPr>
        <p:txBody>
          <a:bodyPr wrap="square" lIns="0" tIns="0" rIns="0" bIns="0" rtlCol="0" anchor="ctr"/>
          <a:lstStyle/>
          <a:p>
            <a:pPr marL="0" indent="0" algn="ctr">
              <a:buNone/>
            </a:pPr>
            <a:r>
              <a:rPr lang="en-US" sz="800" dirty="0">
                <a:solidFill>
                  <a:srgbClr val="CADCFC"/>
                </a:solidFill>
                <a:latin typeface="Calibri" pitchFamily="34" charset="0"/>
                <a:ea typeface="Calibri" pitchFamily="34" charset="-122"/>
                <a:cs typeface="Calibri" pitchFamily="34" charset="-120"/>
              </a:rPr>
              <a:t>Amérique</a:t>
            </a:r>
            <a:endParaRPr lang="en-US" sz="800" dirty="0"/>
          </a:p>
        </p:txBody>
      </p:sp>
      <p:sp>
        <p:nvSpPr>
          <p:cNvPr id="25" name="Shape 22"/>
          <p:cNvSpPr/>
          <p:nvPr/>
        </p:nvSpPr>
        <p:spPr>
          <a:xfrm>
            <a:off x="6355080" y="1600200"/>
            <a:ext cx="5303520" cy="4480560"/>
          </a:xfrm>
          <a:prstGeom prst="roundRect">
            <a:avLst>
              <a:gd name="adj" fmla="val 1633"/>
            </a:avLst>
          </a:prstGeom>
          <a:solidFill>
            <a:srgbClr val="F4F8FA"/>
          </a:solidFill>
          <a:ln/>
          <a:effectLst>
            <a:outerShdw blurRad="101600" dist="25400" dir="5400000" algn="bl" rotWithShape="0">
              <a:srgbClr val="0B3D5C">
                <a:alpha val="12000"/>
              </a:srgbClr>
            </a:outerShdw>
          </a:effectLst>
        </p:spPr>
      </p:sp>
      <p:sp>
        <p:nvSpPr>
          <p:cNvPr id="26" name="Text 23"/>
          <p:cNvSpPr/>
          <p:nvPr/>
        </p:nvSpPr>
        <p:spPr>
          <a:xfrm>
            <a:off x="6629400" y="1810512"/>
            <a:ext cx="4754880" cy="502920"/>
          </a:xfrm>
          <a:prstGeom prst="rect">
            <a:avLst/>
          </a:prstGeom>
          <a:noFill/>
          <a:ln/>
        </p:spPr>
        <p:txBody>
          <a:bodyPr wrap="square" lIns="0" tIns="0" rIns="0" bIns="0" rtlCol="0" anchor="ctr"/>
          <a:lstStyle/>
          <a:p>
            <a:pPr marL="0" indent="0">
              <a:buNone/>
            </a:pPr>
            <a:r>
              <a:rPr lang="en-US" sz="1350" b="1" dirty="0">
                <a:solidFill>
                  <a:srgbClr val="0B3D5C"/>
                </a:solidFill>
                <a:latin typeface="Cambria" pitchFamily="34" charset="0"/>
                <a:ea typeface="Cambria" pitchFamily="34" charset="-122"/>
                <a:cs typeface="Cambria" pitchFamily="34" charset="-120"/>
              </a:rPr>
              <a:t>Pourquoi Consultations n’est pas zonée</a:t>
            </a:r>
            <a:endParaRPr lang="en-US" sz="1350" dirty="0"/>
          </a:p>
        </p:txBody>
      </p:sp>
      <p:sp>
        <p:nvSpPr>
          <p:cNvPr id="27" name="Text 24"/>
          <p:cNvSpPr/>
          <p:nvPr/>
        </p:nvSpPr>
        <p:spPr>
          <a:xfrm>
            <a:off x="6629400" y="2331720"/>
            <a:ext cx="4754880" cy="1005840"/>
          </a:xfrm>
          <a:prstGeom prst="rect">
            <a:avLst/>
          </a:prstGeom>
          <a:noFill/>
          <a:ln/>
        </p:spPr>
        <p:txBody>
          <a:bodyPr wrap="square" lIns="0" tIns="0" rIns="0" bIns="0" rtlCol="0" anchor="t"/>
          <a:lstStyle/>
          <a:p>
            <a:pPr marL="0" indent="0">
              <a:lnSpc>
                <a:spcPct val="120000"/>
              </a:lnSpc>
              <a:buNone/>
            </a:pPr>
            <a:r>
              <a:rPr lang="en-US" sz="1150" dirty="0">
                <a:solidFill>
                  <a:srgbClr val="55636E"/>
                </a:solidFill>
                <a:latin typeface="Calibri" pitchFamily="34" charset="0"/>
                <a:ea typeface="Calibri" pitchFamily="34" charset="-122"/>
                <a:cs typeface="Calibri" pitchFamily="34" charset="-120"/>
              </a:rPr>
              <a:t>Le zone sharding est démontré sur PatientsZoned, une collection dédiée : le jeu de données inséré reste volontairement petit (un échantillon par région), l’objectif étant de vérifier le routage — pas la volumétrie.</a:t>
            </a:r>
            <a:endParaRPr lang="en-US" sz="1150" dirty="0"/>
          </a:p>
        </p:txBody>
      </p:sp>
      <p:sp>
        <p:nvSpPr>
          <p:cNvPr id="28" name="Shape 25"/>
          <p:cNvSpPr/>
          <p:nvPr/>
        </p:nvSpPr>
        <p:spPr>
          <a:xfrm>
            <a:off x="6629400" y="3474720"/>
            <a:ext cx="4709160" cy="0"/>
          </a:xfrm>
          <a:prstGeom prst="line">
            <a:avLst/>
          </a:prstGeom>
          <a:noFill/>
          <a:ln w="12700">
            <a:solidFill>
              <a:srgbClr val="DCE4E8"/>
            </a:solidFill>
            <a:prstDash val="solid"/>
          </a:ln>
        </p:spPr>
      </p:sp>
      <p:sp>
        <p:nvSpPr>
          <p:cNvPr id="29" name="Text 26"/>
          <p:cNvSpPr/>
          <p:nvPr/>
        </p:nvSpPr>
        <p:spPr>
          <a:xfrm>
            <a:off x="6629400" y="3611880"/>
            <a:ext cx="475488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Cohérence avec la Partie 5</a:t>
            </a:r>
            <a:endParaRPr lang="en-US" sz="1200" dirty="0"/>
          </a:p>
        </p:txBody>
      </p:sp>
      <p:sp>
        <p:nvSpPr>
          <p:cNvPr id="30" name="Text 27"/>
          <p:cNvSpPr/>
          <p:nvPr/>
        </p:nvSpPr>
        <p:spPr>
          <a:xfrm>
            <a:off x="6629400" y="3931920"/>
            <a:ext cx="4754880" cy="1097280"/>
          </a:xfrm>
          <a:prstGeom prst="rect">
            <a:avLst/>
          </a:prstGeom>
          <a:noFill/>
          <a:ln/>
        </p:spPr>
        <p:txBody>
          <a:bodyPr wrap="square" lIns="0" tIns="0" rIns="0" bIns="0" rtlCol="0" anchor="t"/>
          <a:lstStyle/>
          <a:p>
            <a:pPr marL="0" indent="0">
              <a:lnSpc>
                <a:spcPct val="120000"/>
              </a:lnSpc>
              <a:buNone/>
            </a:pPr>
            <a:r>
              <a:rPr lang="en-US" sz="1100" dirty="0">
                <a:solidFill>
                  <a:srgbClr val="55636E"/>
                </a:solidFill>
                <a:latin typeface="Calibri" pitchFamily="34" charset="0"/>
                <a:ea typeface="Calibri" pitchFamily="34" charset="-122"/>
                <a:cs typeface="Calibri" pitchFamily="34" charset="-120"/>
              </a:rPr>
              <a:t>La répartition du champ region dans le jeu de données Patients (5 000 documents) montre un écart max de ~13% entre les 4 zones — condition nécessaire pour que le zone sharding ait un sens à l’échelle.</a:t>
            </a:r>
            <a:endParaRPr lang="en-US" sz="1100" dirty="0"/>
          </a:p>
        </p:txBody>
      </p:sp>
      <p:sp>
        <p:nvSpPr>
          <p:cNvPr id="31" name="Text 28"/>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32" name="Text 29"/>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4 - TYPES DE CLÉS DE SHARDING</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err="1">
                <a:solidFill>
                  <a:srgbClr val="0B3D5C"/>
                </a:solidFill>
                <a:latin typeface="Cambria" pitchFamily="34" charset="0"/>
                <a:ea typeface="Cambria" pitchFamily="34" charset="-122"/>
                <a:cs typeface="Cambria" pitchFamily="34" charset="-120"/>
              </a:rPr>
              <a:t>Preuve</a:t>
            </a:r>
            <a:r>
              <a:rPr lang="en-US" sz="2800" b="1" dirty="0">
                <a:solidFill>
                  <a:srgbClr val="0B3D5C"/>
                </a:solidFill>
                <a:latin typeface="Cambria" pitchFamily="34" charset="0"/>
                <a:ea typeface="Cambria" pitchFamily="34" charset="-122"/>
                <a:cs typeface="Cambria" pitchFamily="34" charset="-120"/>
              </a:rPr>
              <a:t> </a:t>
            </a:r>
            <a:r>
              <a:rPr lang="en-US" sz="2800" b="1" dirty="0" err="1">
                <a:solidFill>
                  <a:srgbClr val="0B3D5C"/>
                </a:solidFill>
                <a:latin typeface="Cambria" pitchFamily="34" charset="0"/>
                <a:ea typeface="Cambria" pitchFamily="34" charset="-122"/>
                <a:cs typeface="Cambria" pitchFamily="34" charset="-120"/>
              </a:rPr>
              <a:t>mesurée</a:t>
            </a:r>
            <a:r>
              <a:rPr lang="en-US" sz="2800" b="1" dirty="0">
                <a:solidFill>
                  <a:srgbClr val="0B3D5C"/>
                </a:solidFill>
                <a:latin typeface="Cambria" pitchFamily="34" charset="0"/>
                <a:ea typeface="Cambria" pitchFamily="34" charset="-122"/>
                <a:cs typeface="Cambria" pitchFamily="34" charset="-120"/>
              </a:rPr>
              <a:t> : </a:t>
            </a:r>
            <a:r>
              <a:rPr lang="en-US" sz="2800" b="1" dirty="0" err="1">
                <a:solidFill>
                  <a:srgbClr val="0B3D5C"/>
                </a:solidFill>
                <a:latin typeface="Cambria" pitchFamily="34" charset="0"/>
                <a:ea typeface="Cambria" pitchFamily="34" charset="-122"/>
                <a:cs typeface="Cambria" pitchFamily="34" charset="-120"/>
              </a:rPr>
              <a:t>requête</a:t>
            </a:r>
            <a:r>
              <a:rPr lang="en-US" sz="2800" b="1" dirty="0">
                <a:solidFill>
                  <a:srgbClr val="0B3D5C"/>
                </a:solidFill>
                <a:latin typeface="Cambria" pitchFamily="34" charset="0"/>
                <a:ea typeface="Cambria" pitchFamily="34" charset="-122"/>
                <a:cs typeface="Cambria" pitchFamily="34" charset="-120"/>
              </a:rPr>
              <a:t> </a:t>
            </a:r>
            <a:r>
              <a:rPr lang="en-US" sz="2800" b="1" dirty="0" err="1">
                <a:solidFill>
                  <a:srgbClr val="0B3D5C"/>
                </a:solidFill>
                <a:latin typeface="Cambria" pitchFamily="34" charset="0"/>
                <a:ea typeface="Cambria" pitchFamily="34" charset="-122"/>
                <a:cs typeface="Cambria" pitchFamily="34" charset="-120"/>
              </a:rPr>
              <a:t>ciblée</a:t>
            </a:r>
            <a:r>
              <a:rPr lang="en-US" sz="2800" b="1" dirty="0">
                <a:solidFill>
                  <a:srgbClr val="0B3D5C"/>
                </a:solidFill>
                <a:latin typeface="Cambria" pitchFamily="34" charset="0"/>
                <a:ea typeface="Cambria" pitchFamily="34" charset="-122"/>
                <a:cs typeface="Cambria" pitchFamily="34" charset="-120"/>
              </a:rPr>
              <a:t> vs scatter-gather</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sp>
        <p:nvSpPr>
          <p:cNvPr id="6" name="Text 3"/>
          <p:cNvSpPr/>
          <p:nvPr/>
        </p:nvSpPr>
        <p:spPr>
          <a:xfrm>
            <a:off x="548640" y="1645920"/>
            <a:ext cx="10972800" cy="365760"/>
          </a:xfrm>
          <a:prstGeom prst="rect">
            <a:avLst/>
          </a:prstGeom>
          <a:noFill/>
          <a:ln/>
        </p:spPr>
        <p:txBody>
          <a:bodyPr wrap="square" lIns="0" tIns="0" rIns="0" bIns="0" rtlCol="0" anchor="ctr"/>
          <a:lstStyle/>
          <a:p>
            <a:pPr marL="0" indent="0">
              <a:buNone/>
            </a:pPr>
            <a:r>
              <a:rPr lang="en-US" sz="1350" dirty="0">
                <a:solidFill>
                  <a:srgbClr val="55636E"/>
                </a:solidFill>
                <a:latin typeface="Calibri" pitchFamily="34" charset="0"/>
                <a:ea typeface="Calibri" pitchFamily="34" charset="-122"/>
                <a:cs typeface="Calibri" pitchFamily="34" charset="-120"/>
              </a:rPr>
              <a:t>Le plan d’exécution (explain) confirme le gain du zone sharding :</a:t>
            </a:r>
            <a:endParaRPr lang="en-US" sz="1350" dirty="0"/>
          </a:p>
        </p:txBody>
      </p:sp>
      <p:sp>
        <p:nvSpPr>
          <p:cNvPr id="7" name="Shape 4"/>
          <p:cNvSpPr/>
          <p:nvPr/>
        </p:nvSpPr>
        <p:spPr>
          <a:xfrm>
            <a:off x="548640" y="2194560"/>
            <a:ext cx="5440680" cy="3840480"/>
          </a:xfrm>
          <a:prstGeom prst="roundRect">
            <a:avLst>
              <a:gd name="adj" fmla="val 1905"/>
            </a:avLst>
          </a:prstGeom>
          <a:solidFill>
            <a:srgbClr val="F4F8FA"/>
          </a:solidFill>
          <a:ln/>
          <a:effectLst>
            <a:outerShdw blurRad="101600" dist="25400" dir="5400000" algn="bl" rotWithShape="0">
              <a:srgbClr val="0B3D5C">
                <a:alpha val="12000"/>
              </a:srgbClr>
            </a:outerShdw>
          </a:effectLst>
        </p:spPr>
      </p:sp>
      <p:sp>
        <p:nvSpPr>
          <p:cNvPr id="8" name="Text 5"/>
          <p:cNvSpPr/>
          <p:nvPr/>
        </p:nvSpPr>
        <p:spPr>
          <a:xfrm>
            <a:off x="822960" y="2423160"/>
            <a:ext cx="4846320" cy="365760"/>
          </a:xfrm>
          <a:prstGeom prst="rect">
            <a:avLst/>
          </a:prstGeom>
          <a:noFill/>
          <a:ln/>
        </p:spPr>
        <p:txBody>
          <a:bodyPr wrap="square" lIns="0" tIns="0" rIns="0" bIns="0" rtlCol="0" anchor="ctr"/>
          <a:lstStyle/>
          <a:p>
            <a:pPr marL="0" indent="0">
              <a:buNone/>
            </a:pPr>
            <a:r>
              <a:rPr lang="en-US" sz="1350" b="1" dirty="0">
                <a:solidFill>
                  <a:srgbClr val="0B3D5C"/>
                </a:solidFill>
                <a:latin typeface="Cambria" pitchFamily="34" charset="0"/>
                <a:ea typeface="Cambria" pitchFamily="34" charset="-122"/>
                <a:cs typeface="Cambria" pitchFamily="34" charset="-120"/>
              </a:rPr>
              <a:t>Requête ciblée — filtrée par region</a:t>
            </a:r>
            <a:endParaRPr lang="en-US" sz="1350" dirty="0"/>
          </a:p>
        </p:txBody>
      </p:sp>
      <p:sp>
        <p:nvSpPr>
          <p:cNvPr id="9" name="Text 6"/>
          <p:cNvSpPr/>
          <p:nvPr/>
        </p:nvSpPr>
        <p:spPr>
          <a:xfrm>
            <a:off x="822960" y="2834640"/>
            <a:ext cx="4892040" cy="457200"/>
          </a:xfrm>
          <a:prstGeom prst="rect">
            <a:avLst/>
          </a:prstGeom>
          <a:noFill/>
          <a:ln/>
        </p:spPr>
        <p:txBody>
          <a:bodyPr wrap="square" lIns="0" tIns="0" rIns="0" bIns="0" rtlCol="0" anchor="ctr"/>
          <a:lstStyle/>
          <a:p>
            <a:pPr marL="0" indent="0">
              <a:buNone/>
            </a:pPr>
            <a:r>
              <a:rPr lang="en-US" sz="1000" dirty="0">
                <a:solidFill>
                  <a:srgbClr val="1C7293"/>
                </a:solidFill>
                <a:latin typeface="Consolas" pitchFamily="34" charset="0"/>
                <a:ea typeface="Consolas" pitchFamily="34" charset="-122"/>
                <a:cs typeface="Consolas" pitchFamily="34" charset="-120"/>
              </a:rPr>
              <a:t>db.PatientsZoned.find({ region: "AFRIQUE_OUEST" })</a:t>
            </a:r>
            <a:endParaRPr lang="en-US" sz="1000" dirty="0"/>
          </a:p>
        </p:txBody>
      </p:sp>
      <p:sp>
        <p:nvSpPr>
          <p:cNvPr id="10" name="Shape 7"/>
          <p:cNvSpPr/>
          <p:nvPr/>
        </p:nvSpPr>
        <p:spPr>
          <a:xfrm>
            <a:off x="2834640" y="3520440"/>
            <a:ext cx="822960" cy="822960"/>
          </a:xfrm>
          <a:prstGeom prst="ellipse">
            <a:avLst/>
          </a:prstGeom>
          <a:solidFill>
            <a:srgbClr val="FFFFFF"/>
          </a:solidFill>
          <a:ln/>
        </p:spPr>
      </p:sp>
      <p:pic>
        <p:nvPicPr>
          <p:cNvPr id="11" name="Image 1" descr="preencoded.png"/>
          <p:cNvPicPr>
            <a:picLocks noChangeAspect="1"/>
          </p:cNvPicPr>
          <p:nvPr/>
        </p:nvPicPr>
        <p:blipFill>
          <a:blip r:embed="rId4"/>
          <a:stretch>
            <a:fillRect/>
          </a:stretch>
        </p:blipFill>
        <p:spPr>
          <a:xfrm>
            <a:off x="3040380" y="3726180"/>
            <a:ext cx="411480" cy="411480"/>
          </a:xfrm>
          <a:prstGeom prst="rect">
            <a:avLst/>
          </a:prstGeom>
        </p:spPr>
      </p:pic>
      <p:sp>
        <p:nvSpPr>
          <p:cNvPr id="12" name="Text 8"/>
          <p:cNvSpPr/>
          <p:nvPr/>
        </p:nvSpPr>
        <p:spPr>
          <a:xfrm>
            <a:off x="2377440" y="4370832"/>
            <a:ext cx="1737360" cy="274320"/>
          </a:xfrm>
          <a:prstGeom prst="rect">
            <a:avLst/>
          </a:prstGeom>
          <a:noFill/>
          <a:ln/>
        </p:spPr>
        <p:txBody>
          <a:bodyPr wrap="square" lIns="0" tIns="0" rIns="0" bIns="0" rtlCol="0" anchor="ctr"/>
          <a:lstStyle/>
          <a:p>
            <a:pPr marL="0" indent="0" algn="ctr">
              <a:buNone/>
            </a:pPr>
            <a:r>
              <a:rPr lang="en-US" sz="1050" b="1" dirty="0">
                <a:solidFill>
                  <a:srgbClr val="0B3D5C"/>
                </a:solidFill>
                <a:latin typeface="Calibri" pitchFamily="34" charset="0"/>
                <a:ea typeface="Calibri" pitchFamily="34" charset="-122"/>
                <a:cs typeface="Calibri" pitchFamily="34" charset="-120"/>
              </a:rPr>
              <a:t>ShardRS2</a:t>
            </a:r>
            <a:endParaRPr lang="en-US" sz="1050" dirty="0"/>
          </a:p>
        </p:txBody>
      </p:sp>
      <p:sp>
        <p:nvSpPr>
          <p:cNvPr id="13" name="Text 9"/>
          <p:cNvSpPr/>
          <p:nvPr/>
        </p:nvSpPr>
        <p:spPr>
          <a:xfrm>
            <a:off x="822960" y="4846320"/>
            <a:ext cx="4892040" cy="777240"/>
          </a:xfrm>
          <a:prstGeom prst="rect">
            <a:avLst/>
          </a:prstGeom>
          <a:noFill/>
          <a:ln/>
        </p:spPr>
        <p:txBody>
          <a:bodyPr wrap="square" lIns="0" tIns="0" rIns="0" bIns="0" rtlCol="0" anchor="ctr"/>
          <a:lstStyle/>
          <a:p>
            <a:pPr marL="0" indent="0" algn="ctr">
              <a:buNone/>
            </a:pPr>
            <a:r>
              <a:rPr lang="en-US" sz="4000" b="1" dirty="0">
                <a:solidFill>
                  <a:srgbClr val="02C39A"/>
                </a:solidFill>
                <a:latin typeface="Cambria" pitchFamily="34" charset="0"/>
                <a:ea typeface="Cambria" pitchFamily="34" charset="-122"/>
                <a:cs typeface="Cambria" pitchFamily="34" charset="-120"/>
              </a:rPr>
              <a:t>SINGLE_SHARD</a:t>
            </a:r>
            <a:endParaRPr lang="en-US" sz="4000" dirty="0"/>
          </a:p>
        </p:txBody>
      </p:sp>
      <p:sp>
        <p:nvSpPr>
          <p:cNvPr id="14" name="Text 10"/>
          <p:cNvSpPr/>
          <p:nvPr/>
        </p:nvSpPr>
        <p:spPr>
          <a:xfrm>
            <a:off x="822960" y="5596128"/>
            <a:ext cx="4892040" cy="457200"/>
          </a:xfrm>
          <a:prstGeom prst="rect">
            <a:avLst/>
          </a:prstGeom>
          <a:noFill/>
          <a:ln/>
        </p:spPr>
        <p:txBody>
          <a:bodyPr wrap="square" lIns="0" tIns="0" rIns="0" bIns="0" rtlCol="0" anchor="ctr"/>
          <a:lstStyle/>
          <a:p>
            <a:pPr marL="0" indent="0" algn="ctr">
              <a:buNone/>
            </a:pPr>
            <a:r>
              <a:rPr lang="en-US" sz="1150" dirty="0">
                <a:solidFill>
                  <a:srgbClr val="55636E"/>
                </a:solidFill>
                <a:latin typeface="Calibri" pitchFamily="34" charset="0"/>
                <a:ea typeface="Calibri" pitchFamily="34" charset="-122"/>
                <a:cs typeface="Calibri" pitchFamily="34" charset="-120"/>
              </a:rPr>
              <a:t>1 seul shard interrogé</a:t>
            </a:r>
            <a:endParaRPr lang="en-US" sz="1150" dirty="0"/>
          </a:p>
        </p:txBody>
      </p:sp>
      <p:sp>
        <p:nvSpPr>
          <p:cNvPr id="15" name="Shape 11"/>
          <p:cNvSpPr/>
          <p:nvPr/>
        </p:nvSpPr>
        <p:spPr>
          <a:xfrm>
            <a:off x="6199632" y="2194560"/>
            <a:ext cx="5440680" cy="3840480"/>
          </a:xfrm>
          <a:prstGeom prst="roundRect">
            <a:avLst>
              <a:gd name="adj" fmla="val 1905"/>
            </a:avLst>
          </a:prstGeom>
          <a:solidFill>
            <a:srgbClr val="0B3D5C"/>
          </a:solidFill>
          <a:ln/>
        </p:spPr>
      </p:sp>
      <p:sp>
        <p:nvSpPr>
          <p:cNvPr id="16" name="Text 12"/>
          <p:cNvSpPr/>
          <p:nvPr/>
        </p:nvSpPr>
        <p:spPr>
          <a:xfrm>
            <a:off x="6473952" y="2423160"/>
            <a:ext cx="4846320" cy="36576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Sans filtre region — sur Patients (hashed seul)</a:t>
            </a:r>
            <a:endParaRPr lang="en-US" sz="1350" dirty="0"/>
          </a:p>
        </p:txBody>
      </p:sp>
      <p:sp>
        <p:nvSpPr>
          <p:cNvPr id="17" name="Text 13"/>
          <p:cNvSpPr/>
          <p:nvPr/>
        </p:nvSpPr>
        <p:spPr>
          <a:xfrm>
            <a:off x="6473952" y="2834640"/>
            <a:ext cx="4892040" cy="457200"/>
          </a:xfrm>
          <a:prstGeom prst="rect">
            <a:avLst/>
          </a:prstGeom>
          <a:noFill/>
          <a:ln/>
        </p:spPr>
        <p:txBody>
          <a:bodyPr wrap="square" lIns="0" tIns="0" rIns="0" bIns="0" rtlCol="0" anchor="ctr"/>
          <a:lstStyle/>
          <a:p>
            <a:pPr marL="0" indent="0">
              <a:buNone/>
            </a:pPr>
            <a:r>
              <a:rPr lang="en-US" sz="1000" dirty="0">
                <a:solidFill>
                  <a:srgbClr val="7FB3D5"/>
                </a:solidFill>
                <a:latin typeface="Consolas" pitchFamily="34" charset="0"/>
                <a:ea typeface="Consolas" pitchFamily="34" charset="-122"/>
                <a:cs typeface="Consolas" pitchFamily="34" charset="-120"/>
              </a:rPr>
              <a:t>db.Patients.find({})</a:t>
            </a:r>
            <a:endParaRPr lang="en-US" sz="1000" dirty="0"/>
          </a:p>
        </p:txBody>
      </p:sp>
      <p:sp>
        <p:nvSpPr>
          <p:cNvPr id="18" name="Shape 14"/>
          <p:cNvSpPr/>
          <p:nvPr/>
        </p:nvSpPr>
        <p:spPr>
          <a:xfrm>
            <a:off x="6675120" y="3520440"/>
            <a:ext cx="685800" cy="685800"/>
          </a:xfrm>
          <a:prstGeom prst="ellipse">
            <a:avLst/>
          </a:prstGeom>
          <a:solidFill>
            <a:srgbClr val="133C55"/>
          </a:solidFill>
          <a:ln/>
        </p:spPr>
      </p:sp>
      <p:pic>
        <p:nvPicPr>
          <p:cNvPr id="19" name="Image 2" descr="preencoded.png"/>
          <p:cNvPicPr>
            <a:picLocks noChangeAspect="1"/>
          </p:cNvPicPr>
          <p:nvPr/>
        </p:nvPicPr>
        <p:blipFill>
          <a:blip r:embed="rId5"/>
          <a:stretch>
            <a:fillRect/>
          </a:stretch>
        </p:blipFill>
        <p:spPr>
          <a:xfrm>
            <a:off x="6846570" y="3691890"/>
            <a:ext cx="342900" cy="342900"/>
          </a:xfrm>
          <a:prstGeom prst="rect">
            <a:avLst/>
          </a:prstGeom>
        </p:spPr>
      </p:pic>
      <p:sp>
        <p:nvSpPr>
          <p:cNvPr id="20" name="Shape 15"/>
          <p:cNvSpPr/>
          <p:nvPr/>
        </p:nvSpPr>
        <p:spPr>
          <a:xfrm>
            <a:off x="7909560" y="3520440"/>
            <a:ext cx="685800" cy="685800"/>
          </a:xfrm>
          <a:prstGeom prst="ellipse">
            <a:avLst/>
          </a:prstGeom>
          <a:solidFill>
            <a:srgbClr val="133C55"/>
          </a:solidFill>
          <a:ln/>
        </p:spPr>
      </p:sp>
      <p:pic>
        <p:nvPicPr>
          <p:cNvPr id="21" name="Image 3" descr="preencoded.png"/>
          <p:cNvPicPr>
            <a:picLocks noChangeAspect="1"/>
          </p:cNvPicPr>
          <p:nvPr/>
        </p:nvPicPr>
        <p:blipFill>
          <a:blip r:embed="rId5"/>
          <a:stretch>
            <a:fillRect/>
          </a:stretch>
        </p:blipFill>
        <p:spPr>
          <a:xfrm>
            <a:off x="8081010" y="3691890"/>
            <a:ext cx="342900" cy="342900"/>
          </a:xfrm>
          <a:prstGeom prst="rect">
            <a:avLst/>
          </a:prstGeom>
        </p:spPr>
      </p:pic>
      <p:sp>
        <p:nvSpPr>
          <p:cNvPr id="22" name="Shape 16"/>
          <p:cNvSpPr/>
          <p:nvPr/>
        </p:nvSpPr>
        <p:spPr>
          <a:xfrm>
            <a:off x="9144000" y="3520440"/>
            <a:ext cx="685800" cy="685800"/>
          </a:xfrm>
          <a:prstGeom prst="ellipse">
            <a:avLst/>
          </a:prstGeom>
          <a:solidFill>
            <a:srgbClr val="133C55"/>
          </a:solidFill>
          <a:ln/>
        </p:spPr>
      </p:sp>
      <p:pic>
        <p:nvPicPr>
          <p:cNvPr id="23" name="Image 4" descr="preencoded.png"/>
          <p:cNvPicPr>
            <a:picLocks noChangeAspect="1"/>
          </p:cNvPicPr>
          <p:nvPr/>
        </p:nvPicPr>
        <p:blipFill>
          <a:blip r:embed="rId5"/>
          <a:stretch>
            <a:fillRect/>
          </a:stretch>
        </p:blipFill>
        <p:spPr>
          <a:xfrm>
            <a:off x="9315450" y="3691890"/>
            <a:ext cx="342900" cy="342900"/>
          </a:xfrm>
          <a:prstGeom prst="rect">
            <a:avLst/>
          </a:prstGeom>
        </p:spPr>
      </p:pic>
      <p:sp>
        <p:nvSpPr>
          <p:cNvPr id="24" name="Shape 17"/>
          <p:cNvSpPr/>
          <p:nvPr/>
        </p:nvSpPr>
        <p:spPr>
          <a:xfrm>
            <a:off x="10378440" y="3520440"/>
            <a:ext cx="685800" cy="685800"/>
          </a:xfrm>
          <a:prstGeom prst="ellipse">
            <a:avLst/>
          </a:prstGeom>
          <a:solidFill>
            <a:srgbClr val="133C55"/>
          </a:solidFill>
          <a:ln/>
        </p:spPr>
      </p:sp>
      <p:pic>
        <p:nvPicPr>
          <p:cNvPr id="25" name="Image 5" descr="preencoded.png"/>
          <p:cNvPicPr>
            <a:picLocks noChangeAspect="1"/>
          </p:cNvPicPr>
          <p:nvPr/>
        </p:nvPicPr>
        <p:blipFill>
          <a:blip r:embed="rId5"/>
          <a:stretch>
            <a:fillRect/>
          </a:stretch>
        </p:blipFill>
        <p:spPr>
          <a:xfrm>
            <a:off x="10549890" y="3691890"/>
            <a:ext cx="342900" cy="342900"/>
          </a:xfrm>
          <a:prstGeom prst="rect">
            <a:avLst/>
          </a:prstGeom>
        </p:spPr>
      </p:pic>
      <p:sp>
        <p:nvSpPr>
          <p:cNvPr id="26" name="Text 18"/>
          <p:cNvSpPr/>
          <p:nvPr/>
        </p:nvSpPr>
        <p:spPr>
          <a:xfrm>
            <a:off x="6473952" y="4370832"/>
            <a:ext cx="4892040" cy="274320"/>
          </a:xfrm>
          <a:prstGeom prst="rect">
            <a:avLst/>
          </a:prstGeom>
          <a:noFill/>
          <a:ln/>
        </p:spPr>
        <p:txBody>
          <a:bodyPr wrap="square" lIns="0" tIns="0" rIns="0" bIns="0" rtlCol="0" anchor="ctr"/>
          <a:lstStyle/>
          <a:p>
            <a:pPr marL="0" indent="0" algn="ctr">
              <a:buNone/>
            </a:pPr>
            <a:r>
              <a:rPr lang="en-US" sz="1050" b="1" dirty="0">
                <a:solidFill>
                  <a:srgbClr val="CADCFC"/>
                </a:solidFill>
                <a:latin typeface="Calibri" pitchFamily="34" charset="0"/>
                <a:ea typeface="Calibri" pitchFamily="34" charset="-122"/>
                <a:cs typeface="Calibri" pitchFamily="34" charset="-120"/>
              </a:rPr>
              <a:t>4 shards interrogés en parallèle</a:t>
            </a:r>
            <a:endParaRPr lang="en-US" sz="1050" dirty="0"/>
          </a:p>
        </p:txBody>
      </p:sp>
      <p:sp>
        <p:nvSpPr>
          <p:cNvPr id="27" name="Text 19"/>
          <p:cNvSpPr/>
          <p:nvPr/>
        </p:nvSpPr>
        <p:spPr>
          <a:xfrm>
            <a:off x="6473952" y="4846320"/>
            <a:ext cx="4892040" cy="777240"/>
          </a:xfrm>
          <a:prstGeom prst="rect">
            <a:avLst/>
          </a:prstGeom>
          <a:noFill/>
          <a:ln/>
        </p:spPr>
        <p:txBody>
          <a:bodyPr wrap="square" lIns="0" tIns="0" rIns="0" bIns="0" rtlCol="0" anchor="ctr"/>
          <a:lstStyle/>
          <a:p>
            <a:pPr marL="0" indent="0" algn="ctr">
              <a:buNone/>
            </a:pPr>
            <a:r>
              <a:rPr lang="en-US" sz="4000" b="1" dirty="0">
                <a:solidFill>
                  <a:srgbClr val="F2A65A"/>
                </a:solidFill>
                <a:latin typeface="Cambria" pitchFamily="34" charset="0"/>
                <a:ea typeface="Cambria" pitchFamily="34" charset="-122"/>
                <a:cs typeface="Cambria" pitchFamily="34" charset="-120"/>
              </a:rPr>
              <a:t>SHARD_MERGE</a:t>
            </a:r>
            <a:endParaRPr lang="en-US" sz="4000" dirty="0"/>
          </a:p>
        </p:txBody>
      </p:sp>
      <p:sp>
        <p:nvSpPr>
          <p:cNvPr id="28" name="Text 20"/>
          <p:cNvSpPr/>
          <p:nvPr/>
        </p:nvSpPr>
        <p:spPr>
          <a:xfrm>
            <a:off x="6473952" y="5596128"/>
            <a:ext cx="4892040" cy="457200"/>
          </a:xfrm>
          <a:prstGeom prst="rect">
            <a:avLst/>
          </a:prstGeom>
          <a:noFill/>
          <a:ln/>
        </p:spPr>
        <p:txBody>
          <a:bodyPr wrap="square" lIns="0" tIns="0" rIns="0" bIns="0" rtlCol="0" anchor="ctr"/>
          <a:lstStyle/>
          <a:p>
            <a:pPr marL="0" indent="0" algn="ctr">
              <a:buNone/>
            </a:pPr>
            <a:r>
              <a:rPr lang="en-US" sz="1150" dirty="0">
                <a:solidFill>
                  <a:srgbClr val="55636E"/>
                </a:solidFill>
                <a:latin typeface="Calibri" pitchFamily="34" charset="0"/>
                <a:ea typeface="Calibri" pitchFamily="34" charset="-122"/>
                <a:cs typeface="Calibri" pitchFamily="34" charset="-120"/>
              </a:rPr>
              <a:t>les 4 shards sollicités</a:t>
            </a:r>
            <a:endParaRPr lang="en-US" sz="1150" dirty="0"/>
          </a:p>
        </p:txBody>
      </p:sp>
      <p:sp>
        <p:nvSpPr>
          <p:cNvPr id="29" name="Text 21"/>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30" name="Text 22"/>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5 - PERFORMANCES DE REQUÊTES</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a:solidFill>
                  <a:srgbClr val="0B3D5C"/>
                </a:solidFill>
                <a:latin typeface="Cambria" pitchFamily="34" charset="0"/>
                <a:ea typeface="Cambria" pitchFamily="34" charset="-122"/>
                <a:cs typeface="Cambria" pitchFamily="34" charset="-120"/>
              </a:rPr>
              <a:t>Jeu de données &amp; stratégie d’indexation</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sp>
        <p:nvSpPr>
          <p:cNvPr id="6" name="Shape 3"/>
          <p:cNvSpPr/>
          <p:nvPr/>
        </p:nvSpPr>
        <p:spPr>
          <a:xfrm>
            <a:off x="548640" y="1600200"/>
            <a:ext cx="11109960" cy="1234440"/>
          </a:xfrm>
          <a:prstGeom prst="roundRect">
            <a:avLst>
              <a:gd name="adj" fmla="val 5926"/>
            </a:avLst>
          </a:prstGeom>
          <a:solidFill>
            <a:srgbClr val="0B3D5C"/>
          </a:solidFill>
          <a:ln/>
        </p:spPr>
      </p:sp>
      <p:sp>
        <p:nvSpPr>
          <p:cNvPr id="7" name="Text 4"/>
          <p:cNvSpPr/>
          <p:nvPr/>
        </p:nvSpPr>
        <p:spPr>
          <a:xfrm>
            <a:off x="548640" y="1783080"/>
            <a:ext cx="2777490" cy="548640"/>
          </a:xfrm>
          <a:prstGeom prst="rect">
            <a:avLst/>
          </a:prstGeom>
          <a:noFill/>
          <a:ln/>
        </p:spPr>
        <p:txBody>
          <a:bodyPr wrap="square" lIns="0" tIns="0" rIns="0" bIns="0" rtlCol="0" anchor="ctr"/>
          <a:lstStyle/>
          <a:p>
            <a:pPr marL="0" indent="0" algn="ctr">
              <a:buNone/>
            </a:pPr>
            <a:r>
              <a:rPr lang="en-US" sz="2600" b="1" dirty="0">
                <a:solidFill>
                  <a:srgbClr val="02C39A"/>
                </a:solidFill>
                <a:latin typeface="Cambria" pitchFamily="34" charset="0"/>
                <a:ea typeface="Cambria" pitchFamily="34" charset="-122"/>
                <a:cs typeface="Cambria" pitchFamily="34" charset="-120"/>
              </a:rPr>
              <a:t>500</a:t>
            </a:r>
            <a:endParaRPr lang="en-US" sz="2600" dirty="0"/>
          </a:p>
        </p:txBody>
      </p:sp>
      <p:sp>
        <p:nvSpPr>
          <p:cNvPr id="8" name="Text 5"/>
          <p:cNvSpPr/>
          <p:nvPr/>
        </p:nvSpPr>
        <p:spPr>
          <a:xfrm>
            <a:off x="548640" y="2331720"/>
            <a:ext cx="2777490" cy="36576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médecins</a:t>
            </a:r>
            <a:endParaRPr lang="en-US" sz="1100" dirty="0"/>
          </a:p>
        </p:txBody>
      </p:sp>
      <p:sp>
        <p:nvSpPr>
          <p:cNvPr id="9" name="Text 6"/>
          <p:cNvSpPr/>
          <p:nvPr/>
        </p:nvSpPr>
        <p:spPr>
          <a:xfrm>
            <a:off x="3326130" y="1783080"/>
            <a:ext cx="2777490" cy="548640"/>
          </a:xfrm>
          <a:prstGeom prst="rect">
            <a:avLst/>
          </a:prstGeom>
          <a:noFill/>
          <a:ln/>
        </p:spPr>
        <p:txBody>
          <a:bodyPr wrap="square" lIns="0" tIns="0" rIns="0" bIns="0" rtlCol="0" anchor="ctr"/>
          <a:lstStyle/>
          <a:p>
            <a:pPr marL="0" indent="0" algn="ctr">
              <a:buNone/>
            </a:pPr>
            <a:r>
              <a:rPr lang="en-US" sz="2600" b="1" dirty="0">
                <a:solidFill>
                  <a:srgbClr val="02C39A"/>
                </a:solidFill>
                <a:latin typeface="Cambria" pitchFamily="34" charset="0"/>
                <a:ea typeface="Cambria" pitchFamily="34" charset="-122"/>
                <a:cs typeface="Cambria" pitchFamily="34" charset="-120"/>
              </a:rPr>
              <a:t>5 000</a:t>
            </a:r>
            <a:endParaRPr lang="en-US" sz="2600" dirty="0"/>
          </a:p>
        </p:txBody>
      </p:sp>
      <p:sp>
        <p:nvSpPr>
          <p:cNvPr id="10" name="Text 7"/>
          <p:cNvSpPr/>
          <p:nvPr/>
        </p:nvSpPr>
        <p:spPr>
          <a:xfrm>
            <a:off x="3326130" y="2331720"/>
            <a:ext cx="2777490" cy="36576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patients</a:t>
            </a:r>
            <a:endParaRPr lang="en-US" sz="1100" dirty="0"/>
          </a:p>
        </p:txBody>
      </p:sp>
      <p:sp>
        <p:nvSpPr>
          <p:cNvPr id="11" name="Text 8"/>
          <p:cNvSpPr/>
          <p:nvPr/>
        </p:nvSpPr>
        <p:spPr>
          <a:xfrm>
            <a:off x="6103620" y="1783080"/>
            <a:ext cx="2777490" cy="548640"/>
          </a:xfrm>
          <a:prstGeom prst="rect">
            <a:avLst/>
          </a:prstGeom>
          <a:noFill/>
          <a:ln/>
        </p:spPr>
        <p:txBody>
          <a:bodyPr wrap="square" lIns="0" tIns="0" rIns="0" bIns="0" rtlCol="0" anchor="ctr"/>
          <a:lstStyle/>
          <a:p>
            <a:pPr marL="0" indent="0" algn="ctr">
              <a:buNone/>
            </a:pPr>
            <a:r>
              <a:rPr lang="en-US" sz="2600" b="1" dirty="0">
                <a:solidFill>
                  <a:srgbClr val="02C39A"/>
                </a:solidFill>
                <a:latin typeface="Cambria" pitchFamily="34" charset="0"/>
                <a:ea typeface="Cambria" pitchFamily="34" charset="-122"/>
                <a:cs typeface="Cambria" pitchFamily="34" charset="-120"/>
              </a:rPr>
              <a:t>20 000</a:t>
            </a:r>
            <a:endParaRPr lang="en-US" sz="2600" dirty="0"/>
          </a:p>
        </p:txBody>
      </p:sp>
      <p:sp>
        <p:nvSpPr>
          <p:cNvPr id="12" name="Text 9"/>
          <p:cNvSpPr/>
          <p:nvPr/>
        </p:nvSpPr>
        <p:spPr>
          <a:xfrm>
            <a:off x="6103620" y="2331720"/>
            <a:ext cx="2777490" cy="36576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consultations</a:t>
            </a:r>
            <a:endParaRPr lang="en-US" sz="1100" dirty="0"/>
          </a:p>
        </p:txBody>
      </p:sp>
      <p:sp>
        <p:nvSpPr>
          <p:cNvPr id="13" name="Text 10"/>
          <p:cNvSpPr/>
          <p:nvPr/>
        </p:nvSpPr>
        <p:spPr>
          <a:xfrm>
            <a:off x="8881110" y="1783080"/>
            <a:ext cx="2777490" cy="548640"/>
          </a:xfrm>
          <a:prstGeom prst="rect">
            <a:avLst/>
          </a:prstGeom>
          <a:noFill/>
          <a:ln/>
        </p:spPr>
        <p:txBody>
          <a:bodyPr wrap="square" lIns="0" tIns="0" rIns="0" bIns="0" rtlCol="0" anchor="ctr"/>
          <a:lstStyle/>
          <a:p>
            <a:pPr marL="0" indent="0" algn="ctr">
              <a:buNone/>
            </a:pPr>
            <a:r>
              <a:rPr lang="en-US" sz="2600" b="1" dirty="0">
                <a:solidFill>
                  <a:srgbClr val="02C39A"/>
                </a:solidFill>
                <a:latin typeface="Cambria" pitchFamily="34" charset="0"/>
                <a:ea typeface="Cambria" pitchFamily="34" charset="-122"/>
                <a:cs typeface="Cambria" pitchFamily="34" charset="-120"/>
              </a:rPr>
              <a:t>2,5 ans</a:t>
            </a:r>
            <a:endParaRPr lang="en-US" sz="2600" dirty="0"/>
          </a:p>
        </p:txBody>
      </p:sp>
      <p:sp>
        <p:nvSpPr>
          <p:cNvPr id="14" name="Text 11"/>
          <p:cNvSpPr/>
          <p:nvPr/>
        </p:nvSpPr>
        <p:spPr>
          <a:xfrm>
            <a:off x="8881110" y="2331720"/>
            <a:ext cx="2777490" cy="36576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de période couverte</a:t>
            </a:r>
            <a:endParaRPr lang="en-US" sz="1100" dirty="0"/>
          </a:p>
        </p:txBody>
      </p:sp>
      <p:sp>
        <p:nvSpPr>
          <p:cNvPr id="15" name="Text 12"/>
          <p:cNvSpPr/>
          <p:nvPr/>
        </p:nvSpPr>
        <p:spPr>
          <a:xfrm>
            <a:off x="548640" y="2651760"/>
            <a:ext cx="11109960" cy="137160"/>
          </a:xfrm>
          <a:prstGeom prst="rect">
            <a:avLst/>
          </a:prstGeom>
          <a:noFill/>
          <a:ln/>
        </p:spPr>
        <p:txBody>
          <a:bodyPr wrap="square" lIns="0" tIns="0" rIns="0" bIns="0" rtlCol="0" anchor="ctr"/>
          <a:lstStyle/>
          <a:p>
            <a:pPr marL="0" indent="0" algn="ctr">
              <a:buNone/>
            </a:pPr>
            <a:r>
              <a:rPr lang="en-US" sz="900" i="1" dirty="0">
                <a:solidFill>
                  <a:srgbClr val="CADCFC"/>
                </a:solidFill>
                <a:latin typeface="Calibri" pitchFamily="34" charset="0"/>
                <a:ea typeface="Calibri" pitchFamily="34" charset="-122"/>
                <a:cs typeface="Calibri" pitchFamily="34" charset="-120"/>
              </a:rPr>
              <a:t>Jeu de données généré directement sur le cluster, répartition patient / médecin aléatoire uniforme</a:t>
            </a:r>
            <a:endParaRPr lang="en-US" sz="900" dirty="0"/>
          </a:p>
        </p:txBody>
      </p:sp>
      <p:sp>
        <p:nvSpPr>
          <p:cNvPr id="16" name="Text 13"/>
          <p:cNvSpPr/>
          <p:nvPr/>
        </p:nvSpPr>
        <p:spPr>
          <a:xfrm>
            <a:off x="548640" y="3108960"/>
            <a:ext cx="5486400" cy="320040"/>
          </a:xfrm>
          <a:prstGeom prst="rect">
            <a:avLst/>
          </a:prstGeom>
          <a:noFill/>
          <a:ln/>
        </p:spPr>
        <p:txBody>
          <a:bodyPr wrap="square" lIns="0" tIns="0" rIns="0" bIns="0" rtlCol="0" anchor="ctr"/>
          <a:lstStyle/>
          <a:p>
            <a:pPr marL="0" indent="0">
              <a:buNone/>
            </a:pPr>
            <a:r>
              <a:rPr lang="en-US" sz="1450" b="1" dirty="0">
                <a:solidFill>
                  <a:srgbClr val="0B3D5C"/>
                </a:solidFill>
                <a:latin typeface="Cambria" pitchFamily="34" charset="0"/>
                <a:ea typeface="Cambria" pitchFamily="34" charset="-122"/>
                <a:cs typeface="Cambria" pitchFamily="34" charset="-120"/>
              </a:rPr>
              <a:t>Index créés</a:t>
            </a:r>
            <a:endParaRPr lang="en-US" sz="1450" dirty="0"/>
          </a:p>
        </p:txBody>
      </p:sp>
      <p:sp>
        <p:nvSpPr>
          <p:cNvPr id="17" name="Shape 14"/>
          <p:cNvSpPr/>
          <p:nvPr/>
        </p:nvSpPr>
        <p:spPr>
          <a:xfrm>
            <a:off x="548640" y="3520440"/>
            <a:ext cx="11109960" cy="749808"/>
          </a:xfrm>
          <a:prstGeom prst="roundRect">
            <a:avLst>
              <a:gd name="adj" fmla="val 9756"/>
            </a:avLst>
          </a:prstGeom>
          <a:solidFill>
            <a:srgbClr val="F4F8FA"/>
          </a:solidFill>
          <a:ln/>
        </p:spPr>
      </p:sp>
      <p:sp>
        <p:nvSpPr>
          <p:cNvPr id="18" name="Shape 15"/>
          <p:cNvSpPr/>
          <p:nvPr/>
        </p:nvSpPr>
        <p:spPr>
          <a:xfrm>
            <a:off x="777240" y="3639312"/>
            <a:ext cx="502920" cy="502920"/>
          </a:xfrm>
          <a:prstGeom prst="ellipse">
            <a:avLst/>
          </a:prstGeom>
          <a:solidFill>
            <a:srgbClr val="FFFFFF"/>
          </a:solidFill>
          <a:ln/>
        </p:spPr>
      </p:sp>
      <p:pic>
        <p:nvPicPr>
          <p:cNvPr id="19" name="Image 1" descr="preencoded.png"/>
          <p:cNvPicPr>
            <a:picLocks noChangeAspect="1"/>
          </p:cNvPicPr>
          <p:nvPr/>
        </p:nvPicPr>
        <p:blipFill>
          <a:blip r:embed="rId4"/>
          <a:stretch>
            <a:fillRect/>
          </a:stretch>
        </p:blipFill>
        <p:spPr>
          <a:xfrm>
            <a:off x="890397" y="3752469"/>
            <a:ext cx="276606" cy="276606"/>
          </a:xfrm>
          <a:prstGeom prst="rect">
            <a:avLst/>
          </a:prstGeom>
        </p:spPr>
      </p:pic>
      <p:sp>
        <p:nvSpPr>
          <p:cNvPr id="20" name="Text 16"/>
          <p:cNvSpPr/>
          <p:nvPr/>
        </p:nvSpPr>
        <p:spPr>
          <a:xfrm>
            <a:off x="1463040" y="3593592"/>
            <a:ext cx="2377440" cy="621792"/>
          </a:xfrm>
          <a:prstGeom prst="rect">
            <a:avLst/>
          </a:prstGeom>
          <a:noFill/>
          <a:ln/>
        </p:spPr>
        <p:txBody>
          <a:bodyPr wrap="square" lIns="0" tIns="0" rIns="0" bIns="0" rtlCol="0" anchor="ctr"/>
          <a:lstStyle/>
          <a:p>
            <a:pPr marL="0" indent="0">
              <a:buNone/>
            </a:pPr>
            <a:r>
              <a:rPr lang="en-US" sz="1250" b="1" dirty="0">
                <a:solidFill>
                  <a:srgbClr val="0B3D5C"/>
                </a:solidFill>
                <a:latin typeface="Calibri" pitchFamily="34" charset="0"/>
                <a:ea typeface="Calibri" pitchFamily="34" charset="-122"/>
                <a:cs typeface="Calibri" pitchFamily="34" charset="-120"/>
              </a:rPr>
              <a:t>Consultations</a:t>
            </a:r>
            <a:endParaRPr lang="en-US" sz="1250" dirty="0"/>
          </a:p>
        </p:txBody>
      </p:sp>
      <p:sp>
        <p:nvSpPr>
          <p:cNvPr id="21" name="Text 17"/>
          <p:cNvSpPr/>
          <p:nvPr/>
        </p:nvSpPr>
        <p:spPr>
          <a:xfrm>
            <a:off x="3931920" y="3593592"/>
            <a:ext cx="7498080" cy="621792"/>
          </a:xfrm>
          <a:prstGeom prst="rect">
            <a:avLst/>
          </a:prstGeom>
          <a:noFill/>
          <a:ln/>
        </p:spPr>
        <p:txBody>
          <a:bodyPr wrap="square" lIns="0" tIns="0" rIns="0" bIns="0" rtlCol="0" anchor="ctr"/>
          <a:lstStyle/>
          <a:p>
            <a:pPr marL="0" indent="0">
              <a:buNone/>
            </a:pPr>
            <a:r>
              <a:rPr lang="en-US" sz="1150" dirty="0">
                <a:solidFill>
                  <a:srgbClr val="1C7293"/>
                </a:solidFill>
                <a:latin typeface="Consolas" pitchFamily="34" charset="0"/>
                <a:ea typeface="Consolas" pitchFamily="34" charset="-122"/>
                <a:cs typeface="Consolas" pitchFamily="34" charset="-120"/>
              </a:rPr>
              <a:t>{ patient_id: 1, date: -1 } et { medecin_id: 1, date: -1 }</a:t>
            </a:r>
            <a:endParaRPr lang="en-US" sz="1150" dirty="0"/>
          </a:p>
        </p:txBody>
      </p:sp>
      <p:sp>
        <p:nvSpPr>
          <p:cNvPr id="22" name="Shape 18"/>
          <p:cNvSpPr/>
          <p:nvPr/>
        </p:nvSpPr>
        <p:spPr>
          <a:xfrm>
            <a:off x="548640" y="4416552"/>
            <a:ext cx="11109960" cy="749808"/>
          </a:xfrm>
          <a:prstGeom prst="roundRect">
            <a:avLst>
              <a:gd name="adj" fmla="val 9756"/>
            </a:avLst>
          </a:prstGeom>
          <a:solidFill>
            <a:srgbClr val="F4F8FA"/>
          </a:solidFill>
          <a:ln/>
        </p:spPr>
      </p:sp>
      <p:sp>
        <p:nvSpPr>
          <p:cNvPr id="23" name="Shape 19"/>
          <p:cNvSpPr/>
          <p:nvPr/>
        </p:nvSpPr>
        <p:spPr>
          <a:xfrm>
            <a:off x="777240" y="4535424"/>
            <a:ext cx="502920" cy="502920"/>
          </a:xfrm>
          <a:prstGeom prst="ellipse">
            <a:avLst/>
          </a:prstGeom>
          <a:solidFill>
            <a:srgbClr val="FFFFFF"/>
          </a:solidFill>
          <a:ln/>
        </p:spPr>
      </p:sp>
      <p:pic>
        <p:nvPicPr>
          <p:cNvPr id="24" name="Image 2" descr="preencoded.png"/>
          <p:cNvPicPr>
            <a:picLocks noChangeAspect="1"/>
          </p:cNvPicPr>
          <p:nvPr/>
        </p:nvPicPr>
        <p:blipFill>
          <a:blip r:embed="rId4"/>
          <a:stretch>
            <a:fillRect/>
          </a:stretch>
        </p:blipFill>
        <p:spPr>
          <a:xfrm>
            <a:off x="890397" y="4648581"/>
            <a:ext cx="276606" cy="276606"/>
          </a:xfrm>
          <a:prstGeom prst="rect">
            <a:avLst/>
          </a:prstGeom>
        </p:spPr>
      </p:pic>
      <p:sp>
        <p:nvSpPr>
          <p:cNvPr id="25" name="Text 20"/>
          <p:cNvSpPr/>
          <p:nvPr/>
        </p:nvSpPr>
        <p:spPr>
          <a:xfrm>
            <a:off x="1463040" y="4489704"/>
            <a:ext cx="2377440" cy="621792"/>
          </a:xfrm>
          <a:prstGeom prst="rect">
            <a:avLst/>
          </a:prstGeom>
          <a:noFill/>
          <a:ln/>
        </p:spPr>
        <p:txBody>
          <a:bodyPr wrap="square" lIns="0" tIns="0" rIns="0" bIns="0" rtlCol="0" anchor="ctr"/>
          <a:lstStyle/>
          <a:p>
            <a:pPr marL="0" indent="0">
              <a:buNone/>
            </a:pPr>
            <a:r>
              <a:rPr lang="en-US" sz="1250" b="1" dirty="0">
                <a:solidFill>
                  <a:srgbClr val="0B3D5C"/>
                </a:solidFill>
                <a:latin typeface="Calibri" pitchFamily="34" charset="0"/>
                <a:ea typeface="Calibri" pitchFamily="34" charset="-122"/>
                <a:cs typeface="Calibri" pitchFamily="34" charset="-120"/>
              </a:rPr>
              <a:t>Medecins</a:t>
            </a:r>
            <a:endParaRPr lang="en-US" sz="1250" dirty="0"/>
          </a:p>
        </p:txBody>
      </p:sp>
      <p:sp>
        <p:nvSpPr>
          <p:cNvPr id="26" name="Text 21"/>
          <p:cNvSpPr/>
          <p:nvPr/>
        </p:nvSpPr>
        <p:spPr>
          <a:xfrm>
            <a:off x="3931920" y="4489704"/>
            <a:ext cx="7498080" cy="621792"/>
          </a:xfrm>
          <a:prstGeom prst="rect">
            <a:avLst/>
          </a:prstGeom>
          <a:noFill/>
          <a:ln/>
        </p:spPr>
        <p:txBody>
          <a:bodyPr wrap="square" lIns="0" tIns="0" rIns="0" bIns="0" rtlCol="0" anchor="ctr"/>
          <a:lstStyle/>
          <a:p>
            <a:pPr marL="0" indent="0">
              <a:buNone/>
            </a:pPr>
            <a:r>
              <a:rPr lang="en-US" sz="1150" dirty="0">
                <a:solidFill>
                  <a:srgbClr val="1C7293"/>
                </a:solidFill>
                <a:latin typeface="Consolas" pitchFamily="34" charset="0"/>
                <a:ea typeface="Consolas" pitchFamily="34" charset="-122"/>
                <a:cs typeface="Consolas" pitchFamily="34" charset="-120"/>
              </a:rPr>
              <a:t>{ specialite: 1, region: 1 } + index texte { nom, prenom }</a:t>
            </a:r>
            <a:endParaRPr lang="en-US" sz="1150" dirty="0"/>
          </a:p>
        </p:txBody>
      </p:sp>
      <p:sp>
        <p:nvSpPr>
          <p:cNvPr id="27" name="Shape 22"/>
          <p:cNvSpPr/>
          <p:nvPr/>
        </p:nvSpPr>
        <p:spPr>
          <a:xfrm>
            <a:off x="548640" y="5312664"/>
            <a:ext cx="11109960" cy="749808"/>
          </a:xfrm>
          <a:prstGeom prst="roundRect">
            <a:avLst>
              <a:gd name="adj" fmla="val 9756"/>
            </a:avLst>
          </a:prstGeom>
          <a:solidFill>
            <a:srgbClr val="F4F8FA"/>
          </a:solidFill>
          <a:ln/>
        </p:spPr>
      </p:sp>
      <p:sp>
        <p:nvSpPr>
          <p:cNvPr id="28" name="Shape 23"/>
          <p:cNvSpPr/>
          <p:nvPr/>
        </p:nvSpPr>
        <p:spPr>
          <a:xfrm>
            <a:off x="777240" y="5431536"/>
            <a:ext cx="502920" cy="502920"/>
          </a:xfrm>
          <a:prstGeom prst="ellipse">
            <a:avLst/>
          </a:prstGeom>
          <a:solidFill>
            <a:srgbClr val="FFFFFF"/>
          </a:solidFill>
          <a:ln/>
        </p:spPr>
      </p:sp>
      <p:pic>
        <p:nvPicPr>
          <p:cNvPr id="29" name="Image 3" descr="preencoded.png"/>
          <p:cNvPicPr>
            <a:picLocks noChangeAspect="1"/>
          </p:cNvPicPr>
          <p:nvPr/>
        </p:nvPicPr>
        <p:blipFill>
          <a:blip r:embed="rId4"/>
          <a:stretch>
            <a:fillRect/>
          </a:stretch>
        </p:blipFill>
        <p:spPr>
          <a:xfrm>
            <a:off x="890397" y="5544693"/>
            <a:ext cx="276606" cy="276606"/>
          </a:xfrm>
          <a:prstGeom prst="rect">
            <a:avLst/>
          </a:prstGeom>
        </p:spPr>
      </p:pic>
      <p:sp>
        <p:nvSpPr>
          <p:cNvPr id="30" name="Text 24"/>
          <p:cNvSpPr/>
          <p:nvPr/>
        </p:nvSpPr>
        <p:spPr>
          <a:xfrm>
            <a:off x="1463040" y="5385816"/>
            <a:ext cx="2377440" cy="621792"/>
          </a:xfrm>
          <a:prstGeom prst="rect">
            <a:avLst/>
          </a:prstGeom>
          <a:noFill/>
          <a:ln/>
        </p:spPr>
        <p:txBody>
          <a:bodyPr wrap="square" lIns="0" tIns="0" rIns="0" bIns="0" rtlCol="0" anchor="ctr"/>
          <a:lstStyle/>
          <a:p>
            <a:pPr marL="0" indent="0">
              <a:buNone/>
            </a:pPr>
            <a:r>
              <a:rPr lang="en-US" sz="1250" b="1" dirty="0">
                <a:solidFill>
                  <a:srgbClr val="0B3D5C"/>
                </a:solidFill>
                <a:latin typeface="Calibri" pitchFamily="34" charset="0"/>
                <a:ea typeface="Calibri" pitchFamily="34" charset="-122"/>
                <a:cs typeface="Calibri" pitchFamily="34" charset="-120"/>
              </a:rPr>
              <a:t>SessionsActives</a:t>
            </a:r>
            <a:endParaRPr lang="en-US" sz="1250" dirty="0"/>
          </a:p>
        </p:txBody>
      </p:sp>
      <p:sp>
        <p:nvSpPr>
          <p:cNvPr id="31" name="Text 25"/>
          <p:cNvSpPr/>
          <p:nvPr/>
        </p:nvSpPr>
        <p:spPr>
          <a:xfrm>
            <a:off x="3931920" y="5385816"/>
            <a:ext cx="7498080" cy="621792"/>
          </a:xfrm>
          <a:prstGeom prst="rect">
            <a:avLst/>
          </a:prstGeom>
          <a:noFill/>
          <a:ln/>
        </p:spPr>
        <p:txBody>
          <a:bodyPr wrap="square" lIns="0" tIns="0" rIns="0" bIns="0" rtlCol="0" anchor="ctr"/>
          <a:lstStyle/>
          <a:p>
            <a:pPr marL="0" indent="0">
              <a:buNone/>
            </a:pPr>
            <a:r>
              <a:rPr lang="en-US" sz="1150" dirty="0">
                <a:solidFill>
                  <a:srgbClr val="1C7293"/>
                </a:solidFill>
                <a:latin typeface="Consolas" pitchFamily="34" charset="0"/>
                <a:ea typeface="Consolas" pitchFamily="34" charset="-122"/>
                <a:cs typeface="Consolas" pitchFamily="34" charset="-120"/>
              </a:rPr>
              <a:t>Index TTL sur createdAt — purge automatique après 1 heure</a:t>
            </a:r>
            <a:endParaRPr lang="en-US" sz="1150" dirty="0"/>
          </a:p>
        </p:txBody>
      </p:sp>
      <p:sp>
        <p:nvSpPr>
          <p:cNvPr id="32" name="Text 26"/>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33" name="Text 27"/>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57200"/>
            <a:ext cx="457200" cy="457200"/>
          </a:xfrm>
          <a:prstGeom prst="rect">
            <a:avLst/>
          </a:prstGeom>
        </p:spPr>
      </p:pic>
      <p:sp>
        <p:nvSpPr>
          <p:cNvPr id="3" name="Text 0"/>
          <p:cNvSpPr/>
          <p:nvPr/>
        </p:nvSpPr>
        <p:spPr>
          <a:xfrm>
            <a:off x="1143000" y="411480"/>
            <a:ext cx="9601200" cy="548640"/>
          </a:xfrm>
          <a:prstGeom prst="rect">
            <a:avLst/>
          </a:prstGeom>
          <a:noFill/>
          <a:ln/>
        </p:spPr>
        <p:txBody>
          <a:bodyPr wrap="square" rtlCol="0" anchor="ctr"/>
          <a:lstStyle/>
          <a:p>
            <a:pPr marL="0" indent="0">
              <a:buNone/>
            </a:pPr>
            <a:r>
              <a:rPr lang="en-US" sz="2800" b="1" dirty="0">
                <a:solidFill>
                  <a:srgbClr val="0B3D5C"/>
                </a:solidFill>
                <a:latin typeface="Cambria" pitchFamily="34" charset="0"/>
                <a:ea typeface="Cambria" pitchFamily="34" charset="-122"/>
              </a:rPr>
              <a:t>Partie 5 -</a:t>
            </a:r>
            <a:r>
              <a:rPr lang="en-US" sz="2700" b="1" dirty="0">
                <a:solidFill>
                  <a:srgbClr val="1B2B34"/>
                </a:solidFill>
                <a:latin typeface="Calibri" pitchFamily="34" charset="0"/>
                <a:ea typeface="Calibri" pitchFamily="34" charset="-122"/>
                <a:cs typeface="Calibri" pitchFamily="34" charset="-120"/>
              </a:rPr>
              <a:t> </a:t>
            </a:r>
            <a:r>
              <a:rPr lang="en-US" sz="2800" b="1" dirty="0">
                <a:solidFill>
                  <a:srgbClr val="0B3D5C"/>
                </a:solidFill>
                <a:latin typeface="Cambria" pitchFamily="34" charset="0"/>
                <a:ea typeface="Cambria" pitchFamily="34" charset="-122"/>
              </a:rPr>
              <a:t>Performances de </a:t>
            </a:r>
            <a:r>
              <a:rPr lang="en-US" sz="2800" b="1" dirty="0" err="1">
                <a:solidFill>
                  <a:srgbClr val="0B3D5C"/>
                </a:solidFill>
                <a:latin typeface="Cambria" pitchFamily="34" charset="0"/>
                <a:ea typeface="Cambria" pitchFamily="34" charset="-122"/>
              </a:rPr>
              <a:t>requêtes</a:t>
            </a:r>
            <a:endParaRPr lang="en-US" sz="2800" b="1" dirty="0">
              <a:solidFill>
                <a:srgbClr val="0B3D5C"/>
              </a:solidFill>
              <a:latin typeface="Cambria" pitchFamily="34" charset="0"/>
              <a:ea typeface="Cambria" pitchFamily="34" charset="-122"/>
            </a:endParaRPr>
          </a:p>
        </p:txBody>
      </p:sp>
      <p:sp>
        <p:nvSpPr>
          <p:cNvPr id="4" name="Text 1"/>
          <p:cNvSpPr/>
          <p:nvPr/>
        </p:nvSpPr>
        <p:spPr>
          <a:xfrm>
            <a:off x="1143000" y="914400"/>
            <a:ext cx="9144000" cy="365760"/>
          </a:xfrm>
          <a:prstGeom prst="rect">
            <a:avLst/>
          </a:prstGeom>
          <a:noFill/>
          <a:ln/>
        </p:spPr>
        <p:txBody>
          <a:bodyPr wrap="square" rtlCol="0" anchor="ctr"/>
          <a:lstStyle/>
          <a:p>
            <a:pPr marL="0" indent="0">
              <a:buNone/>
            </a:pPr>
            <a:r>
              <a:rPr lang="en-US" sz="1400" i="1" dirty="0">
                <a:solidFill>
                  <a:srgbClr val="5B7A85"/>
                </a:solidFill>
                <a:latin typeface="Calibri" pitchFamily="34" charset="0"/>
                <a:ea typeface="Calibri" pitchFamily="34" charset="-122"/>
                <a:cs typeface="Calibri" pitchFamily="34" charset="-120"/>
              </a:rPr>
              <a:t>Jeu de test : 500 médecins · 5 000 patients · 20 000 consultations</a:t>
            </a:r>
            <a:endParaRPr lang="en-US" sz="1400" dirty="0"/>
          </a:p>
        </p:txBody>
      </p:sp>
      <p:graphicFrame>
        <p:nvGraphicFramePr>
          <p:cNvPr id="5" name="Chart 0"/>
          <p:cNvGraphicFramePr/>
          <p:nvPr/>
        </p:nvGraphicFramePr>
        <p:xfrm>
          <a:off x="640080" y="1554480"/>
          <a:ext cx="603504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6949440" y="1554480"/>
            <a:ext cx="4480560" cy="1920240"/>
          </a:xfrm>
          <a:prstGeom prst="roundRect">
            <a:avLst>
              <a:gd name="adj" fmla="val 5714"/>
            </a:avLst>
          </a:prstGeom>
          <a:solidFill>
            <a:srgbClr val="073B4C"/>
          </a:solidFill>
          <a:ln/>
          <a:effectLst>
            <a:outerShdw blurRad="101600" dist="38100" dir="2700000" algn="bl" rotWithShape="0">
              <a:srgbClr val="000000">
                <a:alpha val="12000"/>
              </a:srgbClr>
            </a:outerShdw>
          </a:effectLst>
        </p:spPr>
        <p:txBody>
          <a:bodyPr/>
          <a:lstStyle/>
          <a:p>
            <a:endParaRPr lang="fr-SN"/>
          </a:p>
        </p:txBody>
      </p:sp>
      <p:sp>
        <p:nvSpPr>
          <p:cNvPr id="7" name="Text 3"/>
          <p:cNvSpPr/>
          <p:nvPr/>
        </p:nvSpPr>
        <p:spPr>
          <a:xfrm>
            <a:off x="6949440" y="1691640"/>
            <a:ext cx="4480560" cy="1005840"/>
          </a:xfrm>
          <a:prstGeom prst="rect">
            <a:avLst/>
          </a:prstGeom>
          <a:noFill/>
          <a:ln/>
        </p:spPr>
        <p:txBody>
          <a:bodyPr wrap="square" rtlCol="0" anchor="ctr"/>
          <a:lstStyle/>
          <a:p>
            <a:pPr marL="0" indent="0" algn="ctr">
              <a:buNone/>
            </a:pPr>
            <a:r>
              <a:rPr lang="en-US" sz="5200" b="1" dirty="0">
                <a:solidFill>
                  <a:srgbClr val="06D6A0"/>
                </a:solidFill>
                <a:latin typeface="Calibri" pitchFamily="34" charset="0"/>
                <a:ea typeface="Calibri" pitchFamily="34" charset="-122"/>
                <a:cs typeface="Calibri" pitchFamily="34" charset="-120"/>
              </a:rPr>
              <a:t>73,1 %</a:t>
            </a:r>
            <a:endParaRPr lang="en-US" sz="5200" dirty="0"/>
          </a:p>
        </p:txBody>
      </p:sp>
      <p:sp>
        <p:nvSpPr>
          <p:cNvPr id="8" name="Text 4"/>
          <p:cNvSpPr/>
          <p:nvPr/>
        </p:nvSpPr>
        <p:spPr>
          <a:xfrm>
            <a:off x="6949440" y="2743200"/>
            <a:ext cx="4480560" cy="54864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de gain sur la requête indexée</a:t>
            </a:r>
            <a:endParaRPr lang="en-US" sz="1400" dirty="0"/>
          </a:p>
        </p:txBody>
      </p:sp>
      <p:sp>
        <p:nvSpPr>
          <p:cNvPr id="9" name="Shape 5"/>
          <p:cNvSpPr/>
          <p:nvPr/>
        </p:nvSpPr>
        <p:spPr>
          <a:xfrm>
            <a:off x="6949440" y="3547335"/>
            <a:ext cx="4480560" cy="3256878"/>
          </a:xfrm>
          <a:prstGeom prst="roundRect">
            <a:avLst>
              <a:gd name="adj" fmla="val 5106"/>
            </a:avLst>
          </a:prstGeom>
          <a:solidFill>
            <a:srgbClr val="F1F7F8"/>
          </a:solidFill>
          <a:ln/>
        </p:spPr>
        <p:txBody>
          <a:bodyPr/>
          <a:lstStyle/>
          <a:p>
            <a:endParaRPr lang="fr-SN" dirty="0"/>
          </a:p>
        </p:txBody>
      </p:sp>
      <p:sp>
        <p:nvSpPr>
          <p:cNvPr id="10" name="Text 6"/>
          <p:cNvSpPr/>
          <p:nvPr/>
        </p:nvSpPr>
        <p:spPr>
          <a:xfrm>
            <a:off x="7110805" y="3677322"/>
            <a:ext cx="4023360" cy="320040"/>
          </a:xfrm>
          <a:prstGeom prst="rect">
            <a:avLst/>
          </a:prstGeom>
          <a:noFill/>
          <a:ln/>
        </p:spPr>
        <p:txBody>
          <a:bodyPr wrap="square" rtlCol="0" anchor="ctr"/>
          <a:lstStyle/>
          <a:p>
            <a:pPr marL="0" indent="0">
              <a:buNone/>
            </a:pPr>
            <a:r>
              <a:rPr lang="en-US" sz="1300" b="1" dirty="0">
                <a:solidFill>
                  <a:srgbClr val="1B2B34"/>
                </a:solidFill>
                <a:latin typeface="Calibri" pitchFamily="34" charset="0"/>
                <a:ea typeface="Calibri" pitchFamily="34" charset="-122"/>
                <a:cs typeface="Calibri" pitchFamily="34" charset="-120"/>
              </a:rPr>
              <a:t>Autres résultats mesurés</a:t>
            </a:r>
            <a:endParaRPr lang="en-US" sz="1300" dirty="0"/>
          </a:p>
        </p:txBody>
      </p:sp>
      <p:sp>
        <p:nvSpPr>
          <p:cNvPr id="11" name="Text 7"/>
          <p:cNvSpPr/>
          <p:nvPr/>
        </p:nvSpPr>
        <p:spPr>
          <a:xfrm>
            <a:off x="7110805" y="4410635"/>
            <a:ext cx="4023360" cy="2468880"/>
          </a:xfrm>
          <a:prstGeom prst="rect">
            <a:avLst/>
          </a:prstGeom>
          <a:noFill/>
          <a:ln/>
        </p:spPr>
        <p:txBody>
          <a:bodyPr wrap="square" rtlCol="0" anchor="ctr"/>
          <a:lstStyle/>
          <a:p>
            <a:pPr marL="0" indent="0">
              <a:lnSpc>
                <a:spcPct val="130000"/>
              </a:lnSpc>
              <a:buNone/>
            </a:pPr>
            <a:r>
              <a:rPr lang="en-US" sz="1250" dirty="0">
                <a:solidFill>
                  <a:srgbClr val="5B7A85"/>
                </a:solidFill>
                <a:latin typeface="Calibri" pitchFamily="34" charset="0"/>
                <a:ea typeface="Calibri" pitchFamily="34" charset="-122"/>
                <a:cs typeface="Calibri" pitchFamily="34" charset="-120"/>
              </a:rPr>
              <a:t>• Requête ciblée (shard key) : 20,6 ms</a:t>
            </a:r>
            <a:endParaRPr lang="en-US" sz="1250" dirty="0"/>
          </a:p>
          <a:p>
            <a:pPr marL="0" indent="0">
              <a:lnSpc>
                <a:spcPct val="130000"/>
              </a:lnSpc>
              <a:buNone/>
            </a:pPr>
            <a:r>
              <a:rPr lang="en-US" sz="1250" dirty="0">
                <a:solidFill>
                  <a:srgbClr val="5B7A85"/>
                </a:solidFill>
                <a:latin typeface="Calibri" pitchFamily="34" charset="0"/>
                <a:ea typeface="Calibri" pitchFamily="34" charset="-122"/>
                <a:cs typeface="Calibri" pitchFamily="34" charset="-120"/>
              </a:rPr>
              <a:t>• Scatter-gather : 26,6 ms</a:t>
            </a:r>
            <a:endParaRPr lang="en-US" sz="1250" dirty="0"/>
          </a:p>
          <a:p>
            <a:pPr marL="0" indent="0">
              <a:lnSpc>
                <a:spcPct val="130000"/>
              </a:lnSpc>
              <a:buNone/>
            </a:pPr>
            <a:r>
              <a:rPr lang="en-US" sz="1250" dirty="0">
                <a:solidFill>
                  <a:srgbClr val="5B7A85"/>
                </a:solidFill>
                <a:latin typeface="Calibri" pitchFamily="34" charset="0"/>
                <a:ea typeface="Calibri" pitchFamily="34" charset="-122"/>
                <a:cs typeface="Calibri" pitchFamily="34" charset="-120"/>
              </a:rPr>
              <a:t>• Agrégation top 10 médecins : 208 </a:t>
            </a:r>
            <a:r>
              <a:rPr lang="en-US" sz="1250" dirty="0" err="1">
                <a:solidFill>
                  <a:srgbClr val="5B7A85"/>
                </a:solidFill>
                <a:latin typeface="Calibri" pitchFamily="34" charset="0"/>
                <a:ea typeface="Calibri" pitchFamily="34" charset="-122"/>
                <a:cs typeface="Calibri" pitchFamily="34" charset="-120"/>
              </a:rPr>
              <a:t>ms</a:t>
            </a:r>
            <a:endParaRPr lang="en-US" sz="1250" dirty="0">
              <a:solidFill>
                <a:srgbClr val="5B7A85"/>
              </a:solidFill>
              <a:latin typeface="Calibri" pitchFamily="34" charset="0"/>
              <a:ea typeface="Calibri" pitchFamily="34" charset="-122"/>
              <a:cs typeface="Calibri" pitchFamily="34" charset="-120"/>
            </a:endParaRPr>
          </a:p>
          <a:p>
            <a:pPr marL="0" indent="0">
              <a:lnSpc>
                <a:spcPct val="130000"/>
              </a:lnSpc>
              <a:buNone/>
            </a:pPr>
            <a:endParaRPr lang="en-US" sz="1250" dirty="0">
              <a:solidFill>
                <a:srgbClr val="5B7A85"/>
              </a:solidFill>
              <a:latin typeface="Calibri" pitchFamily="34" charset="0"/>
              <a:ea typeface="Calibri" pitchFamily="34" charset="-122"/>
              <a:cs typeface="Calibri" pitchFamily="34" charset="-120"/>
            </a:endParaRPr>
          </a:p>
          <a:p>
            <a:pPr>
              <a:lnSpc>
                <a:spcPct val="130000"/>
              </a:lnSpc>
            </a:pPr>
            <a:r>
              <a:rPr lang="en-US" sz="1400" i="1" dirty="0" err="1">
                <a:solidFill>
                  <a:srgbClr val="55636E"/>
                </a:solidFill>
                <a:latin typeface="Calibri" pitchFamily="34" charset="0"/>
                <a:ea typeface="Calibri" pitchFamily="34" charset="-122"/>
                <a:cs typeface="Calibri" pitchFamily="34" charset="-120"/>
              </a:rPr>
              <a:t>L’écart</a:t>
            </a:r>
            <a:r>
              <a:rPr lang="en-US" sz="1400" i="1" dirty="0">
                <a:solidFill>
                  <a:srgbClr val="55636E"/>
                </a:solidFill>
                <a:latin typeface="Calibri" pitchFamily="34" charset="0"/>
                <a:ea typeface="Calibri" pitchFamily="34" charset="-122"/>
                <a:cs typeface="Calibri" pitchFamily="34" charset="-120"/>
              </a:rPr>
              <a:t> </a:t>
            </a:r>
            <a:r>
              <a:rPr lang="en-US" sz="1400" i="1" dirty="0" err="1">
                <a:solidFill>
                  <a:srgbClr val="55636E"/>
                </a:solidFill>
                <a:latin typeface="Calibri" pitchFamily="34" charset="0"/>
                <a:ea typeface="Calibri" pitchFamily="34" charset="-122"/>
                <a:cs typeface="Calibri" pitchFamily="34" charset="-120"/>
              </a:rPr>
              <a:t>modeste</a:t>
            </a:r>
            <a:r>
              <a:rPr lang="en-US" sz="1400" i="1" dirty="0">
                <a:solidFill>
                  <a:srgbClr val="55636E"/>
                </a:solidFill>
                <a:latin typeface="Calibri" pitchFamily="34" charset="0"/>
                <a:ea typeface="Calibri" pitchFamily="34" charset="-122"/>
                <a:cs typeface="Calibri" pitchFamily="34" charset="-120"/>
              </a:rPr>
              <a:t> entre </a:t>
            </a:r>
            <a:r>
              <a:rPr lang="en-US" sz="1400" i="1" dirty="0" err="1">
                <a:solidFill>
                  <a:srgbClr val="55636E"/>
                </a:solidFill>
                <a:latin typeface="Calibri" pitchFamily="34" charset="0"/>
                <a:ea typeface="Calibri" pitchFamily="34" charset="-122"/>
                <a:cs typeface="Calibri" pitchFamily="34" charset="-120"/>
              </a:rPr>
              <a:t>requête</a:t>
            </a:r>
            <a:r>
              <a:rPr lang="en-US" sz="1400" i="1" dirty="0">
                <a:solidFill>
                  <a:srgbClr val="55636E"/>
                </a:solidFill>
                <a:latin typeface="Calibri" pitchFamily="34" charset="0"/>
                <a:ea typeface="Calibri" pitchFamily="34" charset="-122"/>
                <a:cs typeface="Calibri" pitchFamily="34" charset="-120"/>
              </a:rPr>
              <a:t> </a:t>
            </a:r>
            <a:r>
              <a:rPr lang="en-US" sz="1400" i="1" dirty="0" err="1">
                <a:solidFill>
                  <a:srgbClr val="55636E"/>
                </a:solidFill>
                <a:latin typeface="Calibri" pitchFamily="34" charset="0"/>
                <a:ea typeface="Calibri" pitchFamily="34" charset="-122"/>
                <a:cs typeface="Calibri" pitchFamily="34" charset="-120"/>
              </a:rPr>
              <a:t>ciblée</a:t>
            </a:r>
            <a:r>
              <a:rPr lang="en-US" sz="1400" i="1" dirty="0">
                <a:solidFill>
                  <a:srgbClr val="55636E"/>
                </a:solidFill>
                <a:latin typeface="Calibri" pitchFamily="34" charset="0"/>
                <a:ea typeface="Calibri" pitchFamily="34" charset="-122"/>
                <a:cs typeface="Calibri" pitchFamily="34" charset="-120"/>
              </a:rPr>
              <a:t> et scatter-gather (20,6 </a:t>
            </a:r>
            <a:r>
              <a:rPr lang="en-US" sz="1400" i="1" dirty="0" err="1">
                <a:solidFill>
                  <a:srgbClr val="55636E"/>
                </a:solidFill>
                <a:latin typeface="Calibri" pitchFamily="34" charset="0"/>
                <a:ea typeface="Calibri" pitchFamily="34" charset="-122"/>
                <a:cs typeface="Calibri" pitchFamily="34" charset="-120"/>
              </a:rPr>
              <a:t>ms</a:t>
            </a:r>
            <a:r>
              <a:rPr lang="en-US" sz="1400" i="1" dirty="0">
                <a:solidFill>
                  <a:srgbClr val="55636E"/>
                </a:solidFill>
                <a:latin typeface="Calibri" pitchFamily="34" charset="0"/>
                <a:ea typeface="Calibri" pitchFamily="34" charset="-122"/>
                <a:cs typeface="Calibri" pitchFamily="34" charset="-120"/>
              </a:rPr>
              <a:t> vs 26,6 </a:t>
            </a:r>
            <a:r>
              <a:rPr lang="en-US" sz="1400" i="1" dirty="0" err="1">
                <a:solidFill>
                  <a:srgbClr val="55636E"/>
                </a:solidFill>
                <a:latin typeface="Calibri" pitchFamily="34" charset="0"/>
                <a:ea typeface="Calibri" pitchFamily="34" charset="-122"/>
                <a:cs typeface="Calibri" pitchFamily="34" charset="-120"/>
              </a:rPr>
              <a:t>ms</a:t>
            </a:r>
            <a:r>
              <a:rPr lang="en-US" sz="1400" i="1" dirty="0">
                <a:solidFill>
                  <a:srgbClr val="55636E"/>
                </a:solidFill>
                <a:latin typeface="Calibri" pitchFamily="34" charset="0"/>
                <a:ea typeface="Calibri" pitchFamily="34" charset="-122"/>
                <a:cs typeface="Calibri" pitchFamily="34" charset="-120"/>
              </a:rPr>
              <a:t>) </a:t>
            </a:r>
            <a:r>
              <a:rPr lang="en-US" sz="1400" i="1" dirty="0" err="1">
                <a:solidFill>
                  <a:srgbClr val="55636E"/>
                </a:solidFill>
                <a:latin typeface="Calibri" pitchFamily="34" charset="0"/>
                <a:ea typeface="Calibri" pitchFamily="34" charset="-122"/>
                <a:cs typeface="Calibri" pitchFamily="34" charset="-120"/>
              </a:rPr>
              <a:t>s’explique</a:t>
            </a:r>
            <a:r>
              <a:rPr lang="en-US" sz="1400" i="1" dirty="0">
                <a:solidFill>
                  <a:srgbClr val="55636E"/>
                </a:solidFill>
                <a:latin typeface="Calibri" pitchFamily="34" charset="0"/>
                <a:ea typeface="Calibri" pitchFamily="34" charset="-122"/>
                <a:cs typeface="Calibri" pitchFamily="34" charset="-120"/>
              </a:rPr>
              <a:t> par le volume </a:t>
            </a:r>
            <a:r>
              <a:rPr lang="en-US" sz="1400" i="1" dirty="0" err="1">
                <a:solidFill>
                  <a:srgbClr val="55636E"/>
                </a:solidFill>
                <a:latin typeface="Calibri" pitchFamily="34" charset="0"/>
                <a:ea typeface="Calibri" pitchFamily="34" charset="-122"/>
                <a:cs typeface="Calibri" pitchFamily="34" charset="-120"/>
              </a:rPr>
              <a:t>réduit</a:t>
            </a:r>
            <a:r>
              <a:rPr lang="en-US" sz="1400" i="1" dirty="0">
                <a:solidFill>
                  <a:srgbClr val="55636E"/>
                </a:solidFill>
                <a:latin typeface="Calibri" pitchFamily="34" charset="0"/>
                <a:ea typeface="Calibri" pitchFamily="34" charset="-122"/>
                <a:cs typeface="Calibri" pitchFamily="34" charset="-120"/>
              </a:rPr>
              <a:t> du jeu de test (20 000 documents / 4 shards). À volume de production (500 000+ documents), </a:t>
            </a:r>
            <a:r>
              <a:rPr lang="en-US" sz="1400" i="1" dirty="0" err="1">
                <a:solidFill>
                  <a:srgbClr val="55636E"/>
                </a:solidFill>
                <a:latin typeface="Calibri" pitchFamily="34" charset="0"/>
                <a:ea typeface="Calibri" pitchFamily="34" charset="-122"/>
                <a:cs typeface="Calibri" pitchFamily="34" charset="-120"/>
              </a:rPr>
              <a:t>cet</a:t>
            </a:r>
            <a:r>
              <a:rPr lang="en-US" sz="1400" i="1" dirty="0">
                <a:solidFill>
                  <a:srgbClr val="55636E"/>
                </a:solidFill>
                <a:latin typeface="Calibri" pitchFamily="34" charset="0"/>
                <a:ea typeface="Calibri" pitchFamily="34" charset="-122"/>
                <a:cs typeface="Calibri" pitchFamily="34" charset="-120"/>
              </a:rPr>
              <a:t> </a:t>
            </a:r>
            <a:r>
              <a:rPr lang="en-US" sz="1400" i="1" dirty="0" err="1">
                <a:solidFill>
                  <a:srgbClr val="55636E"/>
                </a:solidFill>
                <a:latin typeface="Calibri" pitchFamily="34" charset="0"/>
                <a:ea typeface="Calibri" pitchFamily="34" charset="-122"/>
                <a:cs typeface="Calibri" pitchFamily="34" charset="-120"/>
              </a:rPr>
              <a:t>écart</a:t>
            </a:r>
            <a:r>
              <a:rPr lang="en-US" sz="1400" i="1" dirty="0">
                <a:solidFill>
                  <a:srgbClr val="55636E"/>
                </a:solidFill>
                <a:latin typeface="Calibri" pitchFamily="34" charset="0"/>
                <a:ea typeface="Calibri" pitchFamily="34" charset="-122"/>
                <a:cs typeface="Calibri" pitchFamily="34" charset="-120"/>
              </a:rPr>
              <a:t> se </a:t>
            </a:r>
            <a:r>
              <a:rPr lang="en-US" sz="1400" i="1" dirty="0" err="1">
                <a:solidFill>
                  <a:srgbClr val="55636E"/>
                </a:solidFill>
                <a:latin typeface="Calibri" pitchFamily="34" charset="0"/>
                <a:ea typeface="Calibri" pitchFamily="34" charset="-122"/>
                <a:cs typeface="Calibri" pitchFamily="34" charset="-120"/>
              </a:rPr>
              <a:t>creuserait</a:t>
            </a:r>
            <a:r>
              <a:rPr lang="en-US" sz="1400" i="1" dirty="0">
                <a:solidFill>
                  <a:srgbClr val="55636E"/>
                </a:solidFill>
                <a:latin typeface="Calibri" pitchFamily="34" charset="0"/>
                <a:ea typeface="Calibri" pitchFamily="34" charset="-122"/>
                <a:cs typeface="Calibri" pitchFamily="34" charset="-120"/>
              </a:rPr>
              <a:t> </a:t>
            </a:r>
            <a:r>
              <a:rPr lang="en-US" sz="1400" i="1" dirty="0" err="1">
                <a:solidFill>
                  <a:srgbClr val="55636E"/>
                </a:solidFill>
                <a:latin typeface="Calibri" pitchFamily="34" charset="0"/>
                <a:ea typeface="Calibri" pitchFamily="34" charset="-122"/>
                <a:cs typeface="Calibri" pitchFamily="34" charset="-120"/>
              </a:rPr>
              <a:t>fortement</a:t>
            </a:r>
            <a:r>
              <a:rPr lang="en-US" sz="1400" i="1" dirty="0">
                <a:solidFill>
                  <a:srgbClr val="55636E"/>
                </a:solidFill>
                <a:latin typeface="Calibri" pitchFamily="34" charset="0"/>
                <a:ea typeface="Calibri" pitchFamily="34" charset="-122"/>
                <a:cs typeface="Calibri" pitchFamily="34" charset="-120"/>
              </a:rPr>
              <a:t>.</a:t>
            </a:r>
            <a:endParaRPr lang="en-US" sz="1400" dirty="0"/>
          </a:p>
          <a:p>
            <a:pPr marL="0" indent="0">
              <a:lnSpc>
                <a:spcPct val="130000"/>
              </a:lnSpc>
              <a:buNone/>
            </a:pPr>
            <a:endParaRPr lang="en-US" sz="1250" dirty="0">
              <a:solidFill>
                <a:srgbClr val="5B7A85"/>
              </a:solidFill>
              <a:latin typeface="Calibri" pitchFamily="34" charset="0"/>
              <a:ea typeface="Calibri" pitchFamily="34" charset="-122"/>
              <a:cs typeface="Calibri" pitchFamily="34" charset="-120"/>
            </a:endParaRPr>
          </a:p>
          <a:p>
            <a:pPr marL="0" indent="0">
              <a:lnSpc>
                <a:spcPct val="130000"/>
              </a:lnSpc>
              <a:buNone/>
            </a:pPr>
            <a:endParaRPr lang="en-US" sz="1250" dirty="0">
              <a:solidFill>
                <a:srgbClr val="5B7A85"/>
              </a:solidFill>
              <a:latin typeface="Calibri" pitchFamily="34" charset="0"/>
              <a:ea typeface="Calibri" pitchFamily="34" charset="-122"/>
              <a:cs typeface="Calibri" pitchFamily="34" charset="-120"/>
            </a:endParaRPr>
          </a:p>
          <a:p>
            <a:pPr marL="0" indent="0">
              <a:lnSpc>
                <a:spcPct val="130000"/>
              </a:lnSpc>
              <a:buNone/>
            </a:pP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5 - PERFORMANCES DE REQUÊTES</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a:solidFill>
                  <a:srgbClr val="0B3D5C"/>
                </a:solidFill>
                <a:latin typeface="Cambria" pitchFamily="34" charset="0"/>
                <a:ea typeface="Cambria" pitchFamily="34" charset="-122"/>
                <a:cs typeface="Cambria" pitchFamily="34" charset="-120"/>
              </a:rPr>
              <a:t>Pipelines d’agrégation validés</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sp>
        <p:nvSpPr>
          <p:cNvPr id="6" name="Shape 3"/>
          <p:cNvSpPr/>
          <p:nvPr/>
        </p:nvSpPr>
        <p:spPr>
          <a:xfrm>
            <a:off x="548640" y="1691640"/>
            <a:ext cx="3566160" cy="4206240"/>
          </a:xfrm>
          <a:prstGeom prst="roundRect">
            <a:avLst>
              <a:gd name="adj" fmla="val 2051"/>
            </a:avLst>
          </a:prstGeom>
          <a:solidFill>
            <a:srgbClr val="F4F8FA"/>
          </a:solidFill>
          <a:ln/>
          <a:effectLst>
            <a:outerShdw blurRad="101600" dist="25400" dir="5400000" algn="bl" rotWithShape="0">
              <a:srgbClr val="0B3D5C">
                <a:alpha val="12000"/>
              </a:srgbClr>
            </a:outerShdw>
          </a:effectLst>
        </p:spPr>
      </p:sp>
      <p:sp>
        <p:nvSpPr>
          <p:cNvPr id="7" name="Shape 4"/>
          <p:cNvSpPr/>
          <p:nvPr/>
        </p:nvSpPr>
        <p:spPr>
          <a:xfrm>
            <a:off x="822960" y="1965960"/>
            <a:ext cx="594360" cy="594360"/>
          </a:xfrm>
          <a:prstGeom prst="ellipse">
            <a:avLst/>
          </a:prstGeom>
          <a:solidFill>
            <a:srgbClr val="FFFFFF"/>
          </a:solidFill>
          <a:ln/>
        </p:spPr>
      </p:sp>
      <p:pic>
        <p:nvPicPr>
          <p:cNvPr id="8" name="Image 1" descr="preencoded.png"/>
          <p:cNvPicPr>
            <a:picLocks noChangeAspect="1"/>
          </p:cNvPicPr>
          <p:nvPr/>
        </p:nvPicPr>
        <p:blipFill>
          <a:blip r:embed="rId4"/>
          <a:stretch>
            <a:fillRect/>
          </a:stretch>
        </p:blipFill>
        <p:spPr>
          <a:xfrm>
            <a:off x="956691" y="2099691"/>
            <a:ext cx="326898" cy="326898"/>
          </a:xfrm>
          <a:prstGeom prst="rect">
            <a:avLst/>
          </a:prstGeom>
        </p:spPr>
      </p:pic>
      <p:sp>
        <p:nvSpPr>
          <p:cNvPr id="9" name="Text 5"/>
          <p:cNvSpPr/>
          <p:nvPr/>
        </p:nvSpPr>
        <p:spPr>
          <a:xfrm>
            <a:off x="822960" y="2743200"/>
            <a:ext cx="3017520" cy="777240"/>
          </a:xfrm>
          <a:prstGeom prst="rect">
            <a:avLst/>
          </a:prstGeom>
          <a:noFill/>
          <a:ln/>
        </p:spPr>
        <p:txBody>
          <a:bodyPr wrap="square" lIns="0" tIns="0" rIns="0" bIns="0" rtlCol="0" anchor="t"/>
          <a:lstStyle/>
          <a:p>
            <a:pPr marL="0" indent="0">
              <a:buNone/>
            </a:pPr>
            <a:r>
              <a:rPr lang="en-US" sz="1400" b="1" dirty="0">
                <a:solidFill>
                  <a:srgbClr val="0B3D5C"/>
                </a:solidFill>
                <a:latin typeface="Cambria" pitchFamily="34" charset="0"/>
                <a:ea typeface="Cambria" pitchFamily="34" charset="-122"/>
                <a:cs typeface="Cambria" pitchFamily="34" charset="-120"/>
              </a:rPr>
              <a:t>Top 10 des médecins les plus consultés</a:t>
            </a:r>
            <a:endParaRPr lang="en-US" sz="1400" dirty="0"/>
          </a:p>
        </p:txBody>
      </p:sp>
      <p:sp>
        <p:nvSpPr>
          <p:cNvPr id="10" name="Text 6"/>
          <p:cNvSpPr/>
          <p:nvPr/>
        </p:nvSpPr>
        <p:spPr>
          <a:xfrm>
            <a:off x="822960" y="3520440"/>
            <a:ext cx="3017520" cy="2194560"/>
          </a:xfrm>
          <a:prstGeom prst="rect">
            <a:avLst/>
          </a:prstGeom>
          <a:noFill/>
          <a:ln/>
        </p:spPr>
        <p:txBody>
          <a:bodyPr wrap="square" lIns="0" tIns="0" rIns="0" bIns="0" rtlCol="0" anchor="t"/>
          <a:lstStyle/>
          <a:p>
            <a:pPr marL="0" indent="0">
              <a:lnSpc>
                <a:spcPct val="120000"/>
              </a:lnSpc>
              <a:buNone/>
            </a:pPr>
            <a:r>
              <a:rPr lang="en-US" sz="1100" dirty="0">
                <a:solidFill>
                  <a:srgbClr val="55636E"/>
                </a:solidFill>
                <a:latin typeface="Calibri" pitchFamily="34" charset="0"/>
                <a:ea typeface="Calibri" pitchFamily="34" charset="-122"/>
                <a:cs typeface="Calibri" pitchFamily="34" charset="-120"/>
              </a:rPr>
              <a:t>Jointure $lookup sur Medecins pour enrichir le classement par nom et spécialité.</a:t>
            </a:r>
            <a:endParaRPr lang="en-US" sz="1100" dirty="0"/>
          </a:p>
        </p:txBody>
      </p:sp>
      <p:sp>
        <p:nvSpPr>
          <p:cNvPr id="11" name="Shape 7"/>
          <p:cNvSpPr/>
          <p:nvPr/>
        </p:nvSpPr>
        <p:spPr>
          <a:xfrm>
            <a:off x="4343400" y="1691640"/>
            <a:ext cx="3566160" cy="4206240"/>
          </a:xfrm>
          <a:prstGeom prst="roundRect">
            <a:avLst>
              <a:gd name="adj" fmla="val 2051"/>
            </a:avLst>
          </a:prstGeom>
          <a:solidFill>
            <a:srgbClr val="F4F8FA"/>
          </a:solidFill>
          <a:ln/>
          <a:effectLst>
            <a:outerShdw blurRad="101600" dist="25400" dir="5400000" algn="bl" rotWithShape="0">
              <a:srgbClr val="0B3D5C">
                <a:alpha val="12000"/>
              </a:srgbClr>
            </a:outerShdw>
          </a:effectLst>
        </p:spPr>
      </p:sp>
      <p:sp>
        <p:nvSpPr>
          <p:cNvPr id="12" name="Shape 8"/>
          <p:cNvSpPr/>
          <p:nvPr/>
        </p:nvSpPr>
        <p:spPr>
          <a:xfrm>
            <a:off x="4617720" y="1965960"/>
            <a:ext cx="594360" cy="594360"/>
          </a:xfrm>
          <a:prstGeom prst="ellipse">
            <a:avLst/>
          </a:prstGeom>
          <a:solidFill>
            <a:srgbClr val="FFFFFF"/>
          </a:solidFill>
          <a:ln/>
        </p:spPr>
      </p:sp>
      <p:pic>
        <p:nvPicPr>
          <p:cNvPr id="13" name="Image 2" descr="preencoded.png"/>
          <p:cNvPicPr>
            <a:picLocks noChangeAspect="1"/>
          </p:cNvPicPr>
          <p:nvPr/>
        </p:nvPicPr>
        <p:blipFill>
          <a:blip r:embed="rId5"/>
          <a:stretch>
            <a:fillRect/>
          </a:stretch>
        </p:blipFill>
        <p:spPr>
          <a:xfrm>
            <a:off x="4751451" y="2099691"/>
            <a:ext cx="326898" cy="326898"/>
          </a:xfrm>
          <a:prstGeom prst="rect">
            <a:avLst/>
          </a:prstGeom>
        </p:spPr>
      </p:pic>
      <p:sp>
        <p:nvSpPr>
          <p:cNvPr id="14" name="Text 9"/>
          <p:cNvSpPr/>
          <p:nvPr/>
        </p:nvSpPr>
        <p:spPr>
          <a:xfrm>
            <a:off x="4617720" y="2743200"/>
            <a:ext cx="3017520" cy="777240"/>
          </a:xfrm>
          <a:prstGeom prst="rect">
            <a:avLst/>
          </a:prstGeom>
          <a:noFill/>
          <a:ln/>
        </p:spPr>
        <p:txBody>
          <a:bodyPr wrap="square" lIns="0" tIns="0" rIns="0" bIns="0" rtlCol="0" anchor="t"/>
          <a:lstStyle/>
          <a:p>
            <a:pPr marL="0" indent="0">
              <a:buNone/>
            </a:pPr>
            <a:r>
              <a:rPr lang="en-US" sz="1400" b="1" dirty="0">
                <a:solidFill>
                  <a:srgbClr val="0B3D5C"/>
                </a:solidFill>
                <a:latin typeface="Cambria" pitchFamily="34" charset="0"/>
                <a:ea typeface="Cambria" pitchFamily="34" charset="-122"/>
                <a:cs typeface="Cambria" pitchFamily="34" charset="-120"/>
              </a:rPr>
              <a:t>Volume de consultations par mois</a:t>
            </a:r>
            <a:endParaRPr lang="en-US" sz="1400" dirty="0"/>
          </a:p>
        </p:txBody>
      </p:sp>
      <p:sp>
        <p:nvSpPr>
          <p:cNvPr id="15" name="Text 10"/>
          <p:cNvSpPr/>
          <p:nvPr/>
        </p:nvSpPr>
        <p:spPr>
          <a:xfrm>
            <a:off x="4617720" y="3520440"/>
            <a:ext cx="3017520" cy="2194560"/>
          </a:xfrm>
          <a:prstGeom prst="rect">
            <a:avLst/>
          </a:prstGeom>
          <a:noFill/>
          <a:ln/>
        </p:spPr>
        <p:txBody>
          <a:bodyPr wrap="square" lIns="0" tIns="0" rIns="0" bIns="0" rtlCol="0" anchor="t"/>
          <a:lstStyle/>
          <a:p>
            <a:pPr marL="0" indent="0">
              <a:lnSpc>
                <a:spcPct val="120000"/>
              </a:lnSpc>
              <a:buNone/>
            </a:pPr>
            <a:r>
              <a:rPr lang="en-US" sz="1100" dirty="0">
                <a:solidFill>
                  <a:srgbClr val="55636E"/>
                </a:solidFill>
                <a:latin typeface="Calibri" pitchFamily="34" charset="0"/>
                <a:ea typeface="Calibri" pitchFamily="34" charset="-122"/>
                <a:cs typeface="Calibri" pitchFamily="34" charset="-120"/>
              </a:rPr>
              <a:t>Tendance d’activité de la plateforme sur les 2,5 ans du jeu de données.</a:t>
            </a:r>
            <a:endParaRPr lang="en-US" sz="1100" dirty="0"/>
          </a:p>
        </p:txBody>
      </p:sp>
      <p:sp>
        <p:nvSpPr>
          <p:cNvPr id="16" name="Shape 11"/>
          <p:cNvSpPr/>
          <p:nvPr/>
        </p:nvSpPr>
        <p:spPr>
          <a:xfrm>
            <a:off x="8138160" y="1691640"/>
            <a:ext cx="3566160" cy="4206240"/>
          </a:xfrm>
          <a:prstGeom prst="roundRect">
            <a:avLst>
              <a:gd name="adj" fmla="val 2051"/>
            </a:avLst>
          </a:prstGeom>
          <a:solidFill>
            <a:srgbClr val="F4F8FA"/>
          </a:solidFill>
          <a:ln/>
          <a:effectLst>
            <a:outerShdw blurRad="101600" dist="25400" dir="5400000" algn="bl" rotWithShape="0">
              <a:srgbClr val="0B3D5C">
                <a:alpha val="12000"/>
              </a:srgbClr>
            </a:outerShdw>
          </a:effectLst>
        </p:spPr>
      </p:sp>
      <p:sp>
        <p:nvSpPr>
          <p:cNvPr id="17" name="Shape 12"/>
          <p:cNvSpPr/>
          <p:nvPr/>
        </p:nvSpPr>
        <p:spPr>
          <a:xfrm>
            <a:off x="8412480" y="1965960"/>
            <a:ext cx="594360" cy="594360"/>
          </a:xfrm>
          <a:prstGeom prst="ellipse">
            <a:avLst/>
          </a:prstGeom>
          <a:solidFill>
            <a:srgbClr val="FFFFFF"/>
          </a:solidFill>
          <a:ln/>
        </p:spPr>
      </p:sp>
      <p:pic>
        <p:nvPicPr>
          <p:cNvPr id="18" name="Image 3" descr="preencoded.png"/>
          <p:cNvPicPr>
            <a:picLocks noChangeAspect="1"/>
          </p:cNvPicPr>
          <p:nvPr/>
        </p:nvPicPr>
        <p:blipFill>
          <a:blip r:embed="rId6"/>
          <a:stretch>
            <a:fillRect/>
          </a:stretch>
        </p:blipFill>
        <p:spPr>
          <a:xfrm>
            <a:off x="8546211" y="2099691"/>
            <a:ext cx="326898" cy="326898"/>
          </a:xfrm>
          <a:prstGeom prst="rect">
            <a:avLst/>
          </a:prstGeom>
        </p:spPr>
      </p:pic>
      <p:sp>
        <p:nvSpPr>
          <p:cNvPr id="19" name="Text 13"/>
          <p:cNvSpPr/>
          <p:nvPr/>
        </p:nvSpPr>
        <p:spPr>
          <a:xfrm>
            <a:off x="8412480" y="2743200"/>
            <a:ext cx="3017520" cy="777240"/>
          </a:xfrm>
          <a:prstGeom prst="rect">
            <a:avLst/>
          </a:prstGeom>
          <a:noFill/>
          <a:ln/>
        </p:spPr>
        <p:txBody>
          <a:bodyPr wrap="square" lIns="0" tIns="0" rIns="0" bIns="0" rtlCol="0" anchor="t"/>
          <a:lstStyle/>
          <a:p>
            <a:pPr marL="0" indent="0">
              <a:buNone/>
            </a:pPr>
            <a:r>
              <a:rPr lang="en-US" sz="1400" b="1" dirty="0">
                <a:solidFill>
                  <a:srgbClr val="0B3D5C"/>
                </a:solidFill>
                <a:latin typeface="Cambria" pitchFamily="34" charset="0"/>
                <a:ea typeface="Cambria" pitchFamily="34" charset="-122"/>
                <a:cs typeface="Cambria" pitchFamily="34" charset="-120"/>
              </a:rPr>
              <a:t>Répartition des patients par région</a:t>
            </a:r>
            <a:endParaRPr lang="en-US" sz="1400" dirty="0"/>
          </a:p>
        </p:txBody>
      </p:sp>
      <p:sp>
        <p:nvSpPr>
          <p:cNvPr id="20" name="Text 14"/>
          <p:cNvSpPr/>
          <p:nvPr/>
        </p:nvSpPr>
        <p:spPr>
          <a:xfrm>
            <a:off x="8412480" y="3520440"/>
            <a:ext cx="3017520" cy="2194560"/>
          </a:xfrm>
          <a:prstGeom prst="rect">
            <a:avLst/>
          </a:prstGeom>
          <a:noFill/>
          <a:ln/>
        </p:spPr>
        <p:txBody>
          <a:bodyPr wrap="square" lIns="0" tIns="0" rIns="0" bIns="0" rtlCol="0" anchor="t"/>
          <a:lstStyle/>
          <a:p>
            <a:pPr marL="0" indent="0">
              <a:lnSpc>
                <a:spcPct val="120000"/>
              </a:lnSpc>
              <a:buNone/>
            </a:pPr>
            <a:r>
              <a:rPr lang="en-US" sz="1100" dirty="0">
                <a:solidFill>
                  <a:srgbClr val="55636E"/>
                </a:solidFill>
                <a:latin typeface="Calibri" pitchFamily="34" charset="0"/>
                <a:ea typeface="Calibri" pitchFamily="34" charset="-122"/>
                <a:cs typeface="Calibri" pitchFamily="34" charset="-120"/>
              </a:rPr>
              <a:t>Écart max de ~13% entre les 4 zones sur 5 000 patients — condition nécessaire pour le zone sharding (Partie 4).</a:t>
            </a:r>
            <a:endParaRPr lang="en-US" sz="1100" dirty="0"/>
          </a:p>
        </p:txBody>
      </p:sp>
      <p:sp>
        <p:nvSpPr>
          <p:cNvPr id="21" name="Text 15"/>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22" name="Text 16"/>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57200"/>
            <a:ext cx="457200" cy="457200"/>
          </a:xfrm>
          <a:prstGeom prst="rect">
            <a:avLst/>
          </a:prstGeom>
        </p:spPr>
      </p:pic>
      <p:sp>
        <p:nvSpPr>
          <p:cNvPr id="3" name="Text 0"/>
          <p:cNvSpPr/>
          <p:nvPr/>
        </p:nvSpPr>
        <p:spPr>
          <a:xfrm>
            <a:off x="1143000" y="411480"/>
            <a:ext cx="9601200" cy="548640"/>
          </a:xfrm>
          <a:prstGeom prst="rect">
            <a:avLst/>
          </a:prstGeom>
          <a:noFill/>
          <a:ln/>
        </p:spPr>
        <p:txBody>
          <a:bodyPr wrap="square" rtlCol="0" anchor="ctr"/>
          <a:lstStyle/>
          <a:p>
            <a:pPr marL="0" indent="0">
              <a:buNone/>
            </a:pPr>
            <a:r>
              <a:rPr lang="en-US" sz="2800" b="1" dirty="0">
                <a:solidFill>
                  <a:srgbClr val="0B3D5C"/>
                </a:solidFill>
                <a:latin typeface="Cambria" pitchFamily="34" charset="0"/>
                <a:ea typeface="Cambria" pitchFamily="34" charset="-122"/>
              </a:rPr>
              <a:t>Uniformité du jeu de données par </a:t>
            </a:r>
            <a:r>
              <a:rPr lang="en-US" sz="2800" b="1" dirty="0" err="1">
                <a:solidFill>
                  <a:srgbClr val="0B3D5C"/>
                </a:solidFill>
                <a:latin typeface="Cambria" pitchFamily="34" charset="0"/>
                <a:ea typeface="Cambria" pitchFamily="34" charset="-122"/>
              </a:rPr>
              <a:t>région</a:t>
            </a:r>
            <a:endParaRPr lang="en-US" sz="2800" b="1" dirty="0">
              <a:solidFill>
                <a:srgbClr val="0B3D5C"/>
              </a:solidFill>
              <a:latin typeface="Cambria" pitchFamily="34" charset="0"/>
              <a:ea typeface="Cambria" pitchFamily="34" charset="-122"/>
            </a:endParaRPr>
          </a:p>
        </p:txBody>
      </p:sp>
      <p:sp>
        <p:nvSpPr>
          <p:cNvPr id="4" name="Text 1"/>
          <p:cNvSpPr/>
          <p:nvPr/>
        </p:nvSpPr>
        <p:spPr>
          <a:xfrm>
            <a:off x="1143000" y="914400"/>
            <a:ext cx="9144000" cy="365760"/>
          </a:xfrm>
          <a:prstGeom prst="rect">
            <a:avLst/>
          </a:prstGeom>
          <a:noFill/>
          <a:ln/>
        </p:spPr>
        <p:txBody>
          <a:bodyPr wrap="square" rtlCol="0" anchor="ctr"/>
          <a:lstStyle/>
          <a:p>
            <a:pPr marL="0" indent="0">
              <a:buNone/>
            </a:pPr>
            <a:r>
              <a:rPr lang="en-US" sz="1400" i="1" dirty="0">
                <a:solidFill>
                  <a:srgbClr val="5B7A85"/>
                </a:solidFill>
                <a:latin typeface="Calibri" pitchFamily="34" charset="0"/>
                <a:ea typeface="Calibri" pitchFamily="34" charset="-122"/>
                <a:cs typeface="Calibri" pitchFamily="34" charset="-120"/>
              </a:rPr>
              <a:t>Répartition du champ region sur Patients (générateur) - routage prouvé en 4.4</a:t>
            </a:r>
            <a:endParaRPr lang="en-US" sz="1400" dirty="0"/>
          </a:p>
        </p:txBody>
      </p:sp>
      <p:graphicFrame>
        <p:nvGraphicFramePr>
          <p:cNvPr id="5" name="Chart 0"/>
          <p:cNvGraphicFramePr/>
          <p:nvPr/>
        </p:nvGraphicFramePr>
        <p:xfrm>
          <a:off x="822960" y="1600200"/>
          <a:ext cx="512064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6492240" y="1828800"/>
            <a:ext cx="4937760" cy="777240"/>
          </a:xfrm>
          <a:prstGeom prst="roundRect">
            <a:avLst>
              <a:gd name="adj" fmla="val 9412"/>
            </a:avLst>
          </a:prstGeom>
          <a:solidFill>
            <a:srgbClr val="FFFFFF"/>
          </a:solidFill>
          <a:ln w="12700">
            <a:solidFill>
              <a:srgbClr val="E3EBEC"/>
            </a:solidFill>
            <a:prstDash val="solid"/>
          </a:ln>
        </p:spPr>
        <p:txBody>
          <a:bodyPr/>
          <a:lstStyle/>
          <a:p>
            <a:endParaRPr lang="fr-SN"/>
          </a:p>
        </p:txBody>
      </p:sp>
      <p:sp>
        <p:nvSpPr>
          <p:cNvPr id="7" name="Text 3"/>
          <p:cNvSpPr/>
          <p:nvPr/>
        </p:nvSpPr>
        <p:spPr>
          <a:xfrm>
            <a:off x="6720840" y="1920240"/>
            <a:ext cx="1463040" cy="594360"/>
          </a:xfrm>
          <a:prstGeom prst="rect">
            <a:avLst/>
          </a:prstGeom>
          <a:noFill/>
          <a:ln/>
        </p:spPr>
        <p:txBody>
          <a:bodyPr wrap="square" rtlCol="0" anchor="ctr"/>
          <a:lstStyle/>
          <a:p>
            <a:pPr marL="0" indent="0">
              <a:buNone/>
            </a:pPr>
            <a:r>
              <a:rPr lang="en-US" sz="2400" b="1" dirty="0">
                <a:solidFill>
                  <a:srgbClr val="118AB2"/>
                </a:solidFill>
                <a:latin typeface="Calibri" pitchFamily="34" charset="0"/>
                <a:ea typeface="Calibri" pitchFamily="34" charset="-122"/>
                <a:cs typeface="Calibri" pitchFamily="34" charset="-120"/>
              </a:rPr>
              <a:t>1317</a:t>
            </a:r>
            <a:endParaRPr lang="en-US" sz="2400" dirty="0"/>
          </a:p>
        </p:txBody>
      </p:sp>
      <p:sp>
        <p:nvSpPr>
          <p:cNvPr id="8" name="Text 4"/>
          <p:cNvSpPr/>
          <p:nvPr/>
        </p:nvSpPr>
        <p:spPr>
          <a:xfrm>
            <a:off x="8321040" y="1920240"/>
            <a:ext cx="2926080" cy="594360"/>
          </a:xfrm>
          <a:prstGeom prst="rect">
            <a:avLst/>
          </a:prstGeom>
          <a:noFill/>
          <a:ln/>
        </p:spPr>
        <p:txBody>
          <a:bodyPr wrap="square" rtlCol="0" anchor="ctr"/>
          <a:lstStyle/>
          <a:p>
            <a:pPr marL="0" indent="0">
              <a:buNone/>
            </a:pPr>
            <a:r>
              <a:rPr lang="en-US" sz="1500" dirty="0">
                <a:solidFill>
                  <a:srgbClr val="1B2B34"/>
                </a:solidFill>
                <a:latin typeface="Calibri" pitchFamily="34" charset="0"/>
                <a:ea typeface="Calibri" pitchFamily="34" charset="-122"/>
                <a:cs typeface="Calibri" pitchFamily="34" charset="-120"/>
              </a:rPr>
              <a:t>Amérique</a:t>
            </a:r>
            <a:endParaRPr lang="en-US" sz="1500" dirty="0"/>
          </a:p>
        </p:txBody>
      </p:sp>
      <p:sp>
        <p:nvSpPr>
          <p:cNvPr id="9" name="Shape 5"/>
          <p:cNvSpPr/>
          <p:nvPr/>
        </p:nvSpPr>
        <p:spPr>
          <a:xfrm>
            <a:off x="6492240" y="2788920"/>
            <a:ext cx="4937760" cy="777240"/>
          </a:xfrm>
          <a:prstGeom prst="roundRect">
            <a:avLst>
              <a:gd name="adj" fmla="val 9412"/>
            </a:avLst>
          </a:prstGeom>
          <a:solidFill>
            <a:srgbClr val="F1F7F8"/>
          </a:solidFill>
          <a:ln w="12700">
            <a:solidFill>
              <a:srgbClr val="E3EBEC"/>
            </a:solidFill>
            <a:prstDash val="solid"/>
          </a:ln>
        </p:spPr>
        <p:txBody>
          <a:bodyPr/>
          <a:lstStyle/>
          <a:p>
            <a:endParaRPr lang="fr-SN"/>
          </a:p>
        </p:txBody>
      </p:sp>
      <p:sp>
        <p:nvSpPr>
          <p:cNvPr id="10" name="Text 6"/>
          <p:cNvSpPr/>
          <p:nvPr/>
        </p:nvSpPr>
        <p:spPr>
          <a:xfrm>
            <a:off x="6720840" y="2880360"/>
            <a:ext cx="1463040" cy="594360"/>
          </a:xfrm>
          <a:prstGeom prst="rect">
            <a:avLst/>
          </a:prstGeom>
          <a:noFill/>
          <a:ln/>
        </p:spPr>
        <p:txBody>
          <a:bodyPr wrap="square" rtlCol="0" anchor="ctr"/>
          <a:lstStyle/>
          <a:p>
            <a:pPr marL="0" indent="0">
              <a:buNone/>
            </a:pPr>
            <a:r>
              <a:rPr lang="en-US" sz="2400" b="1" dirty="0">
                <a:solidFill>
                  <a:srgbClr val="118AB2"/>
                </a:solidFill>
                <a:latin typeface="Calibri" pitchFamily="34" charset="0"/>
                <a:ea typeface="Calibri" pitchFamily="34" charset="-122"/>
                <a:cs typeface="Calibri" pitchFamily="34" charset="-120"/>
              </a:rPr>
              <a:t>1265</a:t>
            </a:r>
            <a:endParaRPr lang="en-US" sz="2400" dirty="0"/>
          </a:p>
        </p:txBody>
      </p:sp>
      <p:sp>
        <p:nvSpPr>
          <p:cNvPr id="11" name="Text 7"/>
          <p:cNvSpPr/>
          <p:nvPr/>
        </p:nvSpPr>
        <p:spPr>
          <a:xfrm>
            <a:off x="8321040" y="2880360"/>
            <a:ext cx="2926080" cy="594360"/>
          </a:xfrm>
          <a:prstGeom prst="rect">
            <a:avLst/>
          </a:prstGeom>
          <a:noFill/>
          <a:ln/>
        </p:spPr>
        <p:txBody>
          <a:bodyPr wrap="square" rtlCol="0" anchor="ctr"/>
          <a:lstStyle/>
          <a:p>
            <a:pPr marL="0" indent="0">
              <a:buNone/>
            </a:pPr>
            <a:r>
              <a:rPr lang="en-US" sz="1500" dirty="0">
                <a:solidFill>
                  <a:srgbClr val="1B2B34"/>
                </a:solidFill>
                <a:latin typeface="Calibri" pitchFamily="34" charset="0"/>
                <a:ea typeface="Calibri" pitchFamily="34" charset="-122"/>
                <a:cs typeface="Calibri" pitchFamily="34" charset="-120"/>
              </a:rPr>
              <a:t>Afrique Centrale</a:t>
            </a:r>
            <a:endParaRPr lang="en-US" sz="1500" dirty="0"/>
          </a:p>
        </p:txBody>
      </p:sp>
      <p:sp>
        <p:nvSpPr>
          <p:cNvPr id="12" name="Shape 8"/>
          <p:cNvSpPr/>
          <p:nvPr/>
        </p:nvSpPr>
        <p:spPr>
          <a:xfrm>
            <a:off x="6492240" y="3749040"/>
            <a:ext cx="4937760" cy="777240"/>
          </a:xfrm>
          <a:prstGeom prst="roundRect">
            <a:avLst>
              <a:gd name="adj" fmla="val 9412"/>
            </a:avLst>
          </a:prstGeom>
          <a:solidFill>
            <a:srgbClr val="FFFFFF"/>
          </a:solidFill>
          <a:ln w="12700">
            <a:solidFill>
              <a:srgbClr val="E3EBEC"/>
            </a:solidFill>
            <a:prstDash val="solid"/>
          </a:ln>
        </p:spPr>
        <p:txBody>
          <a:bodyPr/>
          <a:lstStyle/>
          <a:p>
            <a:endParaRPr lang="fr-SN"/>
          </a:p>
        </p:txBody>
      </p:sp>
      <p:sp>
        <p:nvSpPr>
          <p:cNvPr id="13" name="Text 9"/>
          <p:cNvSpPr/>
          <p:nvPr/>
        </p:nvSpPr>
        <p:spPr>
          <a:xfrm>
            <a:off x="6720840" y="3840480"/>
            <a:ext cx="1463040" cy="594360"/>
          </a:xfrm>
          <a:prstGeom prst="rect">
            <a:avLst/>
          </a:prstGeom>
          <a:noFill/>
          <a:ln/>
        </p:spPr>
        <p:txBody>
          <a:bodyPr wrap="square" rtlCol="0" anchor="ctr"/>
          <a:lstStyle/>
          <a:p>
            <a:pPr marL="0" indent="0">
              <a:buNone/>
            </a:pPr>
            <a:r>
              <a:rPr lang="en-US" sz="2400" b="1" dirty="0">
                <a:solidFill>
                  <a:srgbClr val="118AB2"/>
                </a:solidFill>
                <a:latin typeface="Calibri" pitchFamily="34" charset="0"/>
                <a:ea typeface="Calibri" pitchFamily="34" charset="-122"/>
                <a:cs typeface="Calibri" pitchFamily="34" charset="-120"/>
              </a:rPr>
              <a:t>1257</a:t>
            </a:r>
            <a:endParaRPr lang="en-US" sz="2400" dirty="0"/>
          </a:p>
        </p:txBody>
      </p:sp>
      <p:sp>
        <p:nvSpPr>
          <p:cNvPr id="14" name="Text 10"/>
          <p:cNvSpPr/>
          <p:nvPr/>
        </p:nvSpPr>
        <p:spPr>
          <a:xfrm>
            <a:off x="8321040" y="3840480"/>
            <a:ext cx="2926080" cy="594360"/>
          </a:xfrm>
          <a:prstGeom prst="rect">
            <a:avLst/>
          </a:prstGeom>
          <a:noFill/>
          <a:ln/>
        </p:spPr>
        <p:txBody>
          <a:bodyPr wrap="square" rtlCol="0" anchor="ctr"/>
          <a:lstStyle/>
          <a:p>
            <a:pPr marL="0" indent="0">
              <a:buNone/>
            </a:pPr>
            <a:r>
              <a:rPr lang="en-US" sz="1500" dirty="0">
                <a:solidFill>
                  <a:srgbClr val="1B2B34"/>
                </a:solidFill>
                <a:latin typeface="Calibri" pitchFamily="34" charset="0"/>
                <a:ea typeface="Calibri" pitchFamily="34" charset="-122"/>
                <a:cs typeface="Calibri" pitchFamily="34" charset="-120"/>
              </a:rPr>
              <a:t>Europe</a:t>
            </a:r>
            <a:endParaRPr lang="en-US" sz="1500" dirty="0"/>
          </a:p>
        </p:txBody>
      </p:sp>
      <p:sp>
        <p:nvSpPr>
          <p:cNvPr id="15" name="Shape 11"/>
          <p:cNvSpPr/>
          <p:nvPr/>
        </p:nvSpPr>
        <p:spPr>
          <a:xfrm>
            <a:off x="6492240" y="4709160"/>
            <a:ext cx="4937760" cy="777240"/>
          </a:xfrm>
          <a:prstGeom prst="roundRect">
            <a:avLst>
              <a:gd name="adj" fmla="val 9412"/>
            </a:avLst>
          </a:prstGeom>
          <a:solidFill>
            <a:srgbClr val="F1F7F8"/>
          </a:solidFill>
          <a:ln w="12700">
            <a:solidFill>
              <a:srgbClr val="E3EBEC"/>
            </a:solidFill>
            <a:prstDash val="solid"/>
          </a:ln>
        </p:spPr>
        <p:txBody>
          <a:bodyPr/>
          <a:lstStyle/>
          <a:p>
            <a:endParaRPr lang="fr-SN"/>
          </a:p>
        </p:txBody>
      </p:sp>
      <p:sp>
        <p:nvSpPr>
          <p:cNvPr id="16" name="Text 12"/>
          <p:cNvSpPr/>
          <p:nvPr/>
        </p:nvSpPr>
        <p:spPr>
          <a:xfrm>
            <a:off x="6720840" y="4800600"/>
            <a:ext cx="1463040" cy="594360"/>
          </a:xfrm>
          <a:prstGeom prst="rect">
            <a:avLst/>
          </a:prstGeom>
          <a:noFill/>
          <a:ln/>
        </p:spPr>
        <p:txBody>
          <a:bodyPr wrap="square" rtlCol="0" anchor="ctr"/>
          <a:lstStyle/>
          <a:p>
            <a:pPr marL="0" indent="0">
              <a:buNone/>
            </a:pPr>
            <a:r>
              <a:rPr lang="en-US" sz="2400" b="1" dirty="0">
                <a:solidFill>
                  <a:srgbClr val="118AB2"/>
                </a:solidFill>
                <a:latin typeface="Calibri" pitchFamily="34" charset="0"/>
                <a:ea typeface="Calibri" pitchFamily="34" charset="-122"/>
                <a:cs typeface="Calibri" pitchFamily="34" charset="-120"/>
              </a:rPr>
              <a:t>1161</a:t>
            </a:r>
            <a:endParaRPr lang="en-US" sz="2400" dirty="0"/>
          </a:p>
        </p:txBody>
      </p:sp>
      <p:sp>
        <p:nvSpPr>
          <p:cNvPr id="17" name="Text 13"/>
          <p:cNvSpPr/>
          <p:nvPr/>
        </p:nvSpPr>
        <p:spPr>
          <a:xfrm>
            <a:off x="8321040" y="4800600"/>
            <a:ext cx="2926080" cy="594360"/>
          </a:xfrm>
          <a:prstGeom prst="rect">
            <a:avLst/>
          </a:prstGeom>
          <a:noFill/>
          <a:ln/>
        </p:spPr>
        <p:txBody>
          <a:bodyPr wrap="square" rtlCol="0" anchor="ctr"/>
          <a:lstStyle/>
          <a:p>
            <a:pPr marL="0" indent="0">
              <a:buNone/>
            </a:pPr>
            <a:r>
              <a:rPr lang="en-US" sz="1500" dirty="0">
                <a:solidFill>
                  <a:srgbClr val="1B2B34"/>
                </a:solidFill>
                <a:latin typeface="Calibri" pitchFamily="34" charset="0"/>
                <a:ea typeface="Calibri" pitchFamily="34" charset="-122"/>
                <a:cs typeface="Calibri" pitchFamily="34" charset="-120"/>
              </a:rPr>
              <a:t>Afrique de l'Ouest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57200"/>
            <a:ext cx="457200" cy="457200"/>
          </a:xfrm>
          <a:prstGeom prst="rect">
            <a:avLst/>
          </a:prstGeom>
        </p:spPr>
      </p:pic>
      <p:sp>
        <p:nvSpPr>
          <p:cNvPr id="3" name="Text 0"/>
          <p:cNvSpPr/>
          <p:nvPr/>
        </p:nvSpPr>
        <p:spPr>
          <a:xfrm>
            <a:off x="1143000" y="411480"/>
            <a:ext cx="9601200" cy="548640"/>
          </a:xfrm>
          <a:prstGeom prst="rect">
            <a:avLst/>
          </a:prstGeom>
          <a:noFill/>
          <a:ln/>
        </p:spPr>
        <p:txBody>
          <a:bodyPr wrap="square" rtlCol="0" anchor="ctr"/>
          <a:lstStyle/>
          <a:p>
            <a:pPr marL="0" indent="0">
              <a:buNone/>
            </a:pPr>
            <a:r>
              <a:rPr lang="en-US" sz="2800" b="1" dirty="0">
                <a:solidFill>
                  <a:srgbClr val="0B3D5C"/>
                </a:solidFill>
                <a:latin typeface="Cambria" pitchFamily="34" charset="0"/>
                <a:ea typeface="Cambria" pitchFamily="34" charset="-122"/>
              </a:rPr>
              <a:t>Partie 6 - Modélisation du </a:t>
            </a:r>
            <a:r>
              <a:rPr lang="en-US" sz="2800" b="1" dirty="0" err="1">
                <a:solidFill>
                  <a:srgbClr val="0B3D5C"/>
                </a:solidFill>
                <a:latin typeface="Cambria" pitchFamily="34" charset="0"/>
                <a:ea typeface="Cambria" pitchFamily="34" charset="-122"/>
              </a:rPr>
              <a:t>domaine</a:t>
            </a:r>
            <a:endParaRPr lang="en-US" sz="2800" b="1" dirty="0">
              <a:solidFill>
                <a:srgbClr val="0B3D5C"/>
              </a:solidFill>
              <a:latin typeface="Cambria" pitchFamily="34" charset="0"/>
              <a:ea typeface="Cambria" pitchFamily="34" charset="-122"/>
            </a:endParaRPr>
          </a:p>
        </p:txBody>
      </p:sp>
      <p:sp>
        <p:nvSpPr>
          <p:cNvPr id="4" name="Text 1"/>
          <p:cNvSpPr/>
          <p:nvPr/>
        </p:nvSpPr>
        <p:spPr>
          <a:xfrm>
            <a:off x="1143000" y="914400"/>
            <a:ext cx="9601200" cy="365760"/>
          </a:xfrm>
          <a:prstGeom prst="rect">
            <a:avLst/>
          </a:prstGeom>
          <a:noFill/>
          <a:ln/>
        </p:spPr>
        <p:txBody>
          <a:bodyPr wrap="square" rtlCol="0" anchor="ctr"/>
          <a:lstStyle/>
          <a:p>
            <a:pPr marL="0" indent="0">
              <a:buNone/>
            </a:pPr>
            <a:r>
              <a:rPr lang="en-US" sz="1400" i="1" dirty="0">
                <a:solidFill>
                  <a:srgbClr val="5B7A85"/>
                </a:solidFill>
                <a:latin typeface="Calibri" pitchFamily="34" charset="0"/>
                <a:ea typeface="Calibri" pitchFamily="34" charset="-122"/>
                <a:cs typeface="Calibri" pitchFamily="34" charset="-120"/>
              </a:rPr>
              <a:t>Référencement plutôt qu'embarquement pour les relations non bornées</a:t>
            </a:r>
            <a:endParaRPr lang="en-US" sz="1400" dirty="0"/>
          </a:p>
        </p:txBody>
      </p:sp>
      <p:sp>
        <p:nvSpPr>
          <p:cNvPr id="5" name="Shape 2"/>
          <p:cNvSpPr/>
          <p:nvPr/>
        </p:nvSpPr>
        <p:spPr>
          <a:xfrm>
            <a:off x="2377440" y="1874520"/>
            <a:ext cx="1828800" cy="27432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fr-SN"/>
          </a:p>
        </p:txBody>
      </p:sp>
      <p:sp>
        <p:nvSpPr>
          <p:cNvPr id="6" name="Shape 3"/>
          <p:cNvSpPr/>
          <p:nvPr/>
        </p:nvSpPr>
        <p:spPr>
          <a:xfrm>
            <a:off x="2377440" y="4343400"/>
            <a:ext cx="1828800" cy="22860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fr-SN"/>
          </a:p>
        </p:txBody>
      </p:sp>
      <p:sp>
        <p:nvSpPr>
          <p:cNvPr id="7" name="Shape 4"/>
          <p:cNvSpPr/>
          <p:nvPr/>
        </p:nvSpPr>
        <p:spPr>
          <a:xfrm>
            <a:off x="2377440" y="2377440"/>
            <a:ext cx="1828800" cy="219456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fr-SN"/>
          </a:p>
        </p:txBody>
      </p:sp>
      <p:sp>
        <p:nvSpPr>
          <p:cNvPr id="8" name="Shape 5"/>
          <p:cNvSpPr/>
          <p:nvPr/>
        </p:nvSpPr>
        <p:spPr>
          <a:xfrm>
            <a:off x="2377439" y="1874520"/>
            <a:ext cx="2093183" cy="2395728"/>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fr-SN"/>
          </a:p>
        </p:txBody>
      </p:sp>
      <p:sp>
        <p:nvSpPr>
          <p:cNvPr id="9" name="Shape 6"/>
          <p:cNvSpPr/>
          <p:nvPr/>
        </p:nvSpPr>
        <p:spPr>
          <a:xfrm>
            <a:off x="6309360" y="1874520"/>
            <a:ext cx="0" cy="242316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fr-SN"/>
          </a:p>
        </p:txBody>
      </p:sp>
      <p:sp>
        <p:nvSpPr>
          <p:cNvPr id="10" name="Shape 7"/>
          <p:cNvSpPr/>
          <p:nvPr/>
        </p:nvSpPr>
        <p:spPr>
          <a:xfrm>
            <a:off x="8148098" y="3534354"/>
            <a:ext cx="1270201" cy="1330253"/>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fr-SN"/>
          </a:p>
        </p:txBody>
      </p:sp>
      <p:sp>
        <p:nvSpPr>
          <p:cNvPr id="11" name="Shape 8"/>
          <p:cNvSpPr/>
          <p:nvPr/>
        </p:nvSpPr>
        <p:spPr>
          <a:xfrm>
            <a:off x="6492240" y="4663440"/>
            <a:ext cx="1371600" cy="45720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fr-SN"/>
          </a:p>
        </p:txBody>
      </p:sp>
      <p:sp>
        <p:nvSpPr>
          <p:cNvPr id="12" name="Shape 9"/>
          <p:cNvSpPr/>
          <p:nvPr/>
        </p:nvSpPr>
        <p:spPr>
          <a:xfrm>
            <a:off x="822960" y="1828800"/>
            <a:ext cx="2286000" cy="594360"/>
          </a:xfrm>
          <a:prstGeom prst="roundRect">
            <a:avLst>
              <a:gd name="adj" fmla="val 12308"/>
            </a:avLst>
          </a:prstGeom>
          <a:solidFill>
            <a:srgbClr val="FFFFFF"/>
          </a:solidFill>
          <a:ln w="19050">
            <a:solidFill>
              <a:srgbClr val="118AB2"/>
            </a:solidFill>
            <a:prstDash val="solid"/>
          </a:ln>
          <a:effectLst>
            <a:outerShdw blurRad="101600" dist="38100" dir="2700000" algn="bl" rotWithShape="0">
              <a:srgbClr val="000000">
                <a:alpha val="12000"/>
              </a:srgbClr>
            </a:outerShdw>
          </a:effectLst>
        </p:spPr>
        <p:txBody>
          <a:bodyPr/>
          <a:lstStyle/>
          <a:p>
            <a:endParaRPr lang="fr-SN"/>
          </a:p>
        </p:txBody>
      </p:sp>
      <p:sp>
        <p:nvSpPr>
          <p:cNvPr id="13" name="Text 10"/>
          <p:cNvSpPr/>
          <p:nvPr/>
        </p:nvSpPr>
        <p:spPr>
          <a:xfrm>
            <a:off x="822960" y="1828800"/>
            <a:ext cx="2286000" cy="594360"/>
          </a:xfrm>
          <a:prstGeom prst="rect">
            <a:avLst/>
          </a:prstGeom>
          <a:noFill/>
          <a:ln/>
        </p:spPr>
        <p:txBody>
          <a:bodyPr wrap="square" rtlCol="0" anchor="ctr"/>
          <a:lstStyle/>
          <a:p>
            <a:pPr marL="0" indent="0" algn="ctr">
              <a:buNone/>
            </a:pPr>
            <a:r>
              <a:rPr lang="en-US" sz="1350" b="1" dirty="0">
                <a:solidFill>
                  <a:srgbClr val="1B2B34"/>
                </a:solidFill>
                <a:latin typeface="Calibri" pitchFamily="34" charset="0"/>
                <a:ea typeface="Calibri" pitchFamily="34" charset="-122"/>
                <a:cs typeface="Calibri" pitchFamily="34" charset="-120"/>
              </a:rPr>
              <a:t>Patients</a:t>
            </a:r>
            <a:endParaRPr lang="en-US" sz="1350" dirty="0"/>
          </a:p>
        </p:txBody>
      </p:sp>
      <p:sp>
        <p:nvSpPr>
          <p:cNvPr id="14" name="Shape 11"/>
          <p:cNvSpPr/>
          <p:nvPr/>
        </p:nvSpPr>
        <p:spPr>
          <a:xfrm>
            <a:off x="822960" y="4023360"/>
            <a:ext cx="2286000" cy="594360"/>
          </a:xfrm>
          <a:prstGeom prst="roundRect">
            <a:avLst>
              <a:gd name="adj" fmla="val 12308"/>
            </a:avLst>
          </a:prstGeom>
          <a:solidFill>
            <a:srgbClr val="FFFFFF"/>
          </a:solidFill>
          <a:ln w="19050">
            <a:solidFill>
              <a:srgbClr val="118AB2"/>
            </a:solidFill>
            <a:prstDash val="solid"/>
          </a:ln>
          <a:effectLst>
            <a:outerShdw blurRad="101600" dist="38100" dir="2700000" algn="bl" rotWithShape="0">
              <a:srgbClr val="000000">
                <a:alpha val="12000"/>
              </a:srgbClr>
            </a:outerShdw>
          </a:effectLst>
        </p:spPr>
        <p:txBody>
          <a:bodyPr/>
          <a:lstStyle/>
          <a:p>
            <a:endParaRPr lang="fr-SN"/>
          </a:p>
        </p:txBody>
      </p:sp>
      <p:sp>
        <p:nvSpPr>
          <p:cNvPr id="15" name="Text 12"/>
          <p:cNvSpPr/>
          <p:nvPr/>
        </p:nvSpPr>
        <p:spPr>
          <a:xfrm>
            <a:off x="822960" y="4023360"/>
            <a:ext cx="2286000" cy="594360"/>
          </a:xfrm>
          <a:prstGeom prst="rect">
            <a:avLst/>
          </a:prstGeom>
          <a:noFill/>
          <a:ln/>
        </p:spPr>
        <p:txBody>
          <a:bodyPr wrap="square" rtlCol="0" anchor="ctr"/>
          <a:lstStyle/>
          <a:p>
            <a:pPr marL="0" indent="0" algn="ctr">
              <a:buNone/>
            </a:pPr>
            <a:r>
              <a:rPr lang="en-US" sz="1350" b="1" dirty="0">
                <a:solidFill>
                  <a:srgbClr val="1B2B34"/>
                </a:solidFill>
                <a:latin typeface="Calibri" pitchFamily="34" charset="0"/>
                <a:ea typeface="Calibri" pitchFamily="34" charset="-122"/>
                <a:cs typeface="Calibri" pitchFamily="34" charset="-120"/>
              </a:rPr>
              <a:t>Medecins</a:t>
            </a:r>
            <a:endParaRPr lang="en-US" sz="1350" dirty="0"/>
          </a:p>
        </p:txBody>
      </p:sp>
      <p:sp>
        <p:nvSpPr>
          <p:cNvPr id="16" name="Shape 13"/>
          <p:cNvSpPr/>
          <p:nvPr/>
        </p:nvSpPr>
        <p:spPr>
          <a:xfrm>
            <a:off x="4206240" y="1554480"/>
            <a:ext cx="2286000" cy="594360"/>
          </a:xfrm>
          <a:prstGeom prst="roundRect">
            <a:avLst>
              <a:gd name="adj" fmla="val 12308"/>
            </a:avLst>
          </a:prstGeom>
          <a:solidFill>
            <a:srgbClr val="FFFFFF"/>
          </a:solidFill>
          <a:ln w="19050">
            <a:solidFill>
              <a:srgbClr val="118AB2"/>
            </a:solidFill>
            <a:prstDash val="solid"/>
          </a:ln>
          <a:effectLst>
            <a:outerShdw blurRad="101600" dist="38100" dir="2700000" algn="bl" rotWithShape="0">
              <a:srgbClr val="000000">
                <a:alpha val="12000"/>
              </a:srgbClr>
            </a:outerShdw>
          </a:effectLst>
        </p:spPr>
        <p:txBody>
          <a:bodyPr/>
          <a:lstStyle/>
          <a:p>
            <a:endParaRPr lang="fr-SN"/>
          </a:p>
        </p:txBody>
      </p:sp>
      <p:sp>
        <p:nvSpPr>
          <p:cNvPr id="17" name="Text 14"/>
          <p:cNvSpPr/>
          <p:nvPr/>
        </p:nvSpPr>
        <p:spPr>
          <a:xfrm>
            <a:off x="4206240" y="1554480"/>
            <a:ext cx="2286000" cy="594360"/>
          </a:xfrm>
          <a:prstGeom prst="rect">
            <a:avLst/>
          </a:prstGeom>
          <a:noFill/>
          <a:ln/>
        </p:spPr>
        <p:txBody>
          <a:bodyPr wrap="square" rtlCol="0" anchor="ctr"/>
          <a:lstStyle/>
          <a:p>
            <a:pPr marL="0" indent="0" algn="ctr">
              <a:buNone/>
            </a:pPr>
            <a:r>
              <a:rPr lang="en-US" sz="1350" b="1" dirty="0">
                <a:solidFill>
                  <a:srgbClr val="1B2B34"/>
                </a:solidFill>
                <a:latin typeface="Calibri" pitchFamily="34" charset="0"/>
                <a:ea typeface="Calibri" pitchFamily="34" charset="-122"/>
                <a:cs typeface="Calibri" pitchFamily="34" charset="-120"/>
              </a:rPr>
              <a:t>RendezVous</a:t>
            </a:r>
            <a:endParaRPr lang="en-US" sz="1350" dirty="0"/>
          </a:p>
        </p:txBody>
      </p:sp>
      <p:sp>
        <p:nvSpPr>
          <p:cNvPr id="18" name="Shape 15"/>
          <p:cNvSpPr/>
          <p:nvPr/>
        </p:nvSpPr>
        <p:spPr>
          <a:xfrm>
            <a:off x="4206240" y="4297680"/>
            <a:ext cx="2286000" cy="594360"/>
          </a:xfrm>
          <a:prstGeom prst="roundRect">
            <a:avLst>
              <a:gd name="adj" fmla="val 12308"/>
            </a:avLst>
          </a:prstGeom>
          <a:solidFill>
            <a:srgbClr val="FFFFFF"/>
          </a:solidFill>
          <a:ln w="19050">
            <a:solidFill>
              <a:srgbClr val="118AB2"/>
            </a:solidFill>
            <a:prstDash val="solid"/>
          </a:ln>
          <a:effectLst>
            <a:outerShdw blurRad="101600" dist="38100" dir="2700000" algn="bl" rotWithShape="0">
              <a:srgbClr val="000000">
                <a:alpha val="12000"/>
              </a:srgbClr>
            </a:outerShdw>
          </a:effectLst>
        </p:spPr>
        <p:txBody>
          <a:bodyPr/>
          <a:lstStyle/>
          <a:p>
            <a:endParaRPr lang="fr-SN"/>
          </a:p>
        </p:txBody>
      </p:sp>
      <p:sp>
        <p:nvSpPr>
          <p:cNvPr id="19" name="Text 16"/>
          <p:cNvSpPr/>
          <p:nvPr/>
        </p:nvSpPr>
        <p:spPr>
          <a:xfrm>
            <a:off x="4206240" y="4297680"/>
            <a:ext cx="2286000" cy="594360"/>
          </a:xfrm>
          <a:prstGeom prst="rect">
            <a:avLst/>
          </a:prstGeom>
          <a:noFill/>
          <a:ln/>
        </p:spPr>
        <p:txBody>
          <a:bodyPr wrap="square" rtlCol="0" anchor="ctr"/>
          <a:lstStyle/>
          <a:p>
            <a:pPr marL="0" indent="0" algn="ctr">
              <a:buNone/>
            </a:pPr>
            <a:r>
              <a:rPr lang="en-US" sz="1350" b="1" dirty="0">
                <a:solidFill>
                  <a:srgbClr val="1B2B34"/>
                </a:solidFill>
                <a:latin typeface="Calibri" pitchFamily="34" charset="0"/>
                <a:ea typeface="Calibri" pitchFamily="34" charset="-122"/>
                <a:cs typeface="Calibri" pitchFamily="34" charset="-120"/>
              </a:rPr>
              <a:t>Consultations</a:t>
            </a:r>
            <a:endParaRPr lang="en-US" sz="1350" dirty="0"/>
          </a:p>
        </p:txBody>
      </p:sp>
      <p:sp>
        <p:nvSpPr>
          <p:cNvPr id="20" name="Shape 17"/>
          <p:cNvSpPr/>
          <p:nvPr/>
        </p:nvSpPr>
        <p:spPr>
          <a:xfrm>
            <a:off x="7863840" y="3200400"/>
            <a:ext cx="2286000" cy="594360"/>
          </a:xfrm>
          <a:prstGeom prst="roundRect">
            <a:avLst>
              <a:gd name="adj" fmla="val 12308"/>
            </a:avLst>
          </a:prstGeom>
          <a:solidFill>
            <a:srgbClr val="FFFFFF"/>
          </a:solidFill>
          <a:ln w="19050">
            <a:solidFill>
              <a:srgbClr val="118AB2"/>
            </a:solidFill>
            <a:prstDash val="solid"/>
          </a:ln>
          <a:effectLst>
            <a:outerShdw blurRad="101600" dist="38100" dir="2700000" algn="bl" rotWithShape="0">
              <a:srgbClr val="000000">
                <a:alpha val="12000"/>
              </a:srgbClr>
            </a:outerShdw>
          </a:effectLst>
        </p:spPr>
        <p:txBody>
          <a:bodyPr/>
          <a:lstStyle/>
          <a:p>
            <a:endParaRPr lang="fr-SN"/>
          </a:p>
        </p:txBody>
      </p:sp>
      <p:sp>
        <p:nvSpPr>
          <p:cNvPr id="21" name="Text 18"/>
          <p:cNvSpPr/>
          <p:nvPr/>
        </p:nvSpPr>
        <p:spPr>
          <a:xfrm>
            <a:off x="7863840" y="3200400"/>
            <a:ext cx="2286000" cy="594360"/>
          </a:xfrm>
          <a:prstGeom prst="rect">
            <a:avLst/>
          </a:prstGeom>
          <a:noFill/>
          <a:ln/>
        </p:spPr>
        <p:txBody>
          <a:bodyPr wrap="square" rtlCol="0" anchor="ctr"/>
          <a:lstStyle/>
          <a:p>
            <a:pPr marL="0" indent="0" algn="ctr">
              <a:buNone/>
            </a:pPr>
            <a:r>
              <a:rPr lang="en-US" sz="1350" b="1" dirty="0">
                <a:solidFill>
                  <a:srgbClr val="1B2B34"/>
                </a:solidFill>
                <a:latin typeface="Calibri" pitchFamily="34" charset="0"/>
                <a:ea typeface="Calibri" pitchFamily="34" charset="-122"/>
                <a:cs typeface="Calibri" pitchFamily="34" charset="-120"/>
              </a:rPr>
              <a:t>Prescriptions</a:t>
            </a:r>
            <a:endParaRPr lang="en-US" sz="1350" dirty="0"/>
          </a:p>
        </p:txBody>
      </p:sp>
      <p:sp>
        <p:nvSpPr>
          <p:cNvPr id="22" name="Shape 19"/>
          <p:cNvSpPr/>
          <p:nvPr/>
        </p:nvSpPr>
        <p:spPr>
          <a:xfrm>
            <a:off x="7863840" y="4937760"/>
            <a:ext cx="2286000" cy="594360"/>
          </a:xfrm>
          <a:prstGeom prst="roundRect">
            <a:avLst>
              <a:gd name="adj" fmla="val 12308"/>
            </a:avLst>
          </a:prstGeom>
          <a:solidFill>
            <a:srgbClr val="FFFFFF"/>
          </a:solidFill>
          <a:ln w="19050">
            <a:solidFill>
              <a:srgbClr val="118AB2"/>
            </a:solidFill>
            <a:prstDash val="solid"/>
          </a:ln>
          <a:effectLst>
            <a:outerShdw blurRad="101600" dist="38100" dir="2700000" algn="bl" rotWithShape="0">
              <a:srgbClr val="000000">
                <a:alpha val="12000"/>
              </a:srgbClr>
            </a:outerShdw>
          </a:effectLst>
        </p:spPr>
        <p:txBody>
          <a:bodyPr/>
          <a:lstStyle/>
          <a:p>
            <a:endParaRPr lang="fr-SN"/>
          </a:p>
        </p:txBody>
      </p:sp>
      <p:sp>
        <p:nvSpPr>
          <p:cNvPr id="23" name="Text 20"/>
          <p:cNvSpPr/>
          <p:nvPr/>
        </p:nvSpPr>
        <p:spPr>
          <a:xfrm>
            <a:off x="7863840" y="4937760"/>
            <a:ext cx="2286000" cy="594360"/>
          </a:xfrm>
          <a:prstGeom prst="rect">
            <a:avLst/>
          </a:prstGeom>
          <a:noFill/>
          <a:ln/>
        </p:spPr>
        <p:txBody>
          <a:bodyPr wrap="square" rtlCol="0" anchor="ctr"/>
          <a:lstStyle/>
          <a:p>
            <a:pPr marL="0" indent="0" algn="ctr">
              <a:buNone/>
            </a:pPr>
            <a:r>
              <a:rPr lang="en-US" sz="1350" b="1" dirty="0">
                <a:solidFill>
                  <a:srgbClr val="1B2B34"/>
                </a:solidFill>
                <a:latin typeface="Calibri" pitchFamily="34" charset="0"/>
                <a:ea typeface="Calibri" pitchFamily="34" charset="-122"/>
                <a:cs typeface="Calibri" pitchFamily="34" charset="-120"/>
              </a:rPr>
              <a:t>AnalysesMedicales</a:t>
            </a:r>
            <a:endParaRPr lang="en-US" sz="1350" dirty="0"/>
          </a:p>
        </p:txBody>
      </p:sp>
      <p:sp>
        <p:nvSpPr>
          <p:cNvPr id="24" name="Shape 21"/>
          <p:cNvSpPr/>
          <p:nvPr/>
        </p:nvSpPr>
        <p:spPr>
          <a:xfrm>
            <a:off x="822960" y="5605273"/>
            <a:ext cx="10515600" cy="1252727"/>
          </a:xfrm>
          <a:prstGeom prst="roundRect">
            <a:avLst>
              <a:gd name="adj" fmla="val 9412"/>
            </a:avLst>
          </a:prstGeom>
          <a:solidFill>
            <a:srgbClr val="F1F7F8"/>
          </a:solidFill>
          <a:ln/>
        </p:spPr>
        <p:txBody>
          <a:bodyPr/>
          <a:lstStyle/>
          <a:p>
            <a:endParaRPr lang="fr-SN"/>
          </a:p>
        </p:txBody>
      </p:sp>
      <p:sp>
        <p:nvSpPr>
          <p:cNvPr id="25" name="Text 22"/>
          <p:cNvSpPr/>
          <p:nvPr/>
        </p:nvSpPr>
        <p:spPr>
          <a:xfrm>
            <a:off x="822960" y="5650992"/>
            <a:ext cx="10515600" cy="1133855"/>
          </a:xfrm>
          <a:prstGeom prst="rect">
            <a:avLst/>
          </a:prstGeom>
          <a:noFill/>
          <a:ln/>
        </p:spPr>
        <p:txBody>
          <a:bodyPr wrap="square" rtlCol="0" anchor="ctr"/>
          <a:lstStyle/>
          <a:p>
            <a:pPr algn="just">
              <a:lnSpc>
                <a:spcPct val="150000"/>
              </a:lnSpc>
            </a:pPr>
            <a:r>
              <a:rPr lang="en-US" sz="1400" b="1" dirty="0" err="1">
                <a:solidFill>
                  <a:srgbClr val="0B3D5C"/>
                </a:solidFill>
                <a:latin typeface="Calibri" pitchFamily="34" charset="0"/>
                <a:ea typeface="Calibri" pitchFamily="34" charset="-122"/>
                <a:cs typeface="Calibri" pitchFamily="34" charset="-120"/>
              </a:rPr>
              <a:t>Référencement</a:t>
            </a:r>
            <a:r>
              <a:rPr lang="en-US" sz="1400" b="1" dirty="0">
                <a:solidFill>
                  <a:srgbClr val="0B3D5C"/>
                </a:solidFill>
                <a:latin typeface="Calibri" pitchFamily="34" charset="0"/>
                <a:ea typeface="Calibri" pitchFamily="34" charset="-122"/>
                <a:cs typeface="Calibri" pitchFamily="34" charset="-120"/>
              </a:rPr>
              <a:t> </a:t>
            </a:r>
            <a:r>
              <a:rPr lang="en-US" sz="1400" b="1" dirty="0" err="1">
                <a:solidFill>
                  <a:srgbClr val="0B3D5C"/>
                </a:solidFill>
                <a:latin typeface="Calibri" pitchFamily="34" charset="0"/>
                <a:ea typeface="Calibri" pitchFamily="34" charset="-122"/>
                <a:cs typeface="Calibri" pitchFamily="34" charset="-120"/>
              </a:rPr>
              <a:t>plutôt</a:t>
            </a:r>
            <a:r>
              <a:rPr lang="en-US" sz="1400" b="1" dirty="0">
                <a:solidFill>
                  <a:srgbClr val="0B3D5C"/>
                </a:solidFill>
                <a:latin typeface="Calibri" pitchFamily="34" charset="0"/>
                <a:ea typeface="Calibri" pitchFamily="34" charset="-122"/>
                <a:cs typeface="Calibri" pitchFamily="34" charset="-120"/>
              </a:rPr>
              <a:t> </a:t>
            </a:r>
            <a:r>
              <a:rPr lang="en-US" sz="1400" b="1" dirty="0" err="1">
                <a:solidFill>
                  <a:srgbClr val="0B3D5C"/>
                </a:solidFill>
                <a:latin typeface="Calibri" pitchFamily="34" charset="0"/>
                <a:ea typeface="Calibri" pitchFamily="34" charset="-122"/>
                <a:cs typeface="Calibri" pitchFamily="34" charset="-120"/>
              </a:rPr>
              <a:t>qu’embarquement</a:t>
            </a:r>
            <a:r>
              <a:rPr lang="en-US" sz="1400" b="1" dirty="0">
                <a:solidFill>
                  <a:srgbClr val="0B3D5C"/>
                </a:solidFill>
                <a:latin typeface="Calibri" pitchFamily="34" charset="0"/>
                <a:ea typeface="Calibri" pitchFamily="34" charset="-122"/>
                <a:cs typeface="Calibri" pitchFamily="34" charset="-120"/>
              </a:rPr>
              <a:t> — </a:t>
            </a:r>
            <a:r>
              <a:rPr lang="en-US" sz="1400" dirty="0">
                <a:solidFill>
                  <a:srgbClr val="55636E"/>
                </a:solidFill>
                <a:latin typeface="Calibri" pitchFamily="34" charset="0"/>
                <a:ea typeface="Calibri" pitchFamily="34" charset="-122"/>
                <a:cs typeface="Calibri" pitchFamily="34" charset="-120"/>
              </a:rPr>
              <a:t>Consultations, Prescriptions et </a:t>
            </a:r>
            <a:r>
              <a:rPr lang="en-US" sz="1400" dirty="0" err="1">
                <a:solidFill>
                  <a:srgbClr val="55636E"/>
                </a:solidFill>
                <a:latin typeface="Calibri" pitchFamily="34" charset="0"/>
                <a:ea typeface="Calibri" pitchFamily="34" charset="-122"/>
                <a:cs typeface="Calibri" pitchFamily="34" charset="-120"/>
              </a:rPr>
              <a:t>AnalysesMedicales</a:t>
            </a:r>
            <a:r>
              <a:rPr lang="en-US" sz="1400" dirty="0">
                <a:solidFill>
                  <a:srgbClr val="55636E"/>
                </a:solidFill>
                <a:latin typeface="Calibri" pitchFamily="34" charset="0"/>
                <a:ea typeface="Calibri" pitchFamily="34" charset="-122"/>
                <a:cs typeface="Calibri" pitchFamily="34" charset="-120"/>
              </a:rPr>
              <a:t> </a:t>
            </a:r>
            <a:r>
              <a:rPr lang="en-US" sz="1400" dirty="0" err="1">
                <a:solidFill>
                  <a:srgbClr val="55636E"/>
                </a:solidFill>
                <a:latin typeface="Calibri" pitchFamily="34" charset="0"/>
                <a:ea typeface="Calibri" pitchFamily="34" charset="-122"/>
                <a:cs typeface="Calibri" pitchFamily="34" charset="-120"/>
              </a:rPr>
              <a:t>croissent</a:t>
            </a:r>
            <a:r>
              <a:rPr lang="en-US" sz="1400" dirty="0">
                <a:solidFill>
                  <a:srgbClr val="55636E"/>
                </a:solidFill>
                <a:latin typeface="Calibri" pitchFamily="34" charset="0"/>
                <a:ea typeface="Calibri" pitchFamily="34" charset="-122"/>
                <a:cs typeface="Calibri" pitchFamily="34" charset="-120"/>
              </a:rPr>
              <a:t> sans </a:t>
            </a:r>
            <a:r>
              <a:rPr lang="en-US" sz="1400" dirty="0" err="1">
                <a:solidFill>
                  <a:srgbClr val="55636E"/>
                </a:solidFill>
                <a:latin typeface="Calibri" pitchFamily="34" charset="0"/>
                <a:ea typeface="Calibri" pitchFamily="34" charset="-122"/>
                <a:cs typeface="Calibri" pitchFamily="34" charset="-120"/>
              </a:rPr>
              <a:t>limite</a:t>
            </a:r>
            <a:r>
              <a:rPr lang="en-US" sz="1400" dirty="0">
                <a:solidFill>
                  <a:srgbClr val="55636E"/>
                </a:solidFill>
                <a:latin typeface="Calibri" pitchFamily="34" charset="0"/>
                <a:ea typeface="Calibri" pitchFamily="34" charset="-122"/>
                <a:cs typeface="Calibri" pitchFamily="34" charset="-120"/>
              </a:rPr>
              <a:t> par patient : un tableau </a:t>
            </a:r>
            <a:r>
              <a:rPr lang="en-US" sz="1400" dirty="0" err="1">
                <a:solidFill>
                  <a:srgbClr val="55636E"/>
                </a:solidFill>
                <a:latin typeface="Calibri" pitchFamily="34" charset="0"/>
                <a:ea typeface="Calibri" pitchFamily="34" charset="-122"/>
                <a:cs typeface="Calibri" pitchFamily="34" charset="-120"/>
              </a:rPr>
              <a:t>imbriqué</a:t>
            </a:r>
            <a:r>
              <a:rPr lang="en-US" sz="1400" dirty="0">
                <a:solidFill>
                  <a:srgbClr val="55636E"/>
                </a:solidFill>
                <a:latin typeface="Calibri" pitchFamily="34" charset="0"/>
                <a:ea typeface="Calibri" pitchFamily="34" charset="-122"/>
                <a:cs typeface="Calibri" pitchFamily="34" charset="-120"/>
              </a:rPr>
              <a:t> </a:t>
            </a:r>
            <a:r>
              <a:rPr lang="en-US" sz="1400" dirty="0" err="1">
                <a:solidFill>
                  <a:srgbClr val="55636E"/>
                </a:solidFill>
                <a:latin typeface="Calibri" pitchFamily="34" charset="0"/>
                <a:ea typeface="Calibri" pitchFamily="34" charset="-122"/>
                <a:cs typeface="Calibri" pitchFamily="34" charset="-120"/>
              </a:rPr>
              <a:t>grossirait</a:t>
            </a:r>
            <a:r>
              <a:rPr lang="en-US" sz="1400" dirty="0">
                <a:solidFill>
                  <a:srgbClr val="55636E"/>
                </a:solidFill>
                <a:latin typeface="Calibri" pitchFamily="34" charset="0"/>
                <a:ea typeface="Calibri" pitchFamily="34" charset="-122"/>
                <a:cs typeface="Calibri" pitchFamily="34" charset="-120"/>
              </a:rPr>
              <a:t> </a:t>
            </a:r>
            <a:r>
              <a:rPr lang="en-US" sz="1400" dirty="0" err="1">
                <a:solidFill>
                  <a:srgbClr val="55636E"/>
                </a:solidFill>
                <a:latin typeface="Calibri" pitchFamily="34" charset="0"/>
                <a:ea typeface="Calibri" pitchFamily="34" charset="-122"/>
                <a:cs typeface="Calibri" pitchFamily="34" charset="-120"/>
              </a:rPr>
              <a:t>indéfiniment</a:t>
            </a:r>
            <a:r>
              <a:rPr lang="en-US" sz="1400" dirty="0">
                <a:solidFill>
                  <a:srgbClr val="55636E"/>
                </a:solidFill>
                <a:latin typeface="Calibri" pitchFamily="34" charset="0"/>
                <a:ea typeface="Calibri" pitchFamily="34" charset="-122"/>
                <a:cs typeface="Calibri" pitchFamily="34" charset="-120"/>
              </a:rPr>
              <a:t> (</a:t>
            </a:r>
            <a:r>
              <a:rPr lang="en-US" sz="1400" dirty="0" err="1">
                <a:solidFill>
                  <a:srgbClr val="55636E"/>
                </a:solidFill>
                <a:latin typeface="Calibri" pitchFamily="34" charset="0"/>
                <a:ea typeface="Calibri" pitchFamily="34" charset="-122"/>
                <a:cs typeface="Calibri" pitchFamily="34" charset="-120"/>
              </a:rPr>
              <a:t>risque</a:t>
            </a:r>
            <a:r>
              <a:rPr lang="en-US" sz="1400" dirty="0">
                <a:solidFill>
                  <a:srgbClr val="55636E"/>
                </a:solidFill>
                <a:latin typeface="Calibri" pitchFamily="34" charset="0"/>
                <a:ea typeface="Calibri" pitchFamily="34" charset="-122"/>
                <a:cs typeface="Calibri" pitchFamily="34" charset="-120"/>
              </a:rPr>
              <a:t> &gt; 16 Mo) et </a:t>
            </a:r>
            <a:r>
              <a:rPr lang="en-US" sz="1400" dirty="0" err="1">
                <a:solidFill>
                  <a:srgbClr val="55636E"/>
                </a:solidFill>
                <a:latin typeface="Calibri" pitchFamily="34" charset="0"/>
                <a:ea typeface="Calibri" pitchFamily="34" charset="-122"/>
                <a:cs typeface="Calibri" pitchFamily="34" charset="-120"/>
              </a:rPr>
              <a:t>casserait</a:t>
            </a:r>
            <a:r>
              <a:rPr lang="en-US" sz="1400" dirty="0">
                <a:solidFill>
                  <a:srgbClr val="55636E"/>
                </a:solidFill>
                <a:latin typeface="Calibri" pitchFamily="34" charset="0"/>
                <a:ea typeface="Calibri" pitchFamily="34" charset="-122"/>
                <a:cs typeface="Calibri" pitchFamily="34" charset="-120"/>
              </a:rPr>
              <a:t> le sharding </a:t>
            </a:r>
            <a:r>
              <a:rPr lang="en-US" sz="1400" dirty="0" err="1">
                <a:solidFill>
                  <a:srgbClr val="55636E"/>
                </a:solidFill>
                <a:latin typeface="Calibri" pitchFamily="34" charset="0"/>
                <a:ea typeface="Calibri" pitchFamily="34" charset="-122"/>
                <a:cs typeface="Calibri" pitchFamily="34" charset="-120"/>
              </a:rPr>
              <a:t>indépendant</a:t>
            </a:r>
            <a:r>
              <a:rPr lang="en-US" sz="1400" dirty="0">
                <a:solidFill>
                  <a:srgbClr val="55636E"/>
                </a:solidFill>
                <a:latin typeface="Calibri" pitchFamily="34" charset="0"/>
                <a:ea typeface="Calibri" pitchFamily="34" charset="-122"/>
                <a:cs typeface="Calibri" pitchFamily="34" charset="-120"/>
              </a:rPr>
              <a:t> par </a:t>
            </a:r>
            <a:r>
              <a:rPr lang="en-US" sz="1400" dirty="0" err="1">
                <a:solidFill>
                  <a:srgbClr val="55636E"/>
                </a:solidFill>
                <a:latin typeface="Calibri" pitchFamily="34" charset="0"/>
                <a:ea typeface="Calibri" pitchFamily="34" charset="-122"/>
                <a:cs typeface="Calibri" pitchFamily="34" charset="-120"/>
              </a:rPr>
              <a:t>patient_id</a:t>
            </a:r>
            <a:r>
              <a:rPr lang="en-US" sz="1400" dirty="0">
                <a:solidFill>
                  <a:srgbClr val="55636E"/>
                </a:solidFill>
                <a:latin typeface="Calibri" pitchFamily="34" charset="0"/>
                <a:ea typeface="Calibri" pitchFamily="34" charset="-122"/>
                <a:cs typeface="Calibri" pitchFamily="34" charset="-120"/>
              </a:rPr>
              <a:t>. </a:t>
            </a:r>
          </a:p>
          <a:p>
            <a:pPr algn="just">
              <a:lnSpc>
                <a:spcPct val="150000"/>
              </a:lnSpc>
            </a:pPr>
            <a:r>
              <a:rPr lang="en-US" sz="1400" dirty="0" err="1">
                <a:solidFill>
                  <a:srgbClr val="55636E"/>
                </a:solidFill>
                <a:latin typeface="Calibri" pitchFamily="34" charset="0"/>
                <a:ea typeface="Calibri" pitchFamily="34" charset="-122"/>
                <a:cs typeface="Calibri" pitchFamily="34" charset="-120"/>
              </a:rPr>
              <a:t>L’embarquement</a:t>
            </a:r>
            <a:r>
              <a:rPr lang="en-US" sz="1400" dirty="0">
                <a:solidFill>
                  <a:srgbClr val="55636E"/>
                </a:solidFill>
                <a:latin typeface="Calibri" pitchFamily="34" charset="0"/>
                <a:ea typeface="Calibri" pitchFamily="34" charset="-122"/>
                <a:cs typeface="Calibri" pitchFamily="34" charset="-120"/>
              </a:rPr>
              <a:t> </a:t>
            </a:r>
            <a:r>
              <a:rPr lang="en-US" sz="1400" dirty="0" err="1">
                <a:solidFill>
                  <a:srgbClr val="55636E"/>
                </a:solidFill>
                <a:latin typeface="Calibri" pitchFamily="34" charset="0"/>
                <a:ea typeface="Calibri" pitchFamily="34" charset="-122"/>
                <a:cs typeface="Calibri" pitchFamily="34" charset="-120"/>
              </a:rPr>
              <a:t>reste</a:t>
            </a:r>
            <a:r>
              <a:rPr lang="en-US" sz="1400" dirty="0">
                <a:solidFill>
                  <a:srgbClr val="55636E"/>
                </a:solidFill>
                <a:latin typeface="Calibri" pitchFamily="34" charset="0"/>
                <a:ea typeface="Calibri" pitchFamily="34" charset="-122"/>
                <a:cs typeface="Calibri" pitchFamily="34" charset="-120"/>
              </a:rPr>
              <a:t> </a:t>
            </a:r>
            <a:r>
              <a:rPr lang="en-US" sz="1400" dirty="0" err="1">
                <a:solidFill>
                  <a:srgbClr val="55636E"/>
                </a:solidFill>
                <a:latin typeface="Calibri" pitchFamily="34" charset="0"/>
                <a:ea typeface="Calibri" pitchFamily="34" charset="-122"/>
                <a:cs typeface="Calibri" pitchFamily="34" charset="-120"/>
              </a:rPr>
              <a:t>réservé</a:t>
            </a:r>
            <a:r>
              <a:rPr lang="en-US" sz="1400" dirty="0">
                <a:solidFill>
                  <a:srgbClr val="55636E"/>
                </a:solidFill>
                <a:latin typeface="Calibri" pitchFamily="34" charset="0"/>
                <a:ea typeface="Calibri" pitchFamily="34" charset="-122"/>
                <a:cs typeface="Calibri" pitchFamily="34" charset="-120"/>
              </a:rPr>
              <a:t> aux sous-structures </a:t>
            </a:r>
            <a:r>
              <a:rPr lang="en-US" sz="1400" dirty="0" err="1">
                <a:solidFill>
                  <a:srgbClr val="55636E"/>
                </a:solidFill>
                <a:latin typeface="Calibri" pitchFamily="34" charset="0"/>
                <a:ea typeface="Calibri" pitchFamily="34" charset="-122"/>
                <a:cs typeface="Calibri" pitchFamily="34" charset="-120"/>
              </a:rPr>
              <a:t>bornées</a:t>
            </a:r>
            <a:r>
              <a:rPr lang="en-US" sz="1400" dirty="0">
                <a:solidFill>
                  <a:srgbClr val="55636E"/>
                </a:solidFill>
                <a:latin typeface="Calibri" pitchFamily="34" charset="0"/>
                <a:ea typeface="Calibri" pitchFamily="34" charset="-122"/>
                <a:cs typeface="Calibri" pitchFamily="34" charset="-120"/>
              </a:rPr>
              <a:t> (allergies, </a:t>
            </a:r>
            <a:r>
              <a:rPr lang="en-US" sz="1400" dirty="0" err="1">
                <a:solidFill>
                  <a:srgbClr val="55636E"/>
                </a:solidFill>
                <a:latin typeface="Calibri" pitchFamily="34" charset="0"/>
                <a:ea typeface="Calibri" pitchFamily="34" charset="-122"/>
                <a:cs typeface="Calibri" pitchFamily="34" charset="-120"/>
              </a:rPr>
              <a:t>disponibilités</a:t>
            </a:r>
            <a:r>
              <a:rPr lang="en-US" sz="1400" dirty="0">
                <a:solidFill>
                  <a:srgbClr val="55636E"/>
                </a:solidFill>
                <a:latin typeface="Calibri" pitchFamily="34" charset="0"/>
                <a:ea typeface="Calibri" pitchFamily="34" charset="-122"/>
                <a:cs typeface="Calibri" pitchFamily="34" charset="-120"/>
              </a:rPr>
              <a:t>, </a:t>
            </a:r>
            <a:r>
              <a:rPr lang="en-US" sz="1400" dirty="0" err="1">
                <a:solidFill>
                  <a:srgbClr val="55636E"/>
                </a:solidFill>
                <a:latin typeface="Calibri" pitchFamily="34" charset="0"/>
                <a:ea typeface="Calibri" pitchFamily="34" charset="-122"/>
                <a:cs typeface="Calibri" pitchFamily="34" charset="-120"/>
              </a:rPr>
              <a:t>médicaments</a:t>
            </a:r>
            <a:r>
              <a:rPr lang="en-US" sz="1400" dirty="0">
                <a:solidFill>
                  <a:srgbClr val="55636E"/>
                </a:solidFill>
                <a:latin typeface="Calibri" pitchFamily="34" charset="0"/>
                <a:ea typeface="Calibri" pitchFamily="34" charset="-122"/>
                <a:cs typeface="Calibri" pitchFamily="34" charset="-120"/>
              </a:rPr>
              <a:t> </a:t>
            </a:r>
            <a:r>
              <a:rPr lang="en-US" sz="1400" dirty="0" err="1">
                <a:solidFill>
                  <a:srgbClr val="55636E"/>
                </a:solidFill>
                <a:latin typeface="Calibri" pitchFamily="34" charset="0"/>
                <a:ea typeface="Calibri" pitchFamily="34" charset="-122"/>
                <a:cs typeface="Calibri" pitchFamily="34" charset="-120"/>
              </a:rPr>
              <a:t>d’une</a:t>
            </a:r>
            <a:r>
              <a:rPr lang="en-US" sz="1400" dirty="0">
                <a:solidFill>
                  <a:srgbClr val="55636E"/>
                </a:solidFill>
                <a:latin typeface="Calibri" pitchFamily="34" charset="0"/>
                <a:ea typeface="Calibri" pitchFamily="34" charset="-122"/>
                <a:cs typeface="Calibri" pitchFamily="34" charset="-120"/>
              </a:rPr>
              <a:t> prescription).</a:t>
            </a:r>
            <a:endParaRPr lang="en-US" sz="1400" dirty="0"/>
          </a:p>
          <a:p>
            <a:pPr marL="0" indent="0" algn="just">
              <a:lnSpc>
                <a:spcPct val="150000"/>
              </a:lnSpc>
              <a:buNone/>
            </a:pP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601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PARTIE 6 - USE CASE : TÉLÉMÉDECINE</a:t>
            </a:r>
            <a:endParaRPr lang="en-US" sz="1200" dirty="0"/>
          </a:p>
        </p:txBody>
      </p:sp>
      <p:sp>
        <p:nvSpPr>
          <p:cNvPr id="3" name="Text 1"/>
          <p:cNvSpPr/>
          <p:nvPr/>
        </p:nvSpPr>
        <p:spPr>
          <a:xfrm>
            <a:off x="548640" y="658368"/>
            <a:ext cx="9875520" cy="685800"/>
          </a:xfrm>
          <a:prstGeom prst="rect">
            <a:avLst/>
          </a:prstGeom>
          <a:noFill/>
          <a:ln/>
        </p:spPr>
        <p:txBody>
          <a:bodyPr wrap="square" lIns="0" tIns="0" rIns="0" bIns="0" rtlCol="0" anchor="t"/>
          <a:lstStyle/>
          <a:p>
            <a:pPr marL="0" indent="0">
              <a:buNone/>
            </a:pPr>
            <a:r>
              <a:rPr lang="en-US" sz="2800" b="1" dirty="0">
                <a:solidFill>
                  <a:srgbClr val="0B3D5C"/>
                </a:solidFill>
                <a:latin typeface="Cambria" pitchFamily="34" charset="0"/>
                <a:ea typeface="Cambria" pitchFamily="34" charset="-122"/>
                <a:cs typeface="Cambria" pitchFamily="34" charset="-120"/>
              </a:rPr>
              <a:t>Les 6 collections en un coup d’œil</a:t>
            </a:r>
            <a:endParaRPr lang="en-US" sz="2800" dirty="0"/>
          </a:p>
        </p:txBody>
      </p:sp>
      <p:sp>
        <p:nvSpPr>
          <p:cNvPr id="4" name="Shape 2"/>
          <p:cNvSpPr/>
          <p:nvPr/>
        </p:nvSpPr>
        <p:spPr>
          <a:xfrm>
            <a:off x="11109960" y="411480"/>
            <a:ext cx="658368" cy="658368"/>
          </a:xfrm>
          <a:prstGeom prst="ellipse">
            <a:avLst/>
          </a:prstGeom>
          <a:solidFill>
            <a:srgbClr val="F4F8FA"/>
          </a:solidFill>
          <a:ln/>
        </p:spPr>
      </p:sp>
      <p:pic>
        <p:nvPicPr>
          <p:cNvPr id="5" name="Image 0" descr="preencoded.png"/>
          <p:cNvPicPr>
            <a:picLocks noChangeAspect="1"/>
          </p:cNvPicPr>
          <p:nvPr/>
        </p:nvPicPr>
        <p:blipFill>
          <a:blip r:embed="rId3"/>
          <a:stretch>
            <a:fillRect/>
          </a:stretch>
        </p:blipFill>
        <p:spPr>
          <a:xfrm>
            <a:off x="11248217" y="549737"/>
            <a:ext cx="381853" cy="381853"/>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4224528"/>
        </p:xfrm>
        <a:graphic>
          <a:graphicData uri="http://schemas.openxmlformats.org/drawingml/2006/table">
            <a:tbl>
              <a:tblPr/>
              <a:tblGrid>
                <a:gridCol w="23774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6766560">
                  <a:extLst>
                    <a:ext uri="{9D8B030D-6E8A-4147-A177-3AD203B41FA5}">
                      <a16:colId xmlns:a16="http://schemas.microsoft.com/office/drawing/2014/main" val="20002"/>
                    </a:ext>
                  </a:extLst>
                </a:gridCol>
              </a:tblGrid>
              <a:tr h="603504">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Collection</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B3D5C"/>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Clé métier</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B3D5C"/>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Particularité technique</a:t>
                      </a:r>
                      <a:endParaRPr lang="en-US" sz="115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B3D5C"/>
                    </a:solidFill>
                  </a:tcPr>
                </a:tc>
                <a:extLst>
                  <a:ext uri="{0D108BD9-81ED-4DB2-BD59-A6C34878D82A}">
                    <a16:rowId xmlns:a16="http://schemas.microsoft.com/office/drawing/2014/main" val="10000"/>
                  </a:ext>
                </a:extLst>
              </a:tr>
              <a:tr h="603504">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Patients</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4F8FA"/>
                    </a:solidFill>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patient_id</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Shard key hashée · region pour la localité · allergies embarqué (borné)</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Medecins</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medecin_id</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region aligne le zone sharding · disponibilités embarqué (borné)</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RendezVous</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4F8FA"/>
                    </a:solidFill>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rdv_id</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Shard key composite { medecin_id, date_rdv } · statut planifie/confirme/annule/termine</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Consultations</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consultation_id</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Shard key hashée sur patient_id · diagnostic = candidat CSFLE</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4"/>
                  </a:ext>
                </a:extLst>
              </a:tr>
              <a:tr h="603504">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Prescriptions</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4F8FA"/>
                    </a:solidFill>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prescription_id</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medicaments embarqué (borné par ordonnance) · statut active/expirée/délivrée</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5"/>
                  </a:ext>
                </a:extLst>
              </a:tr>
              <a:tr h="603504">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AnalysesMedicales</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analyse_id</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tc>
                  <a:txBody>
                    <a:bodyPr/>
                    <a:lstStyle/>
                    <a:p>
                      <a:pPr marL="0" indent="0" algn="l">
                        <a:buNone/>
                      </a:pPr>
                      <a:r>
                        <a:rPr lang="en-US" sz="1100" dirty="0">
                          <a:solidFill>
                            <a:srgbClr val="55636E"/>
                          </a:solidFill>
                          <a:latin typeface="Calibri" pitchFamily="34" charset="0"/>
                          <a:ea typeface="Calibri" pitchFamily="34" charset="-122"/>
                          <a:cs typeface="Calibri" pitchFamily="34" charset="-120"/>
                        </a:rPr>
                        <a:t>resultat = candidat CSFLE · statut en_attente/disponible</a:t>
                      </a:r>
                      <a:endParaRPr lang="en-US" sz="1100" dirty="0">
                        <a:latin typeface="Calibri" charset="0"/>
                        <a:ea typeface="Calibri" charset="0"/>
                        <a:cs typeface="Calibri"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3"/>
          <p:cNvSpPr/>
          <p:nvPr/>
        </p:nvSpPr>
        <p:spPr>
          <a:xfrm>
            <a:off x="548640" y="6537960"/>
            <a:ext cx="7315200" cy="274320"/>
          </a:xfrm>
          <a:prstGeom prst="rect">
            <a:avLst/>
          </a:prstGeom>
          <a:noFill/>
          <a:ln/>
        </p:spPr>
        <p:txBody>
          <a:bodyPr wrap="square" lIns="0" tIns="0" rIns="0" bIns="0" rtlCol="0" anchor="ctr"/>
          <a:lstStyle/>
          <a:p>
            <a:pPr marL="0" indent="0" algn="l">
              <a:buNone/>
            </a:pPr>
            <a:r>
              <a:rPr lang="en-US" sz="900" dirty="0">
                <a:solidFill>
                  <a:srgbClr val="8A97A0"/>
                </a:solidFill>
                <a:latin typeface="Calibri" pitchFamily="34" charset="0"/>
                <a:ea typeface="Calibri" pitchFamily="34" charset="-122"/>
                <a:cs typeface="Calibri" pitchFamily="34" charset="-120"/>
              </a:rPr>
              <a:t>MongoDB Télémédecine — Master 1 IA</a:t>
            </a:r>
            <a:endParaRPr lang="en-US" sz="900" dirty="0"/>
          </a:p>
        </p:txBody>
      </p:sp>
      <p:sp>
        <p:nvSpPr>
          <p:cNvPr id="8" name="Text 4"/>
          <p:cNvSpPr/>
          <p:nvPr/>
        </p:nvSpPr>
        <p:spPr>
          <a:xfrm>
            <a:off x="11430000" y="6537960"/>
            <a:ext cx="457200" cy="274320"/>
          </a:xfrm>
          <a:prstGeom prst="rect">
            <a:avLst/>
          </a:prstGeom>
          <a:noFill/>
          <a:ln/>
        </p:spPr>
        <p:txBody>
          <a:bodyPr wrap="square" lIns="0" tIns="0" rIns="0" bIns="0" rtlCol="0" anchor="ctr"/>
          <a:lstStyle/>
          <a:p>
            <a:pPr marL="0" indent="0" algn="r">
              <a:buNone/>
            </a:pPr>
            <a:r>
              <a:rPr lang="en-US" sz="900" dirty="0">
                <a:solidFill>
                  <a:srgbClr val="8A97A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3B4C"/>
        </a:solidFill>
        <a:effectLst/>
      </p:bgPr>
    </p:bg>
    <p:spTree>
      <p:nvGrpSpPr>
        <p:cNvPr id="1" name=""/>
        <p:cNvGrpSpPr/>
        <p:nvPr/>
      </p:nvGrpSpPr>
      <p:grpSpPr>
        <a:xfrm>
          <a:off x="0" y="0"/>
          <a:ext cx="0" cy="0"/>
          <a:chOff x="0" y="0"/>
          <a:chExt cx="0" cy="0"/>
        </a:xfrm>
      </p:grpSpPr>
      <p:sp>
        <p:nvSpPr>
          <p:cNvPr id="2" name="Text 0"/>
          <p:cNvSpPr/>
          <p:nvPr/>
        </p:nvSpPr>
        <p:spPr>
          <a:xfrm>
            <a:off x="731520" y="640080"/>
            <a:ext cx="73152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Conclusion</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31520" y="1234440"/>
            <a:ext cx="8229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06D6A0"/>
                </a:solidFill>
                <a:effectLst/>
                <a:uLnTx/>
                <a:uFillTx/>
                <a:latin typeface="Calibri" pitchFamily="34" charset="0"/>
                <a:ea typeface="Calibri" pitchFamily="34" charset="-122"/>
                <a:cs typeface="Calibri" pitchFamily="34" charset="-120"/>
              </a:rPr>
              <a:t>Un projet validé de bout en bout, pas seulement documenté</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 0" descr="preencoded.png"/>
          <p:cNvPicPr>
            <a:picLocks noChangeAspect="1"/>
          </p:cNvPicPr>
          <p:nvPr/>
        </p:nvPicPr>
        <p:blipFill>
          <a:blip r:embed="rId3"/>
          <a:stretch>
            <a:fillRect/>
          </a:stretch>
        </p:blipFill>
        <p:spPr>
          <a:xfrm>
            <a:off x="731520" y="1965960"/>
            <a:ext cx="320040" cy="320040"/>
          </a:xfrm>
          <a:prstGeom prst="rect">
            <a:avLst/>
          </a:prstGeom>
        </p:spPr>
      </p:pic>
      <p:sp>
        <p:nvSpPr>
          <p:cNvPr id="5" name="Text 2"/>
          <p:cNvSpPr/>
          <p:nvPr/>
        </p:nvSpPr>
        <p:spPr>
          <a:xfrm>
            <a:off x="1188720" y="1920240"/>
            <a:ext cx="50292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Architecture 4 shards opérationnelle, validée par sh.status()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1" descr="preencoded.png"/>
          <p:cNvPicPr>
            <a:picLocks noChangeAspect="1"/>
          </p:cNvPicPr>
          <p:nvPr/>
        </p:nvPicPr>
        <p:blipFill>
          <a:blip r:embed="rId3"/>
          <a:stretch>
            <a:fillRect/>
          </a:stretch>
        </p:blipFill>
        <p:spPr>
          <a:xfrm>
            <a:off x="6309360" y="1965960"/>
            <a:ext cx="320040" cy="320040"/>
          </a:xfrm>
          <a:prstGeom prst="rect">
            <a:avLst/>
          </a:prstGeom>
        </p:spPr>
      </p:pic>
      <p:sp>
        <p:nvSpPr>
          <p:cNvPr id="7" name="Text 3"/>
          <p:cNvSpPr/>
          <p:nvPr/>
        </p:nvSpPr>
        <p:spPr>
          <a:xfrm>
            <a:off x="6766560" y="1920240"/>
            <a:ext cx="50292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Sécurité multi-couches : RBAC document-level testé (0 fuite)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Image 2" descr="preencoded.png"/>
          <p:cNvPicPr>
            <a:picLocks noChangeAspect="1"/>
          </p:cNvPicPr>
          <p:nvPr/>
        </p:nvPicPr>
        <p:blipFill>
          <a:blip r:embed="rId3"/>
          <a:stretch>
            <a:fillRect/>
          </a:stretch>
        </p:blipFill>
        <p:spPr>
          <a:xfrm>
            <a:off x="731520" y="2834640"/>
            <a:ext cx="320040" cy="320040"/>
          </a:xfrm>
          <a:prstGeom prst="rect">
            <a:avLst/>
          </a:prstGeom>
        </p:spPr>
      </p:pic>
      <p:sp>
        <p:nvSpPr>
          <p:cNvPr id="9" name="Text 4"/>
          <p:cNvSpPr/>
          <p:nvPr/>
        </p:nvSpPr>
        <p:spPr>
          <a:xfrm>
            <a:off x="1188720" y="2788920"/>
            <a:ext cx="50292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Cohérence : transactions et sessions causales démontrées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Image 3" descr="preencoded.png"/>
          <p:cNvPicPr>
            <a:picLocks noChangeAspect="1"/>
          </p:cNvPicPr>
          <p:nvPr/>
        </p:nvPicPr>
        <p:blipFill>
          <a:blip r:embed="rId3"/>
          <a:stretch>
            <a:fillRect/>
          </a:stretch>
        </p:blipFill>
        <p:spPr>
          <a:xfrm>
            <a:off x="6309360" y="2834640"/>
            <a:ext cx="320040" cy="320040"/>
          </a:xfrm>
          <a:prstGeom prst="rect">
            <a:avLst/>
          </a:prstGeom>
        </p:spPr>
      </p:pic>
      <p:sp>
        <p:nvSpPr>
          <p:cNvPr id="11" name="Text 5"/>
          <p:cNvSpPr/>
          <p:nvPr/>
        </p:nvSpPr>
        <p:spPr>
          <a:xfrm>
            <a:off x="6766560" y="2788920"/>
            <a:ext cx="50292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stratégies de clé comparées avec preuve explain() chiffrée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Image 4" descr="preencoded.png"/>
          <p:cNvPicPr>
            <a:picLocks noChangeAspect="1"/>
          </p:cNvPicPr>
          <p:nvPr/>
        </p:nvPicPr>
        <p:blipFill>
          <a:blip r:embed="rId3"/>
          <a:stretch>
            <a:fillRect/>
          </a:stretch>
        </p:blipFill>
        <p:spPr>
          <a:xfrm>
            <a:off x="731520" y="3703320"/>
            <a:ext cx="320040" cy="320040"/>
          </a:xfrm>
          <a:prstGeom prst="rect">
            <a:avLst/>
          </a:prstGeom>
        </p:spPr>
      </p:pic>
      <p:sp>
        <p:nvSpPr>
          <p:cNvPr id="13" name="Text 6"/>
          <p:cNvSpPr/>
          <p:nvPr/>
        </p:nvSpPr>
        <p:spPr>
          <a:xfrm>
            <a:off x="1188720" y="3657600"/>
            <a:ext cx="50292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Performances : 73,1 % de gain d'indexation mesuré</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Image 5" descr="preencoded.png"/>
          <p:cNvPicPr>
            <a:picLocks noChangeAspect="1"/>
          </p:cNvPicPr>
          <p:nvPr/>
        </p:nvPicPr>
        <p:blipFill>
          <a:blip r:embed="rId3"/>
          <a:stretch>
            <a:fillRect/>
          </a:stretch>
        </p:blipFill>
        <p:spPr>
          <a:xfrm>
            <a:off x="6309360" y="3703320"/>
            <a:ext cx="320040" cy="320040"/>
          </a:xfrm>
          <a:prstGeom prst="rect">
            <a:avLst/>
          </a:prstGeom>
        </p:spPr>
      </p:pic>
      <p:sp>
        <p:nvSpPr>
          <p:cNvPr id="15" name="Text 7"/>
          <p:cNvSpPr/>
          <p:nvPr/>
        </p:nvSpPr>
        <p:spPr>
          <a:xfrm>
            <a:off x="6766560" y="3657600"/>
            <a:ext cx="50292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Modélisation formelle justifiée par la volumétrie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8"/>
          <p:cNvSpPr/>
          <p:nvPr/>
        </p:nvSpPr>
        <p:spPr>
          <a:xfrm>
            <a:off x="731520" y="4709160"/>
            <a:ext cx="10698480" cy="1463040"/>
          </a:xfrm>
          <a:prstGeom prst="roundRect">
            <a:avLst>
              <a:gd name="adj" fmla="val 6250"/>
            </a:avLst>
          </a:prstGeom>
          <a:solidFill>
            <a:srgbClr val="0E4A5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S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9"/>
          <p:cNvSpPr/>
          <p:nvPr/>
        </p:nvSpPr>
        <p:spPr>
          <a:xfrm>
            <a:off x="960120" y="4864608"/>
            <a:ext cx="1024128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6D6A0"/>
                </a:solidFill>
                <a:effectLst/>
                <a:uLnTx/>
                <a:uFillTx/>
                <a:latin typeface="Calibri" pitchFamily="34" charset="0"/>
                <a:ea typeface="Calibri" pitchFamily="34" charset="-122"/>
                <a:cs typeface="Calibri" pitchFamily="34" charset="-120"/>
              </a:rPr>
              <a:t>Axes de renforcement production (documentés, non implémentés intégralement)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0"/>
          <p:cNvSpPr/>
          <p:nvPr/>
        </p:nvSpPr>
        <p:spPr>
          <a:xfrm>
            <a:off x="960120" y="5230368"/>
            <a:ext cx="1024128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50" b="0" i="0" u="none" strike="noStrike" kern="1200" cap="none" spc="0" normalizeH="0" baseline="0" noProof="0" dirty="0">
                <a:ln>
                  <a:noFill/>
                </a:ln>
                <a:solidFill>
                  <a:srgbClr val="D8ECEE"/>
                </a:solidFill>
                <a:effectLst/>
                <a:uLnTx/>
                <a:uFillTx/>
                <a:latin typeface="Calibri" pitchFamily="34" charset="0"/>
                <a:ea typeface="Calibri" pitchFamily="34" charset="-122"/>
                <a:cs typeface="Calibri" pitchFamily="34" charset="-120"/>
              </a:rPr>
              <a:t>Notre plateforme applique une stratégie de sécurité multicouche combinant le chiffrement des communications (TLS), le chiffrement des données sensibles (CSFLE), une gestion fine des accès (RBAC), des sauvegardes cohérentes et un accès sécurisé des patients à leurs informations médicales.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35429" y="-514616"/>
            <a:ext cx="3019141" cy="2892056"/>
          </a:xfrm>
          <a:prstGeom prst="ellipse">
            <a:avLst/>
          </a:prstGeom>
          <a:solidFill>
            <a:srgbClr val="118AB2">
              <a:alpha val="13000"/>
            </a:srgbClr>
          </a:solidFill>
          <a:ln/>
        </p:spPr>
        <p:txBody>
          <a:bodyPr/>
          <a:lstStyle/>
          <a:p>
            <a:endParaRPr lang="fr-SN"/>
          </a:p>
        </p:txBody>
      </p:sp>
      <p:sp>
        <p:nvSpPr>
          <p:cNvPr id="3" name="Shape 1"/>
          <p:cNvSpPr/>
          <p:nvPr/>
        </p:nvSpPr>
        <p:spPr>
          <a:xfrm>
            <a:off x="8686800" y="3657600"/>
            <a:ext cx="4572000" cy="4572000"/>
          </a:xfrm>
          <a:prstGeom prst="ellipse">
            <a:avLst/>
          </a:prstGeom>
          <a:solidFill>
            <a:srgbClr val="06D6A0">
              <a:alpha val="12000"/>
            </a:srgbClr>
          </a:solidFill>
          <a:ln/>
        </p:spPr>
        <p:txBody>
          <a:bodyPr/>
          <a:lstStyle/>
          <a:p>
            <a:endParaRPr lang="fr-SN"/>
          </a:p>
        </p:txBody>
      </p:sp>
      <p:pic>
        <p:nvPicPr>
          <p:cNvPr id="4" name="Image 0" descr="preencoded.png"/>
          <p:cNvPicPr>
            <a:picLocks noChangeAspect="1"/>
          </p:cNvPicPr>
          <p:nvPr/>
        </p:nvPicPr>
        <p:blipFill>
          <a:blip r:embed="rId3"/>
          <a:stretch>
            <a:fillRect/>
          </a:stretch>
        </p:blipFill>
        <p:spPr>
          <a:xfrm>
            <a:off x="5623560" y="1920240"/>
            <a:ext cx="914400" cy="914400"/>
          </a:xfrm>
          <a:prstGeom prst="rect">
            <a:avLst/>
          </a:prstGeom>
        </p:spPr>
      </p:pic>
      <p:sp>
        <p:nvSpPr>
          <p:cNvPr id="5" name="Text 2"/>
          <p:cNvSpPr/>
          <p:nvPr/>
        </p:nvSpPr>
        <p:spPr>
          <a:xfrm>
            <a:off x="0" y="3017520"/>
            <a:ext cx="12161520" cy="822960"/>
          </a:xfrm>
          <a:prstGeom prst="rect">
            <a:avLst/>
          </a:prstGeom>
          <a:noFill/>
          <a:ln/>
        </p:spPr>
        <p:txBody>
          <a:bodyPr wrap="square" rtlCol="0" anchor="ctr"/>
          <a:lstStyle/>
          <a:p>
            <a:pPr marL="0" indent="0" algn="ctr">
              <a:buNone/>
            </a:pPr>
            <a:r>
              <a:rPr lang="en-US" sz="3400" b="1" dirty="0">
                <a:solidFill>
                  <a:srgbClr val="073B4C"/>
                </a:solidFill>
                <a:latin typeface="Calibri" pitchFamily="34" charset="0"/>
                <a:ea typeface="Calibri" pitchFamily="34" charset="-122"/>
                <a:cs typeface="Calibri" pitchFamily="34" charset="-120"/>
              </a:rPr>
              <a:t>Merci de votre attention</a:t>
            </a:r>
            <a:endParaRPr lang="en-US" sz="3400" dirty="0"/>
          </a:p>
        </p:txBody>
      </p:sp>
      <p:sp>
        <p:nvSpPr>
          <p:cNvPr id="6" name="Text 3"/>
          <p:cNvSpPr/>
          <p:nvPr/>
        </p:nvSpPr>
        <p:spPr>
          <a:xfrm>
            <a:off x="0" y="3794760"/>
            <a:ext cx="12161520" cy="548640"/>
          </a:xfrm>
          <a:prstGeom prst="rect">
            <a:avLst/>
          </a:prstGeom>
          <a:noFill/>
          <a:ln/>
        </p:spPr>
        <p:txBody>
          <a:bodyPr wrap="square" rtlCol="0" anchor="ctr"/>
          <a:lstStyle/>
          <a:p>
            <a:pPr marL="0" indent="0" algn="ctr">
              <a:buNone/>
            </a:pPr>
            <a:r>
              <a:rPr lang="en-US" sz="2000" i="1" dirty="0">
                <a:solidFill>
                  <a:srgbClr val="118AB2"/>
                </a:solidFill>
                <a:latin typeface="Calibri" pitchFamily="34" charset="0"/>
                <a:ea typeface="Calibri" pitchFamily="34" charset="-122"/>
                <a:cs typeface="Calibri" pitchFamily="34" charset="-120"/>
              </a:rPr>
              <a:t>Questions ?</a:t>
            </a:r>
            <a:endParaRPr lang="en-US" sz="2000" dirty="0"/>
          </a:p>
        </p:txBody>
      </p:sp>
      <p:sp>
        <p:nvSpPr>
          <p:cNvPr id="8" name="Shape 0">
            <a:extLst>
              <a:ext uri="{FF2B5EF4-FFF2-40B4-BE49-F238E27FC236}">
                <a16:creationId xmlns:a16="http://schemas.microsoft.com/office/drawing/2014/main" id="{4FFDC0D9-2F61-42C6-A129-CE462FEB51BF}"/>
              </a:ext>
            </a:extLst>
          </p:cNvPr>
          <p:cNvSpPr/>
          <p:nvPr/>
        </p:nvSpPr>
        <p:spPr>
          <a:xfrm>
            <a:off x="1" y="-2125"/>
            <a:ext cx="2211572" cy="2149902"/>
          </a:xfrm>
          <a:prstGeom prst="ellipse">
            <a:avLst/>
          </a:prstGeom>
          <a:solidFill>
            <a:srgbClr val="118AB2">
              <a:alpha val="13000"/>
            </a:srgbClr>
          </a:solidFill>
          <a:ln/>
        </p:spPr>
        <p:txBody>
          <a:bodyPr/>
          <a:lstStyle/>
          <a:p>
            <a:endParaRPr lang="fr-S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1176</TotalTime>
  <Words>2304</Words>
  <Application>Microsoft Office PowerPoint</Application>
  <PresentationFormat>Grand écran</PresentationFormat>
  <Paragraphs>371</Paragraphs>
  <Slides>21</Slides>
  <Notes>21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21</vt:i4>
      </vt:variant>
    </vt:vector>
  </HeadingPairs>
  <TitlesOfParts>
    <vt:vector size="27" baseType="lpstr">
      <vt:lpstr>Aptos</vt:lpstr>
      <vt:lpstr>Arial</vt:lpstr>
      <vt:lpstr>Calibri</vt:lpstr>
      <vt:lpstr>Cambria</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AZIZATOU BALDE</cp:lastModifiedBy>
  <cp:revision>7</cp:revision>
  <dcterms:created xsi:type="dcterms:W3CDTF">2026-07-31T00:06:59Z</dcterms:created>
  <dcterms:modified xsi:type="dcterms:W3CDTF">2026-08-01T09:33:08Z</dcterms:modified>
</cp:coreProperties>
</file>